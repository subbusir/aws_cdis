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1219" r:id="rId2"/>
    <p:sldId id="271" r:id="rId3"/>
    <p:sldId id="1220" r:id="rId4"/>
    <p:sldId id="1221" r:id="rId5"/>
    <p:sldId id="1222" r:id="rId6"/>
    <p:sldId id="1223" r:id="rId7"/>
    <p:sldId id="1224" r:id="rId8"/>
    <p:sldId id="1225" r:id="rId9"/>
    <p:sldId id="1226" r:id="rId10"/>
    <p:sldId id="1227" r:id="rId11"/>
    <p:sldId id="1228" r:id="rId12"/>
    <p:sldId id="1229" r:id="rId13"/>
    <p:sldId id="1230" r:id="rId14"/>
    <p:sldId id="1231" r:id="rId15"/>
    <p:sldId id="1232" r:id="rId16"/>
    <p:sldId id="1233" r:id="rId17"/>
    <p:sldId id="1234" r:id="rId18"/>
    <p:sldId id="1235" r:id="rId19"/>
    <p:sldId id="1236" r:id="rId20"/>
    <p:sldId id="1237" r:id="rId21"/>
    <p:sldId id="1238" r:id="rId22"/>
    <p:sldId id="1239" r:id="rId23"/>
    <p:sldId id="1240" r:id="rId24"/>
    <p:sldId id="1241" r:id="rId25"/>
    <p:sldId id="1242" r:id="rId26"/>
    <p:sldId id="1243" r:id="rId27"/>
    <p:sldId id="1244" r:id="rId28"/>
    <p:sldId id="1245" r:id="rId29"/>
    <p:sldId id="1246" r:id="rId30"/>
    <p:sldId id="1247" r:id="rId31"/>
    <p:sldId id="1248" r:id="rId32"/>
    <p:sldId id="1249" r:id="rId33"/>
    <p:sldId id="1250" r:id="rId34"/>
    <p:sldId id="1251" r:id="rId35"/>
    <p:sldId id="1252" r:id="rId36"/>
    <p:sldId id="1253" r:id="rId37"/>
    <p:sldId id="1254" r:id="rId38"/>
    <p:sldId id="1255" r:id="rId39"/>
    <p:sldId id="1256" r:id="rId40"/>
    <p:sldId id="1257" r:id="rId41"/>
    <p:sldId id="125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56" d="100"/>
          <a:sy n="56" d="100"/>
        </p:scale>
        <p:origin x="98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AB4837-93B6-4324-9AD9-92D1B1825229}" type="datetimeFigureOut">
              <a:rPr lang="en-US" smtClean="0"/>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02CAF-8F67-4D5A-8960-6EA274980FE4}" type="slidenum">
              <a:rPr lang="en-US" smtClean="0"/>
              <a:t>‹#›</a:t>
            </a:fld>
            <a:endParaRPr lang="en-US"/>
          </a:p>
        </p:txBody>
      </p:sp>
    </p:spTree>
    <p:extLst>
      <p:ext uri="{BB962C8B-B14F-4D97-AF65-F5344CB8AC3E}">
        <p14:creationId xmlns:p14="http://schemas.microsoft.com/office/powerpoint/2010/main" val="292314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Course Outcome CO1. This chapter treats a cloud system as one working whole: we observe the deployed BookStash application on AWS end to end before studying any single service.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Chapter index. Each tile links to the first slide of a section; the link at the bottom right of every content slide returns here.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2333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By the end of the chapter students should be able to do each of these eight things. We return to them in the summary.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 from a running system, not from definitions. BookStash is an ordinary bookstore catalogue and ordering service; its three kinds of traffic (static images, repetitive reads, writes that must not be lost) are each handled by a different part of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diagram left to right, which is the direction of a request. Edge services sit outside the VPC; the application and data tiers run inside it. CloudWatch and X-Ray observe every tier.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slowest normal path: nothing cached at the edge or in ElastiCache. About a third of the time passes before the request reaches our code. Inside the application tier the database query is the largest item, which is why we cache.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200 ms at p95 from India. We budget each hop and compare with measurements. The cache and database line has the largest allowance and the most variance, so that is where we look first if a release breaks the budget.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Production problems rarely sit inside one box; they sit on the arrows between boxes. Three habits follow. The commands show what a terminal alone reveals about each layer: CloudFront addresses, an edge cache hit in Hyderabad, and a trace ID echoed by our API.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stack of tiers, each with one job, connected by standard protocols. Most web systems on public clouds since the mid-2010s follow it with small variations. Our working definition of cloud-native is narrower than the CNCF one and is something we can check BookStash against.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DNS is the first dependency of every request and the slowest thing to change because answers are cached at many levels. Route 53 is the authoritative server for bookstash.com. Alias records point the apex at CloudFront. For planned changes, lower the TTL a day ahead.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Readers connect to the nearest of several hundred points of presence. A hit is answered at the edge. A miss goes through the regional edge cache to the ALB and fills both caches on the way back. The hit ratio example shows how the CDN cuts origin load.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ALB is the CloudFront origin and the only way into the VPC. It checks /healthz every 15 seconds. ECS keeps the requested number of tasks running and Fargate runs them without servers we manage. Health checks should be neither too shallow nor too deep.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Stateless tasks are possible because state lives elsewhere. RDS is the system of record. ElastiCache holds hot records using cache-aside. SQS decouples order processing: a crashed worker's message reappears after the visibility timeout.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Metrics tell us something is wrong, logs tell us what happened in one component, traces tell us where the time went. Since February 2026 AWS recommends OpenTelemetry (ADOT) for sending spans to X-Ray; the X-Ray SDKs are in maintenance mode. These are the first alarms we define.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NIST SP 800-145 (2011) defines cloud computing through five essential characteristics, three service models and four deployment models. Each characteristic has a direct BookStash example. FaaS and CaaS were added by industry later.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each column from the bottom. The provider always runs facilities and hardware. Moving right, more layers become the provider's job. The customer always owns data and access policy, even in SaaS.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IaaS gives the most control and the most work. PaaS gives speed but limits runtimes. SaaS delivers a whole product. FaaS suits short, event-driven work with a 15-minute limit on Lambda. CaaS has become the default for new web services because images are portable.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not a ranking. Each step right trades control for less operational work. The right point depends on the workload and the team.</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questions decide most cases. The book API runs all day and holds connection pools, so containers. Thumbnails are short and bursty, so functions. The monthly report runs on Lambda if it fits in 15 minutes, otherwise as a scheduled Fargate task.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AWS is responsible for security of the cloud; customers for security in the cloud. AWS proves its side through third-party audits available in AWS Artifact. An SLA is a refund commitment, not a promise that nothing fails, so we design for any component being down for some minutes.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Physical and host security is always AWS's. IAM, data classification and encryption choices are always ours. In between it depends: on EC2 we patch the OS and the database; on RDS AWS patches but we choose the window and approve major upgrades; S3 has nothing to patch but needs policies.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public cloud incidents are configuration errors on the customer side of the line. We apply these six rules from the first day and revisit each in the security chapter.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AWS owns resiliency of the cloud; we own resiliency in the cloud. Components in series multiply their availabilities. Making the cache optional for correctness removes it from the chain; two API tasks in different AZs make that tier almost never fail. Figures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AWS is our primary platform for breadth, market share and job demand, and for free-tier credits that cover the labs. The concepts transfer: each BookStash tier has a close equivalent on Azure and GCP, with four differences worth knowing.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closest equivalents, not perfect matches. Limits, pricing and product boundaries always differ in detail.</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billing and isolation unit differs in name: account, subscription, project. Native infrastructure-as-code tools differ most, which is why porting BookStash to GCP took longest on the templates.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 GET /api/books/42 on a cold path. Route 53, CloudFront and the ALB do not emit X-Ray segments; their evidence is in logs and metrics. The ALB adds X-Amzn-Trace-Id, which ties the rest of the trace together.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one hop shows nothing, that absence is itself evidence. The 502 example later is a case where the requests never reached our code.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root segment is 31 ms. If the reader waited much longer, the delay was outside our code. Gaps between bars are our own code. Start with the longest bar: here RDS at 17.5 ms. The service map built from many traces is the first screen to open in an incident.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API runs under the OpenTelemetry auto-instrumentation wrapper; a collector sidecar forwards spans to X-Ray. The X-Ray propagator joins our spans to the ALB's trace header. Every log line carries the trace ID, so one Logs Insights query finds the whole request.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Release 1.5.0 made search case-insensitive with lower(title) LIKE, which scanned the whole books table. An expression index fixed it. The whole investigation took under twenty minutes using only the evidence sources in this section.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application errors and no failed traces meant the requests never reached our code. The ALB logs showed target processing time -1. The cause was a five-second deregistration delay shorter than slow search requests.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Figures are as listed by AWS at the time of writing (late 2026) and grow every year; the structure stays the same. For BookStash we chose ap-south-1 for the primary stack and ap-south-2 for cross-Region backup copies.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AZ is one or more data centres with independent power and networking, within about 100 km of the others in its Region. AZ letter names map differently per account; AZ IDs such as aps1-az1 are the same everywhere. ALB, SQS and RDS Multi-AZ use AZs automatically; for ECS we choose the subnets.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failure domain is anything that can fail together because of a shared dependency. We design to survive an AZ automatically. Recovery plans should rely on data planes already in place, such as a Route 53 failover record, rather than control-plane changes during an incident.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bookstore can live without new orders for half a day but must not lose confirmed orders. That gives RTO 4 hours and RPO 15 minutes, met by point-in-time recovery with snapshots and logs copied to ap-south-2 and a tested rebuild runbook.</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course covers cloud-platform abstractions: what each hides, guarantees, costs and how it fails. CICD covers how BookStash gets built and released. SDSR covers designs for far larger scale. All three use the same BookStash system.</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points to take away. Each maps to one learning objective.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the class each question first, then reveal the answer. Answers come strictly from the chapter.</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Read-only access to the course account, AWS CLI for ap-south-1, dig and curl. The deliverable is a half-page report with a time for every hop that could be measured.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questions. Remind students to complete Hands-On Lab 1 before the next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58E93-C2A6-B136-1CAB-D6C377A8FA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E02ADD-4E98-901D-17C9-D213AADBF0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DF42CD-69CC-0FEE-5740-F907BB3C4CDF}"/>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5" name="Footer Placeholder 4">
            <a:extLst>
              <a:ext uri="{FF2B5EF4-FFF2-40B4-BE49-F238E27FC236}">
                <a16:creationId xmlns:a16="http://schemas.microsoft.com/office/drawing/2014/main" id="{6789456E-5799-C6E6-1583-0C23662E9E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9D522-30AA-ECB8-BD30-12E8D2815A45}"/>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282185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CDC2C-AEDC-9D5A-F0BA-DDD039157B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7E59E5-C4DC-7F56-9F5D-BBE5468AFF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6AD439-3CF9-9CE0-7D20-A243AF5218B2}"/>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5" name="Footer Placeholder 4">
            <a:extLst>
              <a:ext uri="{FF2B5EF4-FFF2-40B4-BE49-F238E27FC236}">
                <a16:creationId xmlns:a16="http://schemas.microsoft.com/office/drawing/2014/main" id="{54655E2A-EA6D-66CA-0B15-2B231C62F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03C0B-64E3-0667-5DE9-09E106DCCE94}"/>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2338565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10437-D5A4-3B3F-1D25-16D88E6C18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131C9C8-F334-56F4-B4DB-C48EE13449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83DDB7-9846-E14D-978B-4E68D646ED8F}"/>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5" name="Footer Placeholder 4">
            <a:extLst>
              <a:ext uri="{FF2B5EF4-FFF2-40B4-BE49-F238E27FC236}">
                <a16:creationId xmlns:a16="http://schemas.microsoft.com/office/drawing/2014/main" id="{849CFF2A-6F99-CE3B-7D42-F55324690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A6EBB-205B-BC90-EFF7-A6F5161D50DE}"/>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4225284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BA52-4A06-CDC4-53AB-D504E2AD4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3C70C4-6A82-1537-D6EA-3F4B8AA2DD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6E8DE6-D41B-93C9-9094-A263B6456D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A2BD73-7428-E33F-09CA-A663D40BC7D3}"/>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6" name="Footer Placeholder 5">
            <a:extLst>
              <a:ext uri="{FF2B5EF4-FFF2-40B4-BE49-F238E27FC236}">
                <a16:creationId xmlns:a16="http://schemas.microsoft.com/office/drawing/2014/main" id="{AB994D19-AA2C-E7C9-FE5C-A5BBD5E84C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D46A1A-A275-F695-A0F6-7C7D6241AFBD}"/>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3810433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3563F-3F51-57ED-325D-5A5DE6084E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DCA36E-7B17-9379-A00E-8FAAB8FA33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ACE2B2-64BB-0059-70D0-CC90BC5A6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F94890-64C4-C3EB-2F5F-47ADAEC808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EFED9E-D819-7D3E-45F0-EAA53C9D06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CAD92D-2164-B601-3D05-3AC83AFCDBD8}"/>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8" name="Footer Placeholder 7">
            <a:extLst>
              <a:ext uri="{FF2B5EF4-FFF2-40B4-BE49-F238E27FC236}">
                <a16:creationId xmlns:a16="http://schemas.microsoft.com/office/drawing/2014/main" id="{610E050C-9095-A226-6F0B-1AF3CAA679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11C633-8901-492E-1D96-91FF7B528E8D}"/>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3375013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1D0B2-0BFF-D41F-C85D-AD236B0214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0BAE84-283F-DA57-3786-661AC0346F9A}"/>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4" name="Footer Placeholder 3">
            <a:extLst>
              <a:ext uri="{FF2B5EF4-FFF2-40B4-BE49-F238E27FC236}">
                <a16:creationId xmlns:a16="http://schemas.microsoft.com/office/drawing/2014/main" id="{33496A59-9B1A-C7E5-C506-11201A0D12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8A2373-6541-D50F-91B0-AAC878AE53A6}"/>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365831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79F5C6-8922-33D9-EDF7-4C67E509E981}"/>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3" name="Footer Placeholder 2">
            <a:extLst>
              <a:ext uri="{FF2B5EF4-FFF2-40B4-BE49-F238E27FC236}">
                <a16:creationId xmlns:a16="http://schemas.microsoft.com/office/drawing/2014/main" id="{9624709C-49FA-1540-1F9B-B59FF2D22F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7810B5-806F-FADA-C2F5-9C179CC10826}"/>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3370599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9AA24-606D-3E31-8309-562C7D5782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A8DC9B-4652-3C16-558C-99EAD5751E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130EE2-5B1D-D925-6C42-C718D1C05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65A45-DFE7-C96E-E70F-EE60A9C21F3F}"/>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6" name="Footer Placeholder 5">
            <a:extLst>
              <a:ext uri="{FF2B5EF4-FFF2-40B4-BE49-F238E27FC236}">
                <a16:creationId xmlns:a16="http://schemas.microsoft.com/office/drawing/2014/main" id="{1D2BB844-665A-9F3D-0F50-39B3E7A12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20F49-BA48-E2B4-E75F-7548971522E3}"/>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2288381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86788-D805-62E9-947C-E024777362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B1B556-88AF-F575-18B9-942BDF8F0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AEA206-82D0-688D-9AF6-2430BFB50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F3671-2CE8-35FA-AAB1-3FEAEBFFA473}"/>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6" name="Footer Placeholder 5">
            <a:extLst>
              <a:ext uri="{FF2B5EF4-FFF2-40B4-BE49-F238E27FC236}">
                <a16:creationId xmlns:a16="http://schemas.microsoft.com/office/drawing/2014/main" id="{8592FFDA-E735-A34D-AC80-A9EB1D900B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7154CB-2C1C-FE0B-EDBF-4D54B1631963}"/>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3746116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2EC97-0634-F629-24E5-ECFC0F8527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02F6F3-4AD8-A301-5886-E01CE3C828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AC7FF9-6F35-B6B2-4358-71A3447BEF08}"/>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5" name="Footer Placeholder 4">
            <a:extLst>
              <a:ext uri="{FF2B5EF4-FFF2-40B4-BE49-F238E27FC236}">
                <a16:creationId xmlns:a16="http://schemas.microsoft.com/office/drawing/2014/main" id="{0490738C-CC30-5584-0278-6B3392697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B89B1-929A-F373-20D0-2FD4E1789693}"/>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1154328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0D6E9D-BE80-0E2A-248C-D90FE5A25B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0740CD-472E-4966-0C89-FD12CAED6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525B04-009F-7CF7-5604-BBA52ACE201F}"/>
              </a:ext>
            </a:extLst>
          </p:cNvPr>
          <p:cNvSpPr>
            <a:spLocks noGrp="1"/>
          </p:cNvSpPr>
          <p:nvPr>
            <p:ph type="dt" sz="half" idx="10"/>
          </p:nvPr>
        </p:nvSpPr>
        <p:spPr/>
        <p:txBody>
          <a:bodyPr/>
          <a:lstStyle/>
          <a:p>
            <a:fld id="{3D04ACC2-8909-4577-B41F-FDFD0D753BF5}" type="datetimeFigureOut">
              <a:rPr lang="en-US" smtClean="0"/>
              <a:t>10/30/2026</a:t>
            </a:fld>
            <a:endParaRPr lang="en-US"/>
          </a:p>
        </p:txBody>
      </p:sp>
      <p:sp>
        <p:nvSpPr>
          <p:cNvPr id="5" name="Footer Placeholder 4">
            <a:extLst>
              <a:ext uri="{FF2B5EF4-FFF2-40B4-BE49-F238E27FC236}">
                <a16:creationId xmlns:a16="http://schemas.microsoft.com/office/drawing/2014/main" id="{6D1006FC-F048-4F4B-290A-BF758C1756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A9DE85-5C3D-185F-B8DD-A068851D7E9E}"/>
              </a:ext>
            </a:extLst>
          </p:cNvPr>
          <p:cNvSpPr>
            <a:spLocks noGrp="1"/>
          </p:cNvSpPr>
          <p:nvPr>
            <p:ph type="sldNum" sz="quarter" idx="12"/>
          </p:nvPr>
        </p:nvSpPr>
        <p:spPr/>
        <p:txBody>
          <a:bodyPr/>
          <a:lstStyle/>
          <a:p>
            <a:fld id="{31C199A9-4FBC-4B9B-9155-E15F01147EE0}" type="slidenum">
              <a:rPr lang="en-US" smtClean="0"/>
              <a:t>‹#›</a:t>
            </a:fld>
            <a:endParaRPr lang="en-US"/>
          </a:p>
        </p:txBody>
      </p:sp>
    </p:spTree>
    <p:extLst>
      <p:ext uri="{BB962C8B-B14F-4D97-AF65-F5344CB8AC3E}">
        <p14:creationId xmlns:p14="http://schemas.microsoft.com/office/powerpoint/2010/main" val="1807360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D62C3-CA13-2AE8-DD29-DEDDDD903C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6EEE73-8627-3FF3-DED1-2E16DF90F5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2D40D-3493-84CE-4D42-90E7FCFBEF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04ACC2-8909-4577-B41F-FDFD0D753BF5}" type="datetimeFigureOut">
              <a:rPr lang="en-US" smtClean="0"/>
              <a:t>10/30/2026</a:t>
            </a:fld>
            <a:endParaRPr lang="en-US"/>
          </a:p>
        </p:txBody>
      </p:sp>
      <p:sp>
        <p:nvSpPr>
          <p:cNvPr id="5" name="Footer Placeholder 4">
            <a:extLst>
              <a:ext uri="{FF2B5EF4-FFF2-40B4-BE49-F238E27FC236}">
                <a16:creationId xmlns:a16="http://schemas.microsoft.com/office/drawing/2014/main" id="{6F55C7C7-5C4F-1933-984C-36FFC6F0CA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EA8312-4E5B-959B-8A36-11F335DE6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C199A9-4FBC-4B9B-9155-E15F01147EE0}" type="slidenum">
              <a:rPr lang="en-US" smtClean="0"/>
              <a:t>‹#›</a:t>
            </a:fld>
            <a:endParaRPr lang="en-US"/>
          </a:p>
        </p:txBody>
      </p:sp>
    </p:spTree>
    <p:extLst>
      <p:ext uri="{BB962C8B-B14F-4D97-AF65-F5344CB8AC3E}">
        <p14:creationId xmlns:p14="http://schemas.microsoft.com/office/powerpoint/2010/main" val="3904383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slide" Target="slide27.xml"/><Relationship Id="rId13"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24.xml"/><Relationship Id="rId12" Type="http://schemas.openxmlformats.org/officeDocument/2006/relationships/slide" Target="slide3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0.xml"/><Relationship Id="rId11" Type="http://schemas.openxmlformats.org/officeDocument/2006/relationships/slide" Target="slide3.xml"/><Relationship Id="rId5" Type="http://schemas.openxmlformats.org/officeDocument/2006/relationships/slide" Target="slide15.xml"/><Relationship Id="rId10" Type="http://schemas.openxmlformats.org/officeDocument/2006/relationships/slide" Target="slide37.xml"/><Relationship Id="rId4" Type="http://schemas.openxmlformats.org/officeDocument/2006/relationships/slide" Target="slide9.xml"/><Relationship Id="rId9" Type="http://schemas.openxmlformats.org/officeDocument/2006/relationships/slide" Target="slide33.xml"/><Relationship Id="rId14" Type="http://schemas.openxmlformats.org/officeDocument/2006/relationships/slide" Target="slide40.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D664F17-86BC-AFDE-A5E6-24CF9BD8BEDA}"/>
              </a:ext>
            </a:extLst>
          </p:cNvPr>
          <p:cNvSpPr/>
          <p:nvPr/>
        </p:nvSpPr>
        <p:spPr>
          <a:xfrm>
            <a:off x="639656" y="4371953"/>
            <a:ext cx="10909640" cy="1065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b="1" cap="none" spc="0" dirty="0">
                <a:ln w="22225">
                  <a:solidFill>
                    <a:schemeClr val="accent2"/>
                  </a:solidFill>
                  <a:prstDash val="solid"/>
                </a:ln>
                <a:effectLst/>
                <a:latin typeface="Calibri"/>
                <a:ea typeface="+mj-ea"/>
                <a:cs typeface="+mj-cs"/>
              </a:rPr>
              <a:t>CO 1: The Cloud System as a Whole</a:t>
            </a:r>
          </a:p>
        </p:txBody>
      </p:sp>
      <p:pic>
        <p:nvPicPr>
          <p:cNvPr id="1026" name="Picture 2" descr="Cloud tiers illustration: Route 53, CloudFront, ALB, Fargate, RDS">
            <a:extLst>
              <a:ext uri="{FF2B5EF4-FFF2-40B4-BE49-F238E27FC236}">
                <a16:creationId xmlns:a16="http://schemas.microsoft.com/office/drawing/2014/main" id="{B2727BBE-6503-A1A2-B431-95F721A6C7A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p:blipFill>
        <p:spPr bwMode="auto">
          <a:xfrm>
            <a:off x="1179582" y="320040"/>
            <a:ext cx="3895331" cy="38953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LH Bachupally">
            <a:extLst>
              <a:ext uri="{FF2B5EF4-FFF2-40B4-BE49-F238E27FC236}">
                <a16:creationId xmlns:a16="http://schemas.microsoft.com/office/drawing/2014/main" id="{7438B83B-69DD-EEEB-F29D-2BD339544A8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254496" y="807964"/>
            <a:ext cx="5614416" cy="291949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2AFABF9-BD82-310C-FD4F-362CEB7692E6}"/>
              </a:ext>
            </a:extLst>
          </p:cNvPr>
          <p:cNvSpPr/>
          <p:nvPr/>
        </p:nvSpPr>
        <p:spPr>
          <a:xfrm>
            <a:off x="504678" y="5337531"/>
            <a:ext cx="10909640" cy="1065836"/>
          </a:xfrm>
          <a:prstGeom prst="rect">
            <a:avLst/>
          </a:prstGeom>
          <a:solidFill>
            <a:schemeClr val="accent1">
              <a:lumMod val="60000"/>
              <a:lumOff val="40000"/>
            </a:schemeClr>
          </a:solidFill>
        </p:spPr>
        <p:txBody>
          <a:bodyPr vert="horz" lIns="91440" tIns="45720" rIns="91440" bIns="45720" rtlCol="0" anchor="ctr">
            <a:normAutofit fontScale="85000" lnSpcReduction="20000"/>
          </a:bodyPr>
          <a:lstStyle/>
          <a:p>
            <a:pPr algn="ctr">
              <a:lnSpc>
                <a:spcPct val="90000"/>
              </a:lnSpc>
              <a:spcBef>
                <a:spcPct val="0"/>
              </a:spcBef>
              <a:spcAft>
                <a:spcPts val="600"/>
              </a:spcAft>
            </a:pPr>
            <a:r>
              <a:rPr lang="en-US" sz="4400" b="1" dirty="0">
                <a:ln w="22225">
                  <a:solidFill>
                    <a:schemeClr val="accent2"/>
                  </a:solidFill>
                  <a:prstDash val="solid"/>
                </a:ln>
                <a:solidFill>
                  <a:srgbClr val="002060"/>
                </a:solidFill>
                <a:latin typeface="Calibri"/>
                <a:ea typeface="+mj-ea"/>
                <a:cs typeface="+mj-cs"/>
              </a:rPr>
              <a:t>Cloud Infrastructure and Services</a:t>
            </a:r>
          </a:p>
          <a:p>
            <a:pPr algn="ctr">
              <a:lnSpc>
                <a:spcPct val="90000"/>
              </a:lnSpc>
              <a:spcBef>
                <a:spcPct val="0"/>
              </a:spcBef>
              <a:spcAft>
                <a:spcPts val="600"/>
              </a:spcAft>
            </a:pPr>
            <a:r>
              <a:rPr lang="en-US" sz="4400" b="1" dirty="0">
                <a:ln w="22225">
                  <a:solidFill>
                    <a:schemeClr val="accent2"/>
                  </a:solidFill>
                  <a:prstDash val="solid"/>
                </a:ln>
                <a:solidFill>
                  <a:srgbClr val="002060"/>
                </a:solidFill>
                <a:latin typeface="Calibri"/>
                <a:ea typeface="+mj-ea"/>
                <a:cs typeface="+mj-cs"/>
              </a:rPr>
              <a:t>25CS2206E</a:t>
            </a:r>
          </a:p>
        </p:txBody>
      </p:sp>
    </p:spTree>
    <p:extLst>
      <p:ext uri="{BB962C8B-B14F-4D97-AF65-F5344CB8AC3E}">
        <p14:creationId xmlns:p14="http://schemas.microsoft.com/office/powerpoint/2010/main" val="395044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 1 Index</a:t>
            </a:r>
          </a:p>
        </p:txBody>
      </p:sp>
      <p:sp>
        <p:nvSpPr>
          <p:cNvPr id="3" name="Index 1.1">
            <a:hlinkClick r:id="rId3" action="ppaction://hlinksldjump"/>
          </p:cNvPr>
          <p:cNvSpPr/>
          <p:nvPr/>
        </p:nvSpPr>
        <p:spPr>
          <a:xfrm>
            <a:off x="502920" y="123444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1.1</a:t>
            </a:r>
          </a:p>
          <a:p>
            <a:pPr algn="ctr">
              <a:spcAft>
                <a:spcPts val="0"/>
              </a:spcAft>
            </a:pPr>
            <a:r>
              <a:rPr sz="1600" b="0" i="0">
                <a:solidFill>
                  <a:srgbClr val="FFFFFF"/>
                </a:solidFill>
                <a:latin typeface="Calibri"/>
              </a:rPr>
              <a:t>A Working Multi-Tier Cloud Application</a:t>
            </a:r>
          </a:p>
        </p:txBody>
      </p:sp>
      <p:sp>
        <p:nvSpPr>
          <p:cNvPr id="4" name="Index 1.2">
            <a:hlinkClick r:id="rId4" action="ppaction://hlinksldjump"/>
          </p:cNvPr>
          <p:cNvSpPr/>
          <p:nvPr/>
        </p:nvSpPr>
        <p:spPr>
          <a:xfrm>
            <a:off x="3383280" y="123444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1.2</a:t>
            </a:r>
          </a:p>
          <a:p>
            <a:pPr algn="ctr">
              <a:spcAft>
                <a:spcPts val="0"/>
              </a:spcAft>
            </a:pPr>
            <a:r>
              <a:rPr sz="1600" b="0" i="0">
                <a:solidFill>
                  <a:srgbClr val="FFFFFF"/>
                </a:solidFill>
                <a:latin typeface="Calibri"/>
              </a:rPr>
              <a:t>Canonical Cloud-Native Architecture</a:t>
            </a:r>
          </a:p>
        </p:txBody>
      </p:sp>
      <p:sp>
        <p:nvSpPr>
          <p:cNvPr id="5" name="Index 1.3">
            <a:hlinkClick r:id="rId5" action="ppaction://hlinksldjump"/>
          </p:cNvPr>
          <p:cNvSpPr/>
          <p:nvPr/>
        </p:nvSpPr>
        <p:spPr>
          <a:xfrm>
            <a:off x="6263640" y="123444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1.3</a:t>
            </a:r>
          </a:p>
          <a:p>
            <a:pPr algn="ctr">
              <a:spcAft>
                <a:spcPts val="0"/>
              </a:spcAft>
            </a:pPr>
            <a:r>
              <a:rPr sz="1600" b="0" i="0">
                <a:solidFill>
                  <a:srgbClr val="FFFFFF"/>
                </a:solidFill>
                <a:latin typeface="Calibri"/>
              </a:rPr>
              <a:t>Cloud Service Models</a:t>
            </a:r>
          </a:p>
        </p:txBody>
      </p:sp>
      <p:sp>
        <p:nvSpPr>
          <p:cNvPr id="6" name="Index 1.4">
            <a:hlinkClick r:id="rId6" action="ppaction://hlinksldjump"/>
          </p:cNvPr>
          <p:cNvSpPr/>
          <p:nvPr/>
        </p:nvSpPr>
        <p:spPr>
          <a:xfrm>
            <a:off x="9144000" y="123444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1.4</a:t>
            </a:r>
          </a:p>
          <a:p>
            <a:pPr algn="ctr">
              <a:spcAft>
                <a:spcPts val="0"/>
              </a:spcAft>
            </a:pPr>
            <a:r>
              <a:rPr sz="1600" b="0" i="0">
                <a:solidFill>
                  <a:srgbClr val="FFFFFF"/>
                </a:solidFill>
                <a:latin typeface="Calibri"/>
              </a:rPr>
              <a:t>The Shared Responsibility Model</a:t>
            </a:r>
          </a:p>
        </p:txBody>
      </p:sp>
      <p:sp>
        <p:nvSpPr>
          <p:cNvPr id="7" name="Index 1.5">
            <a:hlinkClick r:id="rId7" action="ppaction://hlinksldjump"/>
          </p:cNvPr>
          <p:cNvSpPr/>
          <p:nvPr/>
        </p:nvSpPr>
        <p:spPr>
          <a:xfrm>
            <a:off x="502920" y="292608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1.5</a:t>
            </a:r>
          </a:p>
          <a:p>
            <a:pPr algn="ctr">
              <a:spcAft>
                <a:spcPts val="0"/>
              </a:spcAft>
            </a:pPr>
            <a:r>
              <a:rPr sz="1600" b="0" i="0">
                <a:solidFill>
                  <a:srgbClr val="FFFFFF"/>
                </a:solidFill>
                <a:latin typeface="Calibri"/>
              </a:rPr>
              <a:t>AWS, Azure and GCP Compared</a:t>
            </a:r>
          </a:p>
        </p:txBody>
      </p:sp>
      <p:sp>
        <p:nvSpPr>
          <p:cNvPr id="8" name="Index 1.6">
            <a:hlinkClick r:id="rId8" action="ppaction://hlinksldjump"/>
          </p:cNvPr>
          <p:cNvSpPr/>
          <p:nvPr/>
        </p:nvSpPr>
        <p:spPr>
          <a:xfrm>
            <a:off x="3383280" y="292608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1.6</a:t>
            </a:r>
          </a:p>
          <a:p>
            <a:pPr algn="ctr">
              <a:spcAft>
                <a:spcPts val="0"/>
              </a:spcAft>
            </a:pPr>
            <a:r>
              <a:rPr sz="1600" b="0" i="0">
                <a:solidFill>
                  <a:srgbClr val="FFFFFF"/>
                </a:solidFill>
                <a:latin typeface="Calibri"/>
              </a:rPr>
              <a:t>End-to-End Request Tracing</a:t>
            </a:r>
          </a:p>
        </p:txBody>
      </p:sp>
      <p:sp>
        <p:nvSpPr>
          <p:cNvPr id="9" name="Index 1.7">
            <a:hlinkClick r:id="rId9" action="ppaction://hlinksldjump"/>
          </p:cNvPr>
          <p:cNvSpPr/>
          <p:nvPr/>
        </p:nvSpPr>
        <p:spPr>
          <a:xfrm>
            <a:off x="6263640" y="292608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1.7</a:t>
            </a:r>
          </a:p>
          <a:p>
            <a:pPr algn="ctr">
              <a:spcAft>
                <a:spcPts val="0"/>
              </a:spcAft>
            </a:pPr>
            <a:r>
              <a:rPr sz="1600" b="0" i="0">
                <a:solidFill>
                  <a:srgbClr val="FFFFFF"/>
                </a:solidFill>
                <a:latin typeface="Calibri"/>
              </a:rPr>
              <a:t>AWS Global Infrastructure</a:t>
            </a:r>
          </a:p>
        </p:txBody>
      </p:sp>
      <p:sp>
        <p:nvSpPr>
          <p:cNvPr id="10" name="Index 1.8">
            <a:hlinkClick r:id="rId10" action="ppaction://hlinksldjump"/>
          </p:cNvPr>
          <p:cNvSpPr/>
          <p:nvPr/>
        </p:nvSpPr>
        <p:spPr>
          <a:xfrm>
            <a:off x="9144000" y="2926080"/>
            <a:ext cx="2651760" cy="141732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600" b="1" i="0">
                <a:solidFill>
                  <a:srgbClr val="FFFFFF"/>
                </a:solidFill>
                <a:latin typeface="Calibri"/>
              </a:rPr>
              <a:t>1.8</a:t>
            </a:r>
          </a:p>
          <a:p>
            <a:pPr algn="ctr">
              <a:spcAft>
                <a:spcPts val="0"/>
              </a:spcAft>
            </a:pPr>
            <a:r>
              <a:rPr sz="1600" b="0" i="0">
                <a:solidFill>
                  <a:srgbClr val="FFFFFF"/>
                </a:solidFill>
                <a:latin typeface="Calibri"/>
              </a:rPr>
              <a:t>Course Scope and Boundaries</a:t>
            </a:r>
          </a:p>
        </p:txBody>
      </p:sp>
      <p:sp>
        <p:nvSpPr>
          <p:cNvPr id="11" name="Index Learning Objectives">
            <a:hlinkClick r:id="rId11" action="ppaction://hlinksldjump"/>
          </p:cNvPr>
          <p:cNvSpPr/>
          <p:nvPr/>
        </p:nvSpPr>
        <p:spPr>
          <a:xfrm>
            <a:off x="502920" y="4709160"/>
            <a:ext cx="2651760" cy="82296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Learning Objectives</a:t>
            </a:r>
          </a:p>
        </p:txBody>
      </p:sp>
      <p:sp>
        <p:nvSpPr>
          <p:cNvPr id="12" name="Index Chapter Summary">
            <a:hlinkClick r:id="rId12" action="ppaction://hlinksldjump"/>
          </p:cNvPr>
          <p:cNvSpPr/>
          <p:nvPr/>
        </p:nvSpPr>
        <p:spPr>
          <a:xfrm>
            <a:off x="3383280" y="4709160"/>
            <a:ext cx="2651760" cy="82296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Chapter Summary</a:t>
            </a:r>
          </a:p>
        </p:txBody>
      </p:sp>
      <p:sp>
        <p:nvSpPr>
          <p:cNvPr id="13" name="Index Self-Test">
            <a:hlinkClick r:id="rId13" action="ppaction://hlinksldjump"/>
          </p:cNvPr>
          <p:cNvSpPr/>
          <p:nvPr/>
        </p:nvSpPr>
        <p:spPr>
          <a:xfrm>
            <a:off x="6263640" y="4709160"/>
            <a:ext cx="2651760" cy="82296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Self-Test</a:t>
            </a:r>
          </a:p>
        </p:txBody>
      </p:sp>
      <p:sp>
        <p:nvSpPr>
          <p:cNvPr id="14" name="Index Hands-On Lab 1">
            <a:hlinkClick r:id="rId14" action="ppaction://hlinksldjump"/>
          </p:cNvPr>
          <p:cNvSpPr/>
          <p:nvPr/>
        </p:nvSpPr>
        <p:spPr>
          <a:xfrm>
            <a:off x="9144000" y="4709160"/>
            <a:ext cx="2651760" cy="82296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Hands-On Lab 1</a:t>
            </a:r>
          </a:p>
        </p:txBody>
      </p:sp>
      <p:sp>
        <p:nvSpPr>
          <p:cNvPr id="15" name="TextBox 14"/>
          <p:cNvSpPr txBox="1"/>
          <p:nvPr/>
        </p:nvSpPr>
        <p:spPr>
          <a:xfrm>
            <a:off x="502920" y="5806440"/>
            <a:ext cx="11155680" cy="457200"/>
          </a:xfrm>
          <a:prstGeom prst="rect">
            <a:avLst/>
          </a:prstGeom>
          <a:noFill/>
        </p:spPr>
        <p:txBody>
          <a:bodyPr wrap="square" anchor="t">
            <a:spAutoFit/>
          </a:bodyPr>
          <a:lstStyle/>
          <a:p>
            <a:pPr algn="l">
              <a:spcAft>
                <a:spcPts val="0"/>
              </a:spcAft>
            </a:pPr>
            <a:r>
              <a:rPr sz="1400" b="0" i="1">
                <a:solidFill>
                  <a:srgbClr val="595959"/>
                </a:solidFill>
                <a:latin typeface="Calibri"/>
              </a:rPr>
              <a:t>Select a tile to jump to that part of the chapter. Every slide has a link back to this index.</a:t>
            </a:r>
          </a:p>
        </p:txBody>
      </p:sp>
    </p:spTree>
    <p:extLst>
      <p:ext uri="{BB962C8B-B14F-4D97-AF65-F5344CB8AC3E}">
        <p14:creationId xmlns:p14="http://schemas.microsoft.com/office/powerpoint/2010/main" val="401743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Learning</a:t>
            </a:r>
            <a:r>
              <a:rPr sz="2400" b="1" i="0">
                <a:solidFill>
                  <a:srgbClr val="FFFFFF"/>
                </a:solidFill>
                <a:latin typeface="Calibri"/>
              </a:rPr>
              <a:t> Objectives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Objective 1"/>
          <p:cNvSpPr/>
          <p:nvPr/>
        </p:nvSpPr>
        <p:spPr>
          <a:xfrm>
            <a:off x="548640" y="1234440"/>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1499616"/>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1</a:t>
            </a:r>
          </a:p>
        </p:txBody>
      </p:sp>
      <p:sp>
        <p:nvSpPr>
          <p:cNvPr id="12" name="TextBox 11"/>
          <p:cNvSpPr txBox="1"/>
          <p:nvPr/>
        </p:nvSpPr>
        <p:spPr>
          <a:xfrm>
            <a:off x="1417319" y="1307592"/>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Describe BookStash and trace a request from browser to database and back</a:t>
            </a:r>
          </a:p>
        </p:txBody>
      </p:sp>
      <p:sp>
        <p:nvSpPr>
          <p:cNvPr id="13" name="Objective 2"/>
          <p:cNvSpPr/>
          <p:nvPr/>
        </p:nvSpPr>
        <p:spPr>
          <a:xfrm>
            <a:off x="548640" y="2496312"/>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 y="2761488"/>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2</a:t>
            </a:r>
          </a:p>
        </p:txBody>
      </p:sp>
      <p:sp>
        <p:nvSpPr>
          <p:cNvPr id="15" name="TextBox 14"/>
          <p:cNvSpPr txBox="1"/>
          <p:nvPr/>
        </p:nvSpPr>
        <p:spPr>
          <a:xfrm>
            <a:off x="1417319" y="2569464"/>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Name each tier of the canonical cloud-native architecture and its AWS service</a:t>
            </a:r>
          </a:p>
        </p:txBody>
      </p:sp>
      <p:sp>
        <p:nvSpPr>
          <p:cNvPr id="16" name="Objective 3"/>
          <p:cNvSpPr/>
          <p:nvPr/>
        </p:nvSpPr>
        <p:spPr>
          <a:xfrm>
            <a:off x="548640" y="3758183"/>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4023359"/>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3</a:t>
            </a:r>
          </a:p>
        </p:txBody>
      </p:sp>
      <p:sp>
        <p:nvSpPr>
          <p:cNvPr id="18" name="TextBox 17"/>
          <p:cNvSpPr txBox="1"/>
          <p:nvPr/>
        </p:nvSpPr>
        <p:spPr>
          <a:xfrm>
            <a:off x="1417319" y="3831335"/>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Distinguish IaaS, PaaS, SaaS, FaaS and CaaS by what the customer still manages</a:t>
            </a:r>
          </a:p>
        </p:txBody>
      </p:sp>
      <p:sp>
        <p:nvSpPr>
          <p:cNvPr id="19" name="Objective 4"/>
          <p:cNvSpPr/>
          <p:nvPr/>
        </p:nvSpPr>
        <p:spPr>
          <a:xfrm>
            <a:off x="548640" y="5020056"/>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31520" y="5285232"/>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4</a:t>
            </a:r>
          </a:p>
        </p:txBody>
      </p:sp>
      <p:sp>
        <p:nvSpPr>
          <p:cNvPr id="21" name="TextBox 20"/>
          <p:cNvSpPr txBox="1"/>
          <p:nvPr/>
        </p:nvSpPr>
        <p:spPr>
          <a:xfrm>
            <a:off x="1417319" y="5093208"/>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Apply the shared responsibility model to security and reliability</a:t>
            </a:r>
          </a:p>
        </p:txBody>
      </p:sp>
      <p:sp>
        <p:nvSpPr>
          <p:cNvPr id="22" name="Objective 5"/>
          <p:cNvSpPr/>
          <p:nvPr/>
        </p:nvSpPr>
        <p:spPr>
          <a:xfrm>
            <a:off x="6217920" y="1234440"/>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00800" y="1499616"/>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5</a:t>
            </a:r>
          </a:p>
        </p:txBody>
      </p:sp>
      <p:sp>
        <p:nvSpPr>
          <p:cNvPr id="24" name="TextBox 23"/>
          <p:cNvSpPr txBox="1"/>
          <p:nvPr/>
        </p:nvSpPr>
        <p:spPr>
          <a:xfrm>
            <a:off x="7086600" y="1307592"/>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Map AWS services to their closest Azure and Google Cloud equivalents</a:t>
            </a:r>
          </a:p>
        </p:txBody>
      </p:sp>
      <p:sp>
        <p:nvSpPr>
          <p:cNvPr id="25" name="Objective 6"/>
          <p:cNvSpPr/>
          <p:nvPr/>
        </p:nvSpPr>
        <p:spPr>
          <a:xfrm>
            <a:off x="6217920" y="2496312"/>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2761488"/>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6</a:t>
            </a:r>
          </a:p>
        </p:txBody>
      </p:sp>
      <p:sp>
        <p:nvSpPr>
          <p:cNvPr id="27" name="TextBox 26"/>
          <p:cNvSpPr txBox="1"/>
          <p:nvPr/>
        </p:nvSpPr>
        <p:spPr>
          <a:xfrm>
            <a:off x="7086600" y="2569464"/>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Read an X-Ray trace and find the evidence each hop leaves behind</a:t>
            </a:r>
          </a:p>
        </p:txBody>
      </p:sp>
      <p:sp>
        <p:nvSpPr>
          <p:cNvPr id="28" name="Objective 7"/>
          <p:cNvSpPr/>
          <p:nvPr/>
        </p:nvSpPr>
        <p:spPr>
          <a:xfrm>
            <a:off x="6217920" y="3758183"/>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00800" y="4023359"/>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7</a:t>
            </a:r>
          </a:p>
        </p:txBody>
      </p:sp>
      <p:sp>
        <p:nvSpPr>
          <p:cNvPr id="30" name="TextBox 29"/>
          <p:cNvSpPr txBox="1"/>
          <p:nvPr/>
        </p:nvSpPr>
        <p:spPr>
          <a:xfrm>
            <a:off x="7086600" y="3831335"/>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Explain Regions, AZs and edge locations as nested failure domains</a:t>
            </a:r>
          </a:p>
        </p:txBody>
      </p:sp>
      <p:sp>
        <p:nvSpPr>
          <p:cNvPr id="31" name="Objective 8"/>
          <p:cNvSpPr/>
          <p:nvPr/>
        </p:nvSpPr>
        <p:spPr>
          <a:xfrm>
            <a:off x="6217920" y="5020056"/>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400800" y="5285232"/>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8</a:t>
            </a:r>
          </a:p>
        </p:txBody>
      </p:sp>
      <p:sp>
        <p:nvSpPr>
          <p:cNvPr id="33" name="TextBox 32"/>
          <p:cNvSpPr txBox="1"/>
          <p:nvPr/>
        </p:nvSpPr>
        <p:spPr>
          <a:xfrm>
            <a:off x="7086600" y="5093208"/>
            <a:ext cx="4480560" cy="932688"/>
          </a:xfrm>
          <a:prstGeom prst="rect">
            <a:avLst/>
          </a:prstGeom>
          <a:noFill/>
        </p:spPr>
        <p:txBody>
          <a:bodyPr wrap="square" anchor="ctr">
            <a:spAutoFit/>
          </a:bodyPr>
          <a:lstStyle/>
          <a:p>
            <a:pPr algn="l">
              <a:spcAft>
                <a:spcPts val="0"/>
              </a:spcAft>
            </a:pPr>
            <a:r>
              <a:rPr sz="1700" b="0" i="0">
                <a:solidFill>
                  <a:srgbClr val="262626"/>
                </a:solidFill>
                <a:latin typeface="Calibri"/>
              </a:rPr>
              <a:t>State what this course covers and what CICD and SDSR cover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1.1</a:t>
            </a:r>
            <a:r>
              <a:rPr sz="2400" b="1" i="0">
                <a:solidFill>
                  <a:srgbClr val="FFFFFF"/>
                </a:solidFill>
                <a:latin typeface="Calibri"/>
              </a:rPr>
              <a:t> A Working Multi-Tier Cloud Application</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TextBox 9"/>
          <p:cNvSpPr txBox="1"/>
          <p:nvPr/>
        </p:nvSpPr>
        <p:spPr>
          <a:xfrm>
            <a:off x="457200" y="1005840"/>
            <a:ext cx="11247120" cy="685800"/>
          </a:xfrm>
          <a:prstGeom prst="rect">
            <a:avLst/>
          </a:prstGeom>
          <a:noFill/>
        </p:spPr>
        <p:txBody>
          <a:bodyPr wrap="square" anchor="t">
            <a:spAutoFit/>
          </a:bodyPr>
          <a:lstStyle/>
          <a:p>
            <a:pPr algn="l">
              <a:spcAft>
                <a:spcPts val="0"/>
              </a:spcAft>
            </a:pPr>
            <a:r>
              <a:rPr sz="1800" b="1" i="0">
                <a:solidFill>
                  <a:srgbClr val="156082"/>
                </a:solidFill>
                <a:latin typeface="Calibri"/>
              </a:rPr>
              <a:t>BookStash</a:t>
            </a:r>
            <a:r>
              <a:rPr sz="1800" b="0" i="0">
                <a:solidFill>
                  <a:srgbClr val="262626"/>
                </a:solidFill>
                <a:latin typeface="Calibri"/>
              </a:rPr>
              <a:t> is an online catalogue and ordering service for a university bookstore, deployed on AWS in ap-south-1 (Mumbai).</a:t>
            </a:r>
          </a:p>
        </p:txBody>
      </p:sp>
      <p:sp>
        <p:nvSpPr>
          <p:cNvPr id="11" name="Static content body"/>
          <p:cNvSpPr/>
          <p:nvPr/>
        </p:nvSpPr>
        <p:spPr>
          <a:xfrm>
            <a:off x="457200" y="1737360"/>
            <a:ext cx="448056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atic content head"/>
          <p:cNvSpPr/>
          <p:nvPr/>
        </p:nvSpPr>
        <p:spPr>
          <a:xfrm>
            <a:off x="457200" y="1737360"/>
            <a:ext cx="4480560" cy="43891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Static content</a:t>
            </a:r>
          </a:p>
        </p:txBody>
      </p:sp>
      <p:sp>
        <p:nvSpPr>
          <p:cNvPr id="13" name="TextBox 12"/>
          <p:cNvSpPr txBox="1"/>
          <p:nvPr/>
        </p:nvSpPr>
        <p:spPr>
          <a:xfrm>
            <a:off x="502920" y="2221991"/>
            <a:ext cx="4389120" cy="841248"/>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Cover images never change for an ID</a:t>
            </a:r>
          </a:p>
          <a:p>
            <a:pPr marL="228600" indent="-228600" algn="l">
              <a:spcAft>
                <a:spcPts val="400"/>
              </a:spcAft>
              <a:buClr>
                <a:srgbClr val="E97132"/>
              </a:buClr>
              <a:buFont typeface="Arial"/>
              <a:buChar char="•"/>
            </a:pPr>
            <a:r>
              <a:rPr sz="1500" b="0" i="0">
                <a:solidFill>
                  <a:srgbClr val="262626"/>
                </a:solidFill>
                <a:latin typeface="Calibri"/>
              </a:rPr>
              <a:t>Cached at the edge by CloudFront</a:t>
            </a:r>
          </a:p>
        </p:txBody>
      </p:sp>
      <p:sp>
        <p:nvSpPr>
          <p:cNvPr id="14" name="Repetitive reads body"/>
          <p:cNvSpPr/>
          <p:nvPr/>
        </p:nvSpPr>
        <p:spPr>
          <a:xfrm>
            <a:off x="457200" y="3246120"/>
            <a:ext cx="448056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petitive reads head"/>
          <p:cNvSpPr/>
          <p:nvPr/>
        </p:nvSpPr>
        <p:spPr>
          <a:xfrm>
            <a:off x="457200" y="3246120"/>
            <a:ext cx="4480560" cy="43891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Repetitive reads</a:t>
            </a:r>
          </a:p>
        </p:txBody>
      </p:sp>
      <p:sp>
        <p:nvSpPr>
          <p:cNvPr id="16" name="TextBox 15"/>
          <p:cNvSpPr txBox="1"/>
          <p:nvPr/>
        </p:nvSpPr>
        <p:spPr>
          <a:xfrm>
            <a:off x="502920" y="3730751"/>
            <a:ext cx="4389120" cy="841248"/>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Book lookups repeat thousands of times</a:t>
            </a:r>
          </a:p>
          <a:p>
            <a:pPr marL="228600" indent="-228600" algn="l">
              <a:spcAft>
                <a:spcPts val="400"/>
              </a:spcAft>
              <a:buClr>
                <a:srgbClr val="E97132"/>
              </a:buClr>
              <a:buFont typeface="Arial"/>
              <a:buChar char="•"/>
            </a:pPr>
            <a:r>
              <a:rPr sz="1500" b="0" i="0">
                <a:solidFill>
                  <a:srgbClr val="262626"/>
                </a:solidFill>
                <a:latin typeface="Calibri"/>
              </a:rPr>
              <a:t>Served from ElastiCache in memory</a:t>
            </a:r>
          </a:p>
        </p:txBody>
      </p:sp>
      <p:sp>
        <p:nvSpPr>
          <p:cNvPr id="17" name="Writes that must not be lost body"/>
          <p:cNvSpPr/>
          <p:nvPr/>
        </p:nvSpPr>
        <p:spPr>
          <a:xfrm>
            <a:off x="457200" y="4754879"/>
            <a:ext cx="448056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Writes that must not be lost head"/>
          <p:cNvSpPr/>
          <p:nvPr/>
        </p:nvSpPr>
        <p:spPr>
          <a:xfrm>
            <a:off x="457200" y="4754879"/>
            <a:ext cx="4480560" cy="43891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Writes that must not be lost</a:t>
            </a:r>
          </a:p>
        </p:txBody>
      </p:sp>
      <p:sp>
        <p:nvSpPr>
          <p:cNvPr id="19" name="TextBox 18"/>
          <p:cNvSpPr txBox="1"/>
          <p:nvPr/>
        </p:nvSpPr>
        <p:spPr>
          <a:xfrm>
            <a:off x="502920" y="5239512"/>
            <a:ext cx="4389120" cy="841248"/>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Orders need follow-up work</a:t>
            </a:r>
          </a:p>
          <a:p>
            <a:pPr marL="228600" indent="-228600" algn="l">
              <a:spcAft>
                <a:spcPts val="400"/>
              </a:spcAft>
              <a:buClr>
                <a:srgbClr val="E97132"/>
              </a:buClr>
              <a:buFont typeface="Arial"/>
              <a:buChar char="•"/>
            </a:pPr>
            <a:r>
              <a:rPr sz="1500" b="0" i="0">
                <a:solidFill>
                  <a:srgbClr val="262626"/>
                </a:solidFill>
                <a:latin typeface="Calibri"/>
              </a:rPr>
              <a:t>Queued in SQS for a worker</a:t>
            </a:r>
          </a:p>
        </p:txBody>
      </p:sp>
      <p:graphicFrame>
        <p:nvGraphicFramePr>
          <p:cNvPr id="20" name="Table 19"/>
          <p:cNvGraphicFramePr>
            <a:graphicFrameLocks noGrp="1"/>
          </p:cNvGraphicFramePr>
          <p:nvPr/>
        </p:nvGraphicFramePr>
        <p:xfrm>
          <a:off x="5257800" y="1737360"/>
          <a:ext cx="6446519" cy="3968496"/>
        </p:xfrm>
        <a:graphic>
          <a:graphicData uri="http://schemas.openxmlformats.org/drawingml/2006/table">
            <a:tbl>
              <a:tblPr firstRow="1">
                <a:tableStyleId>{5940675A-B579-460E-94D1-54222C63F5DA}</a:tableStyleId>
              </a:tblPr>
              <a:tblGrid>
                <a:gridCol w="18288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566928">
                <a:tc>
                  <a:txBody>
                    <a:bodyPr/>
                    <a:lstStyle/>
                    <a:p>
                      <a:r>
                        <a:rPr sz="1400" b="1" i="0">
                          <a:solidFill>
                            <a:srgbClr val="FFFFFF"/>
                          </a:solidFill>
                          <a:latin typeface="Calibri"/>
                        </a:rPr>
                        <a:t>Operation</a:t>
                      </a:r>
                    </a:p>
                  </a:txBody>
                  <a:tcPr marL="73152" marR="73152" marT="36576" marB="36576" anchor="ctr">
                    <a:solidFill>
                      <a:srgbClr val="156082"/>
                    </a:solidFill>
                  </a:tcPr>
                </a:tc>
                <a:tc>
                  <a:txBody>
                    <a:bodyPr/>
                    <a:lstStyle/>
                    <a:p>
                      <a:r>
                        <a:rPr sz="1400" b="1" i="0">
                          <a:solidFill>
                            <a:srgbClr val="FFFFFF"/>
                          </a:solidFill>
                          <a:latin typeface="Calibri"/>
                        </a:rPr>
                        <a:t>Method</a:t>
                      </a:r>
                    </a:p>
                  </a:txBody>
                  <a:tcPr marL="73152" marR="73152" marT="36576" marB="36576" anchor="ctr">
                    <a:solidFill>
                      <a:srgbClr val="156082"/>
                    </a:solidFill>
                  </a:tcPr>
                </a:tc>
                <a:tc>
                  <a:txBody>
                    <a:bodyPr/>
                    <a:lstStyle/>
                    <a:p>
                      <a:r>
                        <a:rPr sz="1400" b="1" i="0">
                          <a:solidFill>
                            <a:srgbClr val="FFFFFF"/>
                          </a:solidFill>
                          <a:latin typeface="Calibri"/>
                        </a:rPr>
                        <a:t>Behaviour</a:t>
                      </a:r>
                    </a:p>
                  </a:txBody>
                  <a:tcPr marL="73152" marR="73152" marT="36576" marB="36576" anchor="ctr">
                    <a:solidFill>
                      <a:srgbClr val="156082"/>
                    </a:solidFill>
                  </a:tcPr>
                </a:tc>
                <a:extLst>
                  <a:ext uri="{0D108BD9-81ED-4DB2-BD59-A6C34878D82A}">
                    <a16:rowId xmlns:a16="http://schemas.microsoft.com/office/drawing/2014/main" val="10000"/>
                  </a:ext>
                </a:extLst>
              </a:tr>
              <a:tr h="566928">
                <a:tc>
                  <a:txBody>
                    <a:bodyPr/>
                    <a:lstStyle/>
                    <a:p>
                      <a:r>
                        <a:rPr sz="1400" b="1" i="0">
                          <a:solidFill>
                            <a:srgbClr val="002060"/>
                          </a:solidFill>
                          <a:latin typeface="Calibri"/>
                        </a:rPr>
                        <a:t>/api/books/{id}</a:t>
                      </a:r>
                    </a:p>
                  </a:txBody>
                  <a:tcPr marL="73152" marR="73152" marT="36576" marB="36576" anchor="ctr">
                    <a:solidFill>
                      <a:srgbClr val="FFFFFF"/>
                    </a:solidFill>
                  </a:tcPr>
                </a:tc>
                <a:tc>
                  <a:txBody>
                    <a:bodyPr/>
                    <a:lstStyle/>
                    <a:p>
                      <a:r>
                        <a:rPr sz="1400" b="0" i="0">
                          <a:solidFill>
                            <a:srgbClr val="262626"/>
                          </a:solidFill>
                          <a:latin typeface="Calibri"/>
                        </a:rPr>
                        <a:t>GET</a:t>
                      </a:r>
                    </a:p>
                  </a:txBody>
                  <a:tcPr marL="73152" marR="73152" marT="36576" marB="36576" anchor="ctr">
                    <a:solidFill>
                      <a:srgbClr val="FFFFFF"/>
                    </a:solidFill>
                  </a:tcPr>
                </a:tc>
                <a:tc>
                  <a:txBody>
                    <a:bodyPr/>
                    <a:lstStyle/>
                    <a:p>
                      <a:r>
                        <a:rPr sz="1400" b="0" i="0">
                          <a:solidFill>
                            <a:srgbClr val="262626"/>
                          </a:solidFill>
                          <a:latin typeface="Calibri"/>
                        </a:rPr>
                        <a:t>One book as JSON; read-heavy, cacheable</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400" b="1" i="0">
                          <a:solidFill>
                            <a:srgbClr val="002060"/>
                          </a:solidFill>
                          <a:latin typeface="Calibri"/>
                        </a:rPr>
                        <a:t>/api/search?q=</a:t>
                      </a:r>
                    </a:p>
                  </a:txBody>
                  <a:tcPr marL="73152" marR="73152" marT="36576" marB="36576" anchor="ctr">
                    <a:solidFill>
                      <a:srgbClr val="F2F2F2"/>
                    </a:solidFill>
                  </a:tcPr>
                </a:tc>
                <a:tc>
                  <a:txBody>
                    <a:bodyPr/>
                    <a:lstStyle/>
                    <a:p>
                      <a:r>
                        <a:rPr sz="1400" b="0" i="0">
                          <a:solidFill>
                            <a:srgbClr val="262626"/>
                          </a:solidFill>
                          <a:latin typeface="Calibri"/>
                        </a:rPr>
                        <a:t>GET</a:t>
                      </a:r>
                    </a:p>
                  </a:txBody>
                  <a:tcPr marL="73152" marR="73152" marT="36576" marB="36576" anchor="ctr">
                    <a:solidFill>
                      <a:srgbClr val="F2F2F2"/>
                    </a:solidFill>
                  </a:tcPr>
                </a:tc>
                <a:tc>
                  <a:txBody>
                    <a:bodyPr/>
                    <a:lstStyle/>
                    <a:p>
                      <a:r>
                        <a:rPr sz="1400" b="0" i="0">
                          <a:solidFill>
                            <a:srgbClr val="262626"/>
                          </a:solidFill>
                          <a:latin typeface="Calibri"/>
                        </a:rPr>
                        <a:t>Search titles and authors in the database</a:t>
                      </a:r>
                    </a:p>
                  </a:txBody>
                  <a:tcPr marL="73152" marR="73152" marT="36576" marB="36576" anchor="ctr">
                    <a:solidFill>
                      <a:srgbClr val="F2F2F2"/>
                    </a:solidFill>
                  </a:tcPr>
                </a:tc>
                <a:extLst>
                  <a:ext uri="{0D108BD9-81ED-4DB2-BD59-A6C34878D82A}">
                    <a16:rowId xmlns:a16="http://schemas.microsoft.com/office/drawing/2014/main" val="10002"/>
                  </a:ext>
                </a:extLst>
              </a:tr>
              <a:tr h="566928">
                <a:tc>
                  <a:txBody>
                    <a:bodyPr/>
                    <a:lstStyle/>
                    <a:p>
                      <a:r>
                        <a:rPr sz="1400" b="1" i="0">
                          <a:solidFill>
                            <a:srgbClr val="002060"/>
                          </a:solidFill>
                          <a:latin typeface="Calibri"/>
                        </a:rPr>
                        <a:t>/covers/{id}.jpg</a:t>
                      </a:r>
                    </a:p>
                  </a:txBody>
                  <a:tcPr marL="73152" marR="73152" marT="36576" marB="36576" anchor="ctr">
                    <a:solidFill>
                      <a:srgbClr val="FFFFFF"/>
                    </a:solidFill>
                  </a:tcPr>
                </a:tc>
                <a:tc>
                  <a:txBody>
                    <a:bodyPr/>
                    <a:lstStyle/>
                    <a:p>
                      <a:r>
                        <a:rPr sz="1400" b="0" i="0">
                          <a:solidFill>
                            <a:srgbClr val="262626"/>
                          </a:solidFill>
                          <a:latin typeface="Calibri"/>
                        </a:rPr>
                        <a:t>GET</a:t>
                      </a:r>
                    </a:p>
                  </a:txBody>
                  <a:tcPr marL="73152" marR="73152" marT="36576" marB="36576" anchor="ctr">
                    <a:solidFill>
                      <a:srgbClr val="FFFFFF"/>
                    </a:solidFill>
                  </a:tcPr>
                </a:tc>
                <a:tc>
                  <a:txBody>
                    <a:bodyPr/>
                    <a:lstStyle/>
                    <a:p>
                      <a:r>
                        <a:rPr sz="1400" b="0" i="0">
                          <a:solidFill>
                            <a:srgbClr val="262626"/>
                          </a:solidFill>
                          <a:latin typeface="Calibri"/>
                        </a:rPr>
                        <a:t>Cover image; cached at the edge for a day</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400" b="1" i="0">
                          <a:solidFill>
                            <a:srgbClr val="002060"/>
                          </a:solidFill>
                          <a:latin typeface="Calibri"/>
                        </a:rPr>
                        <a:t>/api/orders</a:t>
                      </a:r>
                    </a:p>
                  </a:txBody>
                  <a:tcPr marL="73152" marR="73152" marT="36576" marB="36576" anchor="ctr">
                    <a:solidFill>
                      <a:srgbClr val="F2F2F2"/>
                    </a:solidFill>
                  </a:tcPr>
                </a:tc>
                <a:tc>
                  <a:txBody>
                    <a:bodyPr/>
                    <a:lstStyle/>
                    <a:p>
                      <a:r>
                        <a:rPr sz="1400" b="0" i="0">
                          <a:solidFill>
                            <a:srgbClr val="262626"/>
                          </a:solidFill>
                          <a:latin typeface="Calibri"/>
                        </a:rPr>
                        <a:t>POST</a:t>
                      </a:r>
                    </a:p>
                  </a:txBody>
                  <a:tcPr marL="73152" marR="73152" marT="36576" marB="36576" anchor="ctr">
                    <a:solidFill>
                      <a:srgbClr val="F2F2F2"/>
                    </a:solidFill>
                  </a:tcPr>
                </a:tc>
                <a:tc>
                  <a:txBody>
                    <a:bodyPr/>
                    <a:lstStyle/>
                    <a:p>
                      <a:r>
                        <a:rPr sz="1400" b="0" i="0">
                          <a:solidFill>
                            <a:srgbClr val="262626"/>
                          </a:solidFill>
                          <a:latin typeface="Calibri"/>
                        </a:rPr>
                        <a:t>Queues the order; returns 202 Accepted</a:t>
                      </a:r>
                    </a:p>
                  </a:txBody>
                  <a:tcPr marL="73152" marR="73152" marT="36576" marB="36576" anchor="ctr">
                    <a:solidFill>
                      <a:srgbClr val="F2F2F2"/>
                    </a:solidFill>
                  </a:tcPr>
                </a:tc>
                <a:extLst>
                  <a:ext uri="{0D108BD9-81ED-4DB2-BD59-A6C34878D82A}">
                    <a16:rowId xmlns:a16="http://schemas.microsoft.com/office/drawing/2014/main" val="10004"/>
                  </a:ext>
                </a:extLst>
              </a:tr>
              <a:tr h="566928">
                <a:tc>
                  <a:txBody>
                    <a:bodyPr/>
                    <a:lstStyle/>
                    <a:p>
                      <a:r>
                        <a:rPr sz="1400" b="1" i="0">
                          <a:solidFill>
                            <a:srgbClr val="002060"/>
                          </a:solidFill>
                          <a:latin typeface="Calibri"/>
                        </a:rPr>
                        <a:t>/api/stock/{id}</a:t>
                      </a:r>
                    </a:p>
                  </a:txBody>
                  <a:tcPr marL="73152" marR="73152" marT="36576" marB="36576" anchor="ctr">
                    <a:solidFill>
                      <a:srgbClr val="FFFFFF"/>
                    </a:solidFill>
                  </a:tcPr>
                </a:tc>
                <a:tc>
                  <a:txBody>
                    <a:bodyPr/>
                    <a:lstStyle/>
                    <a:p>
                      <a:r>
                        <a:rPr sz="1400" b="0" i="0">
                          <a:solidFill>
                            <a:srgbClr val="262626"/>
                          </a:solidFill>
                          <a:latin typeface="Calibri"/>
                        </a:rPr>
                        <a:t>PUT</a:t>
                      </a:r>
                    </a:p>
                  </a:txBody>
                  <a:tcPr marL="73152" marR="73152" marT="36576" marB="36576" anchor="ctr">
                    <a:solidFill>
                      <a:srgbClr val="FFFFFF"/>
                    </a:solidFill>
                  </a:tcPr>
                </a:tc>
                <a:tc>
                  <a:txBody>
                    <a:bodyPr/>
                    <a:lstStyle/>
                    <a:p>
                      <a:r>
                        <a:rPr sz="1400" b="0" i="0">
                          <a:solidFill>
                            <a:srgbClr val="262626"/>
                          </a:solidFill>
                          <a:latin typeface="Calibri"/>
                        </a:rPr>
                        <a:t>Staff stock update; clears cached record</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400" b="1" i="0">
                          <a:solidFill>
                            <a:srgbClr val="002060"/>
                          </a:solidFill>
                          <a:latin typeface="Calibri"/>
                        </a:rPr>
                        <a:t>/healthz</a:t>
                      </a:r>
                    </a:p>
                  </a:txBody>
                  <a:tcPr marL="73152" marR="73152" marT="36576" marB="36576" anchor="ctr">
                    <a:solidFill>
                      <a:srgbClr val="F2F2F2"/>
                    </a:solidFill>
                  </a:tcPr>
                </a:tc>
                <a:tc>
                  <a:txBody>
                    <a:bodyPr/>
                    <a:lstStyle/>
                    <a:p>
                      <a:r>
                        <a:rPr sz="1400" b="0" i="0">
                          <a:solidFill>
                            <a:srgbClr val="262626"/>
                          </a:solidFill>
                          <a:latin typeface="Calibri"/>
                        </a:rPr>
                        <a:t>GET</a:t>
                      </a:r>
                    </a:p>
                  </a:txBody>
                  <a:tcPr marL="73152" marR="73152" marT="36576" marB="36576" anchor="ctr">
                    <a:solidFill>
                      <a:srgbClr val="F2F2F2"/>
                    </a:solidFill>
                  </a:tcPr>
                </a:tc>
                <a:tc>
                  <a:txBody>
                    <a:bodyPr/>
                    <a:lstStyle/>
                    <a:p>
                      <a:r>
                        <a:rPr sz="1400" b="0" i="0">
                          <a:solidFill>
                            <a:srgbClr val="262626"/>
                          </a:solidFill>
                          <a:latin typeface="Calibri"/>
                        </a:rPr>
                        <a:t>Health check for the load balancer</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1.1</a:t>
            </a:r>
            <a:r>
              <a:rPr sz="2400" b="1" i="0">
                <a:solidFill>
                  <a:srgbClr val="FFFFFF"/>
                </a:solidFill>
                <a:latin typeface="Calibri"/>
              </a:rPr>
              <a:t> The Deployed System at a Glance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png"/>
          <p:cNvPicPr>
            <a:picLocks noChangeAspect="1"/>
          </p:cNvPicPr>
          <p:nvPr/>
        </p:nvPicPr>
        <p:blipFill>
          <a:blip r:embed="rId4"/>
          <a:stretch>
            <a:fillRect/>
          </a:stretch>
        </p:blipFill>
        <p:spPr>
          <a:xfrm>
            <a:off x="457200" y="1143000"/>
            <a:ext cx="7223760" cy="4268585"/>
          </a:xfrm>
          <a:prstGeom prst="rect">
            <a:avLst/>
          </a:prstGeom>
          <a:ln w="9525">
            <a:solidFill>
              <a:srgbClr val="D9D9D9"/>
            </a:solidFill>
          </a:ln>
        </p:spPr>
      </p:pic>
      <p:sp>
        <p:nvSpPr>
          <p:cNvPr id="11" name="Oval 10"/>
          <p:cNvSpPr/>
          <p:nvPr/>
        </p:nvSpPr>
        <p:spPr>
          <a:xfrm>
            <a:off x="7955279" y="1280160"/>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1</a:t>
            </a:r>
          </a:p>
        </p:txBody>
      </p:sp>
      <p:sp>
        <p:nvSpPr>
          <p:cNvPr id="12" name="TextBox 11"/>
          <p:cNvSpPr txBox="1"/>
          <p:nvPr/>
        </p:nvSpPr>
        <p:spPr>
          <a:xfrm>
            <a:off x="8549640" y="1188720"/>
            <a:ext cx="3200400" cy="749808"/>
          </a:xfrm>
          <a:prstGeom prst="rect">
            <a:avLst/>
          </a:prstGeom>
          <a:noFill/>
        </p:spPr>
        <p:txBody>
          <a:bodyPr wrap="square" anchor="ctr">
            <a:spAutoFit/>
          </a:bodyPr>
          <a:lstStyle/>
          <a:p>
            <a:pPr algn="l">
              <a:spcAft>
                <a:spcPts val="0"/>
              </a:spcAft>
            </a:pPr>
            <a:r>
              <a:rPr sz="1500" b="1" i="0">
                <a:solidFill>
                  <a:srgbClr val="002060"/>
                </a:solidFill>
                <a:latin typeface="Calibri"/>
              </a:rPr>
              <a:t>Route 53</a:t>
            </a:r>
          </a:p>
          <a:p>
            <a:pPr algn="l">
              <a:spcAft>
                <a:spcPts val="0"/>
              </a:spcAft>
            </a:pPr>
            <a:r>
              <a:rPr sz="1400" b="0" i="0">
                <a:solidFill>
                  <a:srgbClr val="262626"/>
                </a:solidFill>
                <a:latin typeface="Calibri"/>
              </a:rPr>
              <a:t>resolves bookstash.com to a nearby edge</a:t>
            </a:r>
          </a:p>
        </p:txBody>
      </p:sp>
      <p:sp>
        <p:nvSpPr>
          <p:cNvPr id="13" name="Oval 12"/>
          <p:cNvSpPr/>
          <p:nvPr/>
        </p:nvSpPr>
        <p:spPr>
          <a:xfrm>
            <a:off x="7955279" y="2121408"/>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2</a:t>
            </a:r>
          </a:p>
        </p:txBody>
      </p:sp>
      <p:sp>
        <p:nvSpPr>
          <p:cNvPr id="14" name="TextBox 13"/>
          <p:cNvSpPr txBox="1"/>
          <p:nvPr/>
        </p:nvSpPr>
        <p:spPr>
          <a:xfrm>
            <a:off x="8549640" y="2029968"/>
            <a:ext cx="3200400" cy="749808"/>
          </a:xfrm>
          <a:prstGeom prst="rect">
            <a:avLst/>
          </a:prstGeom>
          <a:noFill/>
        </p:spPr>
        <p:txBody>
          <a:bodyPr wrap="square" anchor="ctr">
            <a:spAutoFit/>
          </a:bodyPr>
          <a:lstStyle/>
          <a:p>
            <a:pPr algn="l">
              <a:spcAft>
                <a:spcPts val="0"/>
              </a:spcAft>
            </a:pPr>
            <a:r>
              <a:rPr sz="1500" b="1" i="0">
                <a:solidFill>
                  <a:srgbClr val="002060"/>
                </a:solidFill>
                <a:latin typeface="Calibri"/>
              </a:rPr>
              <a:t>CloudFront</a:t>
            </a:r>
          </a:p>
          <a:p>
            <a:pPr algn="l">
              <a:spcAft>
                <a:spcPts val="0"/>
              </a:spcAft>
            </a:pPr>
            <a:r>
              <a:rPr sz="1400" b="0" i="0">
                <a:solidFill>
                  <a:srgbClr val="262626"/>
                </a:solidFill>
                <a:latin typeface="Calibri"/>
              </a:rPr>
              <a:t>terminates TLS; answers from cache or forwards</a:t>
            </a:r>
          </a:p>
        </p:txBody>
      </p:sp>
      <p:sp>
        <p:nvSpPr>
          <p:cNvPr id="15" name="Oval 14"/>
          <p:cNvSpPr/>
          <p:nvPr/>
        </p:nvSpPr>
        <p:spPr>
          <a:xfrm>
            <a:off x="7955279" y="296265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3</a:t>
            </a:r>
          </a:p>
        </p:txBody>
      </p:sp>
      <p:sp>
        <p:nvSpPr>
          <p:cNvPr id="16" name="TextBox 15"/>
          <p:cNvSpPr txBox="1"/>
          <p:nvPr/>
        </p:nvSpPr>
        <p:spPr>
          <a:xfrm>
            <a:off x="8549640" y="2871216"/>
            <a:ext cx="3200400" cy="749808"/>
          </a:xfrm>
          <a:prstGeom prst="rect">
            <a:avLst/>
          </a:prstGeom>
          <a:noFill/>
        </p:spPr>
        <p:txBody>
          <a:bodyPr wrap="square" anchor="ctr">
            <a:spAutoFit/>
          </a:bodyPr>
          <a:lstStyle/>
          <a:p>
            <a:pPr algn="l">
              <a:spcAft>
                <a:spcPts val="0"/>
              </a:spcAft>
            </a:pPr>
            <a:r>
              <a:rPr sz="1500" b="1" i="0">
                <a:solidFill>
                  <a:srgbClr val="002060"/>
                </a:solidFill>
                <a:latin typeface="Calibri"/>
              </a:rPr>
              <a:t>ALB</a:t>
            </a:r>
          </a:p>
          <a:p>
            <a:pPr algn="l">
              <a:spcAft>
                <a:spcPts val="0"/>
              </a:spcAft>
            </a:pPr>
            <a:r>
              <a:rPr sz="1400" b="0" i="0">
                <a:solidFill>
                  <a:srgbClr val="262626"/>
                </a:solidFill>
                <a:latin typeface="Calibri"/>
              </a:rPr>
              <a:t>picks a healthy API task in any AZ</a:t>
            </a:r>
          </a:p>
        </p:txBody>
      </p:sp>
      <p:sp>
        <p:nvSpPr>
          <p:cNvPr id="17" name="Oval 16"/>
          <p:cNvSpPr/>
          <p:nvPr/>
        </p:nvSpPr>
        <p:spPr>
          <a:xfrm>
            <a:off x="7955279" y="3803904"/>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4</a:t>
            </a:r>
          </a:p>
        </p:txBody>
      </p:sp>
      <p:sp>
        <p:nvSpPr>
          <p:cNvPr id="18" name="TextBox 17"/>
          <p:cNvSpPr txBox="1"/>
          <p:nvPr/>
        </p:nvSpPr>
        <p:spPr>
          <a:xfrm>
            <a:off x="8549640" y="3712464"/>
            <a:ext cx="3200400" cy="749808"/>
          </a:xfrm>
          <a:prstGeom prst="rect">
            <a:avLst/>
          </a:prstGeom>
          <a:noFill/>
        </p:spPr>
        <p:txBody>
          <a:bodyPr wrap="square" anchor="ctr">
            <a:spAutoFit/>
          </a:bodyPr>
          <a:lstStyle/>
          <a:p>
            <a:pPr algn="l">
              <a:spcAft>
                <a:spcPts val="0"/>
              </a:spcAft>
            </a:pPr>
            <a:r>
              <a:rPr sz="1500" b="1" i="0">
                <a:solidFill>
                  <a:srgbClr val="002060"/>
                </a:solidFill>
                <a:latin typeface="Calibri"/>
              </a:rPr>
              <a:t>Fargate task</a:t>
            </a:r>
          </a:p>
          <a:p>
            <a:pPr algn="l">
              <a:spcAft>
                <a:spcPts val="0"/>
              </a:spcAft>
            </a:pPr>
            <a:r>
              <a:rPr sz="1400" b="0" i="0">
                <a:solidFill>
                  <a:srgbClr val="262626"/>
                </a:solidFill>
                <a:latin typeface="Calibri"/>
              </a:rPr>
              <a:t>runs the BookStash API container</a:t>
            </a:r>
          </a:p>
        </p:txBody>
      </p:sp>
      <p:sp>
        <p:nvSpPr>
          <p:cNvPr id="19" name="Oval 18"/>
          <p:cNvSpPr/>
          <p:nvPr/>
        </p:nvSpPr>
        <p:spPr>
          <a:xfrm>
            <a:off x="7955279" y="4645152"/>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5</a:t>
            </a:r>
          </a:p>
        </p:txBody>
      </p:sp>
      <p:sp>
        <p:nvSpPr>
          <p:cNvPr id="20" name="TextBox 19"/>
          <p:cNvSpPr txBox="1"/>
          <p:nvPr/>
        </p:nvSpPr>
        <p:spPr>
          <a:xfrm>
            <a:off x="8549640" y="4553712"/>
            <a:ext cx="3200400" cy="749808"/>
          </a:xfrm>
          <a:prstGeom prst="rect">
            <a:avLst/>
          </a:prstGeom>
          <a:noFill/>
        </p:spPr>
        <p:txBody>
          <a:bodyPr wrap="square" anchor="ctr">
            <a:spAutoFit/>
          </a:bodyPr>
          <a:lstStyle/>
          <a:p>
            <a:pPr algn="l">
              <a:spcAft>
                <a:spcPts val="0"/>
              </a:spcAft>
            </a:pPr>
            <a:r>
              <a:rPr sz="1500" b="1" i="0">
                <a:solidFill>
                  <a:srgbClr val="002060"/>
                </a:solidFill>
                <a:latin typeface="Calibri"/>
              </a:rPr>
              <a:t>ElastiCache / RDS</a:t>
            </a:r>
          </a:p>
          <a:p>
            <a:pPr algn="l">
              <a:spcAft>
                <a:spcPts val="0"/>
              </a:spcAft>
            </a:pPr>
            <a:r>
              <a:rPr sz="1400" b="0" i="0">
                <a:solidFill>
                  <a:srgbClr val="262626"/>
                </a:solidFill>
                <a:latin typeface="Calibri"/>
              </a:rPr>
              <a:t>cache first, database on a miss</a:t>
            </a:r>
          </a:p>
        </p:txBody>
      </p:sp>
      <p:sp>
        <p:nvSpPr>
          <p:cNvPr id="21" name="Oval 20"/>
          <p:cNvSpPr/>
          <p:nvPr/>
        </p:nvSpPr>
        <p:spPr>
          <a:xfrm>
            <a:off x="7955279" y="5486400"/>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6</a:t>
            </a:r>
          </a:p>
        </p:txBody>
      </p:sp>
      <p:sp>
        <p:nvSpPr>
          <p:cNvPr id="22" name="TextBox 21"/>
          <p:cNvSpPr txBox="1"/>
          <p:nvPr/>
        </p:nvSpPr>
        <p:spPr>
          <a:xfrm>
            <a:off x="8549640" y="5394960"/>
            <a:ext cx="3200400" cy="749808"/>
          </a:xfrm>
          <a:prstGeom prst="rect">
            <a:avLst/>
          </a:prstGeom>
          <a:noFill/>
        </p:spPr>
        <p:txBody>
          <a:bodyPr wrap="square" anchor="ctr">
            <a:spAutoFit/>
          </a:bodyPr>
          <a:lstStyle/>
          <a:p>
            <a:pPr algn="l">
              <a:spcAft>
                <a:spcPts val="0"/>
              </a:spcAft>
            </a:pPr>
            <a:r>
              <a:rPr sz="1500" b="1" i="0">
                <a:solidFill>
                  <a:srgbClr val="002060"/>
                </a:solidFill>
                <a:latin typeface="Calibri"/>
              </a:rPr>
              <a:t>SQS + worker</a:t>
            </a:r>
          </a:p>
          <a:p>
            <a:pPr algn="l">
              <a:spcAft>
                <a:spcPts val="0"/>
              </a:spcAft>
            </a:pPr>
            <a:r>
              <a:rPr sz="1400" b="0" i="0">
                <a:solidFill>
                  <a:srgbClr val="262626"/>
                </a:solidFill>
                <a:latin typeface="Calibri"/>
              </a:rPr>
              <a:t>orders processed after the reply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1.1</a:t>
            </a:r>
            <a:r>
              <a:rPr sz="2400" b="1" i="0">
                <a:solidFill>
                  <a:srgbClr val="FFFFFF"/>
                </a:solidFill>
                <a:latin typeface="Calibri"/>
              </a:rPr>
              <a:t> The Request and Response Round Trip</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2.png"/>
          <p:cNvPicPr>
            <a:picLocks noChangeAspect="1"/>
          </p:cNvPicPr>
          <p:nvPr/>
        </p:nvPicPr>
        <p:blipFill>
          <a:blip r:embed="rId4"/>
          <a:stretch>
            <a:fillRect/>
          </a:stretch>
        </p:blipFill>
        <p:spPr>
          <a:xfrm>
            <a:off x="457200" y="1188720"/>
            <a:ext cx="7040880" cy="3740467"/>
          </a:xfrm>
          <a:prstGeom prst="rect">
            <a:avLst/>
          </a:prstGeom>
          <a:ln w="9525">
            <a:solidFill>
              <a:srgbClr val="D9D9D9"/>
            </a:solidFill>
          </a:ln>
        </p:spPr>
      </p:pic>
      <p:sp>
        <p:nvSpPr>
          <p:cNvPr id="11" name="Before our code body"/>
          <p:cNvSpPr/>
          <p:nvPr/>
        </p:nvSpPr>
        <p:spPr>
          <a:xfrm>
            <a:off x="7818120" y="1188720"/>
            <a:ext cx="391363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efore our code head"/>
          <p:cNvSpPr/>
          <p:nvPr/>
        </p:nvSpPr>
        <p:spPr>
          <a:xfrm>
            <a:off x="7818120" y="1188720"/>
            <a:ext cx="3913632" cy="4206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Before our code</a:t>
            </a:r>
          </a:p>
        </p:txBody>
      </p:sp>
      <p:sp>
        <p:nvSpPr>
          <p:cNvPr id="13" name="TextBox 12"/>
          <p:cNvSpPr txBox="1"/>
          <p:nvPr/>
        </p:nvSpPr>
        <p:spPr>
          <a:xfrm>
            <a:off x="7863840" y="1655064"/>
            <a:ext cx="3822192" cy="1024127"/>
          </a:xfrm>
          <a:prstGeom prst="rect">
            <a:avLst/>
          </a:prstGeom>
          <a:noFill/>
        </p:spPr>
        <p:txBody>
          <a:bodyPr wrap="square" anchor="t">
            <a:spAutoFit/>
          </a:bodyPr>
          <a:lstStyle/>
          <a:p>
            <a:pPr algn="l">
              <a:spcAft>
                <a:spcPts val="0"/>
              </a:spcAft>
            </a:pPr>
            <a:r>
              <a:rPr sz="1500" b="0" i="0">
                <a:solidFill>
                  <a:srgbClr val="262626"/>
                </a:solidFill>
                <a:latin typeface="Calibri"/>
              </a:rPr>
              <a:t>DNS plus TCP and TLS handshakes take about a third of the time. CDNs and connection reuse matter.</a:t>
            </a:r>
          </a:p>
        </p:txBody>
      </p:sp>
      <p:sp>
        <p:nvSpPr>
          <p:cNvPr id="14" name="Inside our code body"/>
          <p:cNvSpPr/>
          <p:nvPr/>
        </p:nvSpPr>
        <p:spPr>
          <a:xfrm>
            <a:off x="7818120" y="2880360"/>
            <a:ext cx="391363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nside our code head"/>
          <p:cNvSpPr/>
          <p:nvPr/>
        </p:nvSpPr>
        <p:spPr>
          <a:xfrm>
            <a:off x="7818120" y="2880360"/>
            <a:ext cx="3913632" cy="42062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Inside our code</a:t>
            </a:r>
          </a:p>
        </p:txBody>
      </p:sp>
      <p:sp>
        <p:nvSpPr>
          <p:cNvPr id="16" name="TextBox 15"/>
          <p:cNvSpPr txBox="1"/>
          <p:nvPr/>
        </p:nvSpPr>
        <p:spPr>
          <a:xfrm>
            <a:off x="7863840" y="3346704"/>
            <a:ext cx="3822192" cy="1024127"/>
          </a:xfrm>
          <a:prstGeom prst="rect">
            <a:avLst/>
          </a:prstGeom>
          <a:noFill/>
        </p:spPr>
        <p:txBody>
          <a:bodyPr wrap="square" anchor="t">
            <a:spAutoFit/>
          </a:bodyPr>
          <a:lstStyle/>
          <a:p>
            <a:pPr algn="l">
              <a:spcAft>
                <a:spcPts val="0"/>
              </a:spcAft>
            </a:pPr>
            <a:r>
              <a:rPr sz="1500" b="0" i="0">
                <a:solidFill>
                  <a:srgbClr val="262626"/>
                </a:solidFill>
                <a:latin typeface="Calibri"/>
              </a:rPr>
              <a:t>The RDS query is the largest single item. Caching pays off.</a:t>
            </a:r>
          </a:p>
        </p:txBody>
      </p:sp>
      <p:sp>
        <p:nvSpPr>
          <p:cNvPr id="17" name="On the way back body"/>
          <p:cNvSpPr/>
          <p:nvPr/>
        </p:nvSpPr>
        <p:spPr>
          <a:xfrm>
            <a:off x="7818120" y="4572000"/>
            <a:ext cx="391363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n the way back head"/>
          <p:cNvSpPr/>
          <p:nvPr/>
        </p:nvSpPr>
        <p:spPr>
          <a:xfrm>
            <a:off x="7818120" y="4572000"/>
            <a:ext cx="3913632" cy="420624"/>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On the way back</a:t>
            </a:r>
          </a:p>
        </p:txBody>
      </p:sp>
      <p:sp>
        <p:nvSpPr>
          <p:cNvPr id="19" name="TextBox 18"/>
          <p:cNvSpPr txBox="1"/>
          <p:nvPr/>
        </p:nvSpPr>
        <p:spPr>
          <a:xfrm>
            <a:off x="7863840" y="5038344"/>
            <a:ext cx="3822192" cy="1024127"/>
          </a:xfrm>
          <a:prstGeom prst="rect">
            <a:avLst/>
          </a:prstGeom>
          <a:noFill/>
        </p:spPr>
        <p:txBody>
          <a:bodyPr wrap="square" anchor="t">
            <a:spAutoFit/>
          </a:bodyPr>
          <a:lstStyle/>
          <a:p>
            <a:pPr algn="l">
              <a:spcAft>
                <a:spcPts val="0"/>
              </a:spcAft>
            </a:pPr>
            <a:r>
              <a:rPr sz="1500" b="0" i="0">
                <a:solidFill>
                  <a:srgbClr val="262626"/>
                </a:solidFill>
                <a:latin typeface="Calibri"/>
              </a:rPr>
              <a:t>Response size matters. Smaller or compressed payloads arrive sooner.</a:t>
            </a:r>
          </a:p>
        </p:txBody>
      </p:sp>
      <p:sp>
        <p:nvSpPr>
          <p:cNvPr id="20" name="TextBox 19"/>
          <p:cNvSpPr txBox="1"/>
          <p:nvPr/>
        </p:nvSpPr>
        <p:spPr>
          <a:xfrm>
            <a:off x="457200" y="5074920"/>
            <a:ext cx="7040880" cy="457200"/>
          </a:xfrm>
          <a:prstGeom prst="rect">
            <a:avLst/>
          </a:prstGeom>
          <a:noFill/>
        </p:spPr>
        <p:txBody>
          <a:bodyPr wrap="square" anchor="t">
            <a:spAutoFit/>
          </a:bodyPr>
          <a:lstStyle/>
          <a:p>
            <a:pPr algn="l">
              <a:spcAft>
                <a:spcPts val="0"/>
              </a:spcAft>
            </a:pPr>
            <a:r>
              <a:rPr sz="1500" b="0" i="1">
                <a:solidFill>
                  <a:srgbClr val="595959"/>
                </a:solidFill>
                <a:latin typeface="Calibri"/>
              </a:rPr>
              <a:t>Cold GET /api/books/42 from Hyderabad: about 127 ms end to 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Example 1.1</a:t>
            </a:r>
            <a:r>
              <a:rPr sz="2400" b="1" i="0">
                <a:solidFill>
                  <a:srgbClr val="FFFFFF"/>
                </a:solidFill>
                <a:latin typeface="Calibri"/>
              </a:rPr>
              <a:t> A Latency Budget for BookStash</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graphicFrame>
        <p:nvGraphicFramePr>
          <p:cNvPr id="10" name="Table 9"/>
          <p:cNvGraphicFramePr>
            <a:graphicFrameLocks noGrp="1"/>
          </p:cNvGraphicFramePr>
          <p:nvPr/>
        </p:nvGraphicFramePr>
        <p:xfrm>
          <a:off x="457200" y="1234440"/>
          <a:ext cx="6949440" cy="3840480"/>
        </p:xfrm>
        <a:graphic>
          <a:graphicData uri="http://schemas.openxmlformats.org/drawingml/2006/table">
            <a:tbl>
              <a:tblPr firstRow="1">
                <a:tableStyleId>{5940675A-B579-460E-94D1-54222C63F5DA}</a:tableStyleId>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48640">
                <a:tc>
                  <a:txBody>
                    <a:bodyPr/>
                    <a:lstStyle/>
                    <a:p>
                      <a:r>
                        <a:rPr sz="1600" b="1" i="0">
                          <a:solidFill>
                            <a:srgbClr val="FFFFFF"/>
                          </a:solidFill>
                          <a:latin typeface="Calibri"/>
                        </a:rPr>
                        <a:t>Hop</a:t>
                      </a:r>
                    </a:p>
                  </a:txBody>
                  <a:tcPr marL="73152" marR="73152" marT="36576" marB="36576" anchor="ctr">
                    <a:solidFill>
                      <a:srgbClr val="156082"/>
                    </a:solidFill>
                  </a:tcPr>
                </a:tc>
                <a:tc>
                  <a:txBody>
                    <a:bodyPr/>
                    <a:lstStyle/>
                    <a:p>
                      <a:r>
                        <a:rPr sz="1600" b="1" i="0">
                          <a:solidFill>
                            <a:srgbClr val="FFFFFF"/>
                          </a:solidFill>
                          <a:latin typeface="Calibri"/>
                        </a:rPr>
                        <a:t>Budget</a:t>
                      </a:r>
                    </a:p>
                  </a:txBody>
                  <a:tcPr marL="73152" marR="73152" marT="36576" marB="36576" anchor="ctr">
                    <a:solidFill>
                      <a:srgbClr val="156082"/>
                    </a:solidFill>
                  </a:tcPr>
                </a:tc>
                <a:tc>
                  <a:txBody>
                    <a:bodyPr/>
                    <a:lstStyle/>
                    <a:p>
                      <a:r>
                        <a:rPr sz="1600" b="1" i="0">
                          <a:solidFill>
                            <a:srgbClr val="FFFFFF"/>
                          </a:solidFill>
                          <a:latin typeface="Calibri"/>
                        </a:rPr>
                        <a:t>Cold</a:t>
                      </a:r>
                    </a:p>
                  </a:txBody>
                  <a:tcPr marL="73152" marR="73152" marT="36576" marB="36576" anchor="ctr">
                    <a:solidFill>
                      <a:srgbClr val="156082"/>
                    </a:solidFill>
                  </a:tcPr>
                </a:tc>
                <a:tc>
                  <a:txBody>
                    <a:bodyPr/>
                    <a:lstStyle/>
                    <a:p>
                      <a:r>
                        <a:rPr sz="1600" b="1" i="0">
                          <a:solidFill>
                            <a:srgbClr val="FFFFFF"/>
                          </a:solidFill>
                          <a:latin typeface="Calibri"/>
                        </a:rPr>
                        <a:t>Warm</a:t>
                      </a:r>
                    </a:p>
                  </a:txBody>
                  <a:tcPr marL="73152" marR="73152" marT="36576" marB="36576" anchor="ctr">
                    <a:solidFill>
                      <a:srgbClr val="156082"/>
                    </a:solidFill>
                  </a:tcPr>
                </a:tc>
                <a:extLst>
                  <a:ext uri="{0D108BD9-81ED-4DB2-BD59-A6C34878D82A}">
                    <a16:rowId xmlns:a16="http://schemas.microsoft.com/office/drawing/2014/main" val="10000"/>
                  </a:ext>
                </a:extLst>
              </a:tr>
              <a:tr h="548640">
                <a:tc>
                  <a:txBody>
                    <a:bodyPr/>
                    <a:lstStyle/>
                    <a:p>
                      <a:r>
                        <a:rPr sz="1600" b="1" i="0">
                          <a:solidFill>
                            <a:srgbClr val="002060"/>
                          </a:solidFill>
                          <a:latin typeface="Calibri"/>
                        </a:rPr>
                        <a:t>DNS and connection setup</a:t>
                      </a:r>
                    </a:p>
                  </a:txBody>
                  <a:tcPr marL="73152" marR="73152" marT="36576" marB="36576" anchor="ctr">
                    <a:solidFill>
                      <a:srgbClr val="FFFFFF"/>
                    </a:solidFill>
                  </a:tcPr>
                </a:tc>
                <a:tc>
                  <a:txBody>
                    <a:bodyPr/>
                    <a:lstStyle/>
                    <a:p>
                      <a:r>
                        <a:rPr sz="1600" b="0" i="0">
                          <a:solidFill>
                            <a:srgbClr val="262626"/>
                          </a:solidFill>
                          <a:latin typeface="Calibri"/>
                        </a:rPr>
                        <a:t>50</a:t>
                      </a:r>
                    </a:p>
                  </a:txBody>
                  <a:tcPr marL="73152" marR="73152" marT="36576" marB="36576" anchor="ctr">
                    <a:solidFill>
                      <a:srgbClr val="FFFFFF"/>
                    </a:solidFill>
                  </a:tcPr>
                </a:tc>
                <a:tc>
                  <a:txBody>
                    <a:bodyPr/>
                    <a:lstStyle/>
                    <a:p>
                      <a:r>
                        <a:rPr sz="1600" b="0" i="0">
                          <a:solidFill>
                            <a:srgbClr val="262626"/>
                          </a:solidFill>
                          <a:latin typeface="Calibri"/>
                        </a:rPr>
                        <a:t>44</a:t>
                      </a:r>
                    </a:p>
                  </a:txBody>
                  <a:tcPr marL="73152" marR="73152" marT="36576" marB="36576" anchor="ctr">
                    <a:solidFill>
                      <a:srgbClr val="FFFFFF"/>
                    </a:solidFill>
                  </a:tcPr>
                </a:tc>
                <a:tc>
                  <a:txBody>
                    <a:bodyPr/>
                    <a:lstStyle/>
                    <a:p>
                      <a:r>
                        <a:rPr sz="1600" b="0" i="0">
                          <a:solidFill>
                            <a:srgbClr val="262626"/>
                          </a:solidFill>
                          <a:latin typeface="Calibri"/>
                        </a:rPr>
                        <a:t>0 (reused)</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r>
                        <a:rPr sz="1600" b="1" i="0">
                          <a:solidFill>
                            <a:srgbClr val="002060"/>
                          </a:solidFill>
                          <a:latin typeface="Calibri"/>
                        </a:rPr>
                        <a:t>Edge and transfer to origin</a:t>
                      </a:r>
                    </a:p>
                  </a:txBody>
                  <a:tcPr marL="73152" marR="73152" marT="36576" marB="36576" anchor="ctr">
                    <a:solidFill>
                      <a:srgbClr val="F2F2F2"/>
                    </a:solidFill>
                  </a:tcPr>
                </a:tc>
                <a:tc>
                  <a:txBody>
                    <a:bodyPr/>
                    <a:lstStyle/>
                    <a:p>
                      <a:r>
                        <a:rPr sz="1600" b="0" i="0">
                          <a:solidFill>
                            <a:srgbClr val="262626"/>
                          </a:solidFill>
                          <a:latin typeface="Calibri"/>
                        </a:rPr>
                        <a:t>30</a:t>
                      </a:r>
                    </a:p>
                  </a:txBody>
                  <a:tcPr marL="73152" marR="73152" marT="36576" marB="36576" anchor="ctr">
                    <a:solidFill>
                      <a:srgbClr val="F2F2F2"/>
                    </a:solidFill>
                  </a:tcPr>
                </a:tc>
                <a:tc>
                  <a:txBody>
                    <a:bodyPr/>
                    <a:lstStyle/>
                    <a:p>
                      <a:r>
                        <a:rPr sz="1600" b="0" i="0">
                          <a:solidFill>
                            <a:srgbClr val="262626"/>
                          </a:solidFill>
                          <a:latin typeface="Calibri"/>
                        </a:rPr>
                        <a:t>20</a:t>
                      </a:r>
                    </a:p>
                  </a:txBody>
                  <a:tcPr marL="73152" marR="73152" marT="36576" marB="36576" anchor="ctr">
                    <a:solidFill>
                      <a:srgbClr val="F2F2F2"/>
                    </a:solidFill>
                  </a:tcPr>
                </a:tc>
                <a:tc>
                  <a:txBody>
                    <a:bodyPr/>
                    <a:lstStyle/>
                    <a:p>
                      <a:r>
                        <a:rPr sz="1600" b="0" i="0">
                          <a:solidFill>
                            <a:srgbClr val="262626"/>
                          </a:solidFill>
                          <a:latin typeface="Calibri"/>
                        </a:rPr>
                        <a:t>20</a:t>
                      </a:r>
                    </a:p>
                  </a:txBody>
                  <a:tcPr marL="73152" marR="73152" marT="36576" marB="36576" anchor="ctr">
                    <a:solidFill>
                      <a:srgbClr val="F2F2F2"/>
                    </a:solidFill>
                  </a:tcPr>
                </a:tc>
                <a:extLst>
                  <a:ext uri="{0D108BD9-81ED-4DB2-BD59-A6C34878D82A}">
                    <a16:rowId xmlns:a16="http://schemas.microsoft.com/office/drawing/2014/main" val="10002"/>
                  </a:ext>
                </a:extLst>
              </a:tr>
              <a:tr h="548640">
                <a:tc>
                  <a:txBody>
                    <a:bodyPr/>
                    <a:lstStyle/>
                    <a:p>
                      <a:r>
                        <a:rPr sz="1600" b="1" i="0">
                          <a:solidFill>
                            <a:srgbClr val="002060"/>
                          </a:solidFill>
                          <a:latin typeface="Calibri"/>
                        </a:rPr>
                        <a:t>ALB and task handling</a:t>
                      </a:r>
                    </a:p>
                  </a:txBody>
                  <a:tcPr marL="73152" marR="73152" marT="36576" marB="36576" anchor="ctr">
                    <a:solidFill>
                      <a:srgbClr val="FFFFFF"/>
                    </a:solidFill>
                  </a:tcPr>
                </a:tc>
                <a:tc>
                  <a:txBody>
                    <a:bodyPr/>
                    <a:lstStyle/>
                    <a:p>
                      <a:r>
                        <a:rPr sz="1600" b="0" i="0">
                          <a:solidFill>
                            <a:srgbClr val="262626"/>
                          </a:solidFill>
                          <a:latin typeface="Calibri"/>
                        </a:rPr>
                        <a:t>15</a:t>
                      </a:r>
                    </a:p>
                  </a:txBody>
                  <a:tcPr marL="73152" marR="73152" marT="36576" marB="36576" anchor="ctr">
                    <a:solidFill>
                      <a:srgbClr val="FFFFFF"/>
                    </a:solidFill>
                  </a:tcPr>
                </a:tc>
                <a:tc>
                  <a:txBody>
                    <a:bodyPr/>
                    <a:lstStyle/>
                    <a:p>
                      <a:r>
                        <a:rPr sz="1600" b="0" i="0">
                          <a:solidFill>
                            <a:srgbClr val="262626"/>
                          </a:solidFill>
                          <a:latin typeface="Calibri"/>
                        </a:rPr>
                        <a:t>11</a:t>
                      </a:r>
                    </a:p>
                  </a:txBody>
                  <a:tcPr marL="73152" marR="73152" marT="36576" marB="36576" anchor="ctr">
                    <a:solidFill>
                      <a:srgbClr val="FFFFFF"/>
                    </a:solidFill>
                  </a:tcPr>
                </a:tc>
                <a:tc>
                  <a:txBody>
                    <a:bodyPr/>
                    <a:lstStyle/>
                    <a:p>
                      <a:r>
                        <a:rPr sz="1600" b="0" i="0">
                          <a:solidFill>
                            <a:srgbClr val="262626"/>
                          </a:solidFill>
                          <a:latin typeface="Calibri"/>
                        </a:rPr>
                        <a:t>11</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r>
                        <a:rPr sz="1600" b="1" i="0">
                          <a:solidFill>
                            <a:srgbClr val="002060"/>
                          </a:solidFill>
                          <a:latin typeface="Calibri"/>
                        </a:rPr>
                        <a:t>Cache and database</a:t>
                      </a:r>
                    </a:p>
                  </a:txBody>
                  <a:tcPr marL="73152" marR="73152" marT="36576" marB="36576" anchor="ctr">
                    <a:solidFill>
                      <a:srgbClr val="F2F2F2"/>
                    </a:solidFill>
                  </a:tcPr>
                </a:tc>
                <a:tc>
                  <a:txBody>
                    <a:bodyPr/>
                    <a:lstStyle/>
                    <a:p>
                      <a:r>
                        <a:rPr sz="1600" b="0" i="0">
                          <a:solidFill>
                            <a:srgbClr val="262626"/>
                          </a:solidFill>
                          <a:latin typeface="Calibri"/>
                        </a:rPr>
                        <a:t>60</a:t>
                      </a:r>
                    </a:p>
                  </a:txBody>
                  <a:tcPr marL="73152" marR="73152" marT="36576" marB="36576" anchor="ctr">
                    <a:solidFill>
                      <a:srgbClr val="F2F2F2"/>
                    </a:solidFill>
                  </a:tcPr>
                </a:tc>
                <a:tc>
                  <a:txBody>
                    <a:bodyPr/>
                    <a:lstStyle/>
                    <a:p>
                      <a:r>
                        <a:rPr sz="1600" b="0" i="0">
                          <a:solidFill>
                            <a:srgbClr val="262626"/>
                          </a:solidFill>
                          <a:latin typeface="Calibri"/>
                        </a:rPr>
                        <a:t>18.5</a:t>
                      </a:r>
                    </a:p>
                  </a:txBody>
                  <a:tcPr marL="73152" marR="73152" marT="36576" marB="36576" anchor="ctr">
                    <a:solidFill>
                      <a:srgbClr val="F2F2F2"/>
                    </a:solidFill>
                  </a:tcPr>
                </a:tc>
                <a:tc>
                  <a:txBody>
                    <a:bodyPr/>
                    <a:lstStyle/>
                    <a:p>
                      <a:r>
                        <a:rPr sz="1600" b="0" i="0">
                          <a:solidFill>
                            <a:srgbClr val="262626"/>
                          </a:solidFill>
                          <a:latin typeface="Calibri"/>
                        </a:rPr>
                        <a:t>1.5</a:t>
                      </a:r>
                    </a:p>
                  </a:txBody>
                  <a:tcPr marL="73152" marR="73152" marT="36576" marB="36576" anchor="ctr">
                    <a:solidFill>
                      <a:srgbClr val="F2F2F2"/>
                    </a:solidFill>
                  </a:tcPr>
                </a:tc>
                <a:extLst>
                  <a:ext uri="{0D108BD9-81ED-4DB2-BD59-A6C34878D82A}">
                    <a16:rowId xmlns:a16="http://schemas.microsoft.com/office/drawing/2014/main" val="10004"/>
                  </a:ext>
                </a:extLst>
              </a:tr>
              <a:tr h="548640">
                <a:tc>
                  <a:txBody>
                    <a:bodyPr/>
                    <a:lstStyle/>
                    <a:p>
                      <a:r>
                        <a:rPr sz="1600" b="1" i="0">
                          <a:solidFill>
                            <a:srgbClr val="002060"/>
                          </a:solidFill>
                          <a:latin typeface="Calibri"/>
                        </a:rPr>
                        <a:t>Response build and return</a:t>
                      </a:r>
                    </a:p>
                  </a:txBody>
                  <a:tcPr marL="73152" marR="73152" marT="36576" marB="36576" anchor="ctr">
                    <a:solidFill>
                      <a:srgbClr val="FFFFFF"/>
                    </a:solidFill>
                  </a:tcPr>
                </a:tc>
                <a:tc>
                  <a:txBody>
                    <a:bodyPr/>
                    <a:lstStyle/>
                    <a:p>
                      <a:r>
                        <a:rPr sz="1600" b="0" i="0">
                          <a:solidFill>
                            <a:srgbClr val="262626"/>
                          </a:solidFill>
                          <a:latin typeface="Calibri"/>
                        </a:rPr>
                        <a:t>45</a:t>
                      </a:r>
                    </a:p>
                  </a:txBody>
                  <a:tcPr marL="73152" marR="73152" marT="36576" marB="36576" anchor="ctr">
                    <a:solidFill>
                      <a:srgbClr val="FFFFFF"/>
                    </a:solidFill>
                  </a:tcPr>
                </a:tc>
                <a:tc>
                  <a:txBody>
                    <a:bodyPr/>
                    <a:lstStyle/>
                    <a:p>
                      <a:r>
                        <a:rPr sz="1600" b="0" i="0">
                          <a:solidFill>
                            <a:srgbClr val="262626"/>
                          </a:solidFill>
                          <a:latin typeface="Calibri"/>
                        </a:rPr>
                        <a:t>34</a:t>
                      </a:r>
                    </a:p>
                  </a:txBody>
                  <a:tcPr marL="73152" marR="73152" marT="36576" marB="36576" anchor="ctr">
                    <a:solidFill>
                      <a:srgbClr val="FFFFFF"/>
                    </a:solidFill>
                  </a:tcPr>
                </a:tc>
                <a:tc>
                  <a:txBody>
                    <a:bodyPr/>
                    <a:lstStyle/>
                    <a:p>
                      <a:r>
                        <a:rPr sz="1600" b="0" i="0">
                          <a:solidFill>
                            <a:srgbClr val="262626"/>
                          </a:solidFill>
                          <a:latin typeface="Calibri"/>
                        </a:rPr>
                        <a:t>28</a:t>
                      </a:r>
                    </a:p>
                  </a:txBody>
                  <a:tcPr marL="73152" marR="73152" marT="36576" marB="36576" anchor="ctr">
                    <a:solidFill>
                      <a:srgbClr val="FFFFFF"/>
                    </a:solidFill>
                  </a:tcPr>
                </a:tc>
                <a:extLst>
                  <a:ext uri="{0D108BD9-81ED-4DB2-BD59-A6C34878D82A}">
                    <a16:rowId xmlns:a16="http://schemas.microsoft.com/office/drawing/2014/main" val="10005"/>
                  </a:ext>
                </a:extLst>
              </a:tr>
              <a:tr h="548640">
                <a:tc>
                  <a:txBody>
                    <a:bodyPr/>
                    <a:lstStyle/>
                    <a:p>
                      <a:r>
                        <a:rPr sz="1600" b="1" i="0">
                          <a:solidFill>
                            <a:srgbClr val="002060"/>
                          </a:solidFill>
                          <a:latin typeface="Calibri"/>
                        </a:rPr>
                        <a:t>Total (ms)</a:t>
                      </a:r>
                    </a:p>
                  </a:txBody>
                  <a:tcPr marL="73152" marR="73152" marT="36576" marB="36576" anchor="ctr">
                    <a:solidFill>
                      <a:srgbClr val="F2F2F2"/>
                    </a:solidFill>
                  </a:tcPr>
                </a:tc>
                <a:tc>
                  <a:txBody>
                    <a:bodyPr/>
                    <a:lstStyle/>
                    <a:p>
                      <a:r>
                        <a:rPr sz="1600" b="0" i="0">
                          <a:solidFill>
                            <a:srgbClr val="262626"/>
                          </a:solidFill>
                          <a:latin typeface="Calibri"/>
                        </a:rPr>
                        <a:t>200</a:t>
                      </a:r>
                    </a:p>
                  </a:txBody>
                  <a:tcPr marL="73152" marR="73152" marT="36576" marB="36576" anchor="ctr">
                    <a:solidFill>
                      <a:srgbClr val="F2F2F2"/>
                    </a:solidFill>
                  </a:tcPr>
                </a:tc>
                <a:tc>
                  <a:txBody>
                    <a:bodyPr/>
                    <a:lstStyle/>
                    <a:p>
                      <a:r>
                        <a:rPr sz="1600" b="0" i="0">
                          <a:solidFill>
                            <a:srgbClr val="262626"/>
                          </a:solidFill>
                          <a:latin typeface="Calibri"/>
                        </a:rPr>
                        <a:t>127.5</a:t>
                      </a:r>
                    </a:p>
                  </a:txBody>
                  <a:tcPr marL="73152" marR="73152" marT="36576" marB="36576" anchor="ctr">
                    <a:solidFill>
                      <a:srgbClr val="F2F2F2"/>
                    </a:solidFill>
                  </a:tcPr>
                </a:tc>
                <a:tc>
                  <a:txBody>
                    <a:bodyPr/>
                    <a:lstStyle/>
                    <a:p>
                      <a:r>
                        <a:rPr sz="1600" b="0" i="0">
                          <a:solidFill>
                            <a:srgbClr val="262626"/>
                          </a:solidFill>
                          <a:latin typeface="Calibri"/>
                        </a:rPr>
                        <a:t>60.5</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7863840" y="1234440"/>
            <a:ext cx="3840480" cy="137160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600" b="1" i="0">
                <a:solidFill>
                  <a:srgbClr val="FFFFFF"/>
                </a:solidFill>
                <a:latin typeface="Calibri"/>
              </a:rPr>
              <a:t>200 ms</a:t>
            </a:r>
          </a:p>
          <a:p>
            <a:pPr algn="ctr">
              <a:spcAft>
                <a:spcPts val="0"/>
              </a:spcAft>
            </a:pPr>
            <a:r>
              <a:rPr sz="1400" b="0" i="0">
                <a:solidFill>
                  <a:srgbClr val="FFFFFF"/>
                </a:solidFill>
                <a:latin typeface="Calibri"/>
              </a:rPr>
              <a:t>p95 budget from India</a:t>
            </a:r>
          </a:p>
        </p:txBody>
      </p:sp>
      <p:sp>
        <p:nvSpPr>
          <p:cNvPr id="12" name="Rounded Rectangle 11"/>
          <p:cNvSpPr/>
          <p:nvPr/>
        </p:nvSpPr>
        <p:spPr>
          <a:xfrm>
            <a:off x="7863840" y="2788920"/>
            <a:ext cx="3840480" cy="137160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600" b="1" i="0">
                <a:solidFill>
                  <a:srgbClr val="FFFFFF"/>
                </a:solidFill>
                <a:latin typeface="Calibri"/>
              </a:rPr>
              <a:t>127.5 ms</a:t>
            </a:r>
          </a:p>
          <a:p>
            <a:pPr algn="ctr">
              <a:spcAft>
                <a:spcPts val="0"/>
              </a:spcAft>
            </a:pPr>
            <a:r>
              <a:rPr sz="1400" b="0" i="0">
                <a:solidFill>
                  <a:srgbClr val="FFFFFF"/>
                </a:solidFill>
                <a:latin typeface="Calibri"/>
              </a:rPr>
              <a:t>cold path: nothing cached</a:t>
            </a:r>
          </a:p>
        </p:txBody>
      </p:sp>
      <p:sp>
        <p:nvSpPr>
          <p:cNvPr id="13" name="Rounded Rectangle 12"/>
          <p:cNvSpPr/>
          <p:nvPr/>
        </p:nvSpPr>
        <p:spPr>
          <a:xfrm>
            <a:off x="7863840" y="4343400"/>
            <a:ext cx="3840480" cy="1371600"/>
          </a:xfrm>
          <a:prstGeom prst="roundRect">
            <a:avLst>
              <a:gd name="adj" fmla="val 8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600" b="1" i="0">
                <a:solidFill>
                  <a:srgbClr val="FFFFFF"/>
                </a:solidFill>
                <a:latin typeface="Calibri"/>
              </a:rPr>
              <a:t>60.5 ms</a:t>
            </a:r>
          </a:p>
          <a:p>
            <a:pPr algn="ctr">
              <a:spcAft>
                <a:spcPts val="0"/>
              </a:spcAft>
            </a:pPr>
            <a:r>
              <a:rPr sz="1400" b="0" i="0">
                <a:solidFill>
                  <a:srgbClr val="FFFFFF"/>
                </a:solidFill>
                <a:latin typeface="Calibri"/>
              </a:rPr>
              <a:t>warm path: cache hit, reused connection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1.1</a:t>
            </a:r>
            <a:r>
              <a:rPr sz="2400" b="1" i="0">
                <a:solidFill>
                  <a:srgbClr val="FFFFFF"/>
                </a:solidFill>
                <a:latin typeface="Calibri"/>
              </a:rPr>
              <a:t> Why We Observe the Whole Before the Parts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Habit 1"/>
          <p:cNvSpPr/>
          <p:nvPr/>
        </p:nvSpPr>
        <p:spPr>
          <a:xfrm>
            <a:off x="457200" y="1188720"/>
            <a:ext cx="3611880" cy="1600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0080" y="1353312"/>
            <a:ext cx="457200" cy="45720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1</a:t>
            </a:r>
          </a:p>
        </p:txBody>
      </p:sp>
      <p:sp>
        <p:nvSpPr>
          <p:cNvPr id="12" name="TextBox 11"/>
          <p:cNvSpPr txBox="1"/>
          <p:nvPr/>
        </p:nvSpPr>
        <p:spPr>
          <a:xfrm>
            <a:off x="1188720" y="1298448"/>
            <a:ext cx="2788920" cy="457200"/>
          </a:xfrm>
          <a:prstGeom prst="rect">
            <a:avLst/>
          </a:prstGeom>
          <a:noFill/>
        </p:spPr>
        <p:txBody>
          <a:bodyPr wrap="square" anchor="ctr">
            <a:spAutoFit/>
          </a:bodyPr>
          <a:lstStyle/>
          <a:p>
            <a:pPr algn="l">
              <a:spcAft>
                <a:spcPts val="0"/>
              </a:spcAft>
            </a:pPr>
            <a:r>
              <a:rPr sz="1700" b="1" i="0">
                <a:solidFill>
                  <a:srgbClr val="002060"/>
                </a:solidFill>
                <a:latin typeface="Calibri"/>
              </a:rPr>
              <a:t>Follow the request</a:t>
            </a:r>
          </a:p>
        </p:txBody>
      </p:sp>
      <p:sp>
        <p:nvSpPr>
          <p:cNvPr id="13" name="TextBox 12"/>
          <p:cNvSpPr txBox="1"/>
          <p:nvPr/>
        </p:nvSpPr>
        <p:spPr>
          <a:xfrm>
            <a:off x="640080" y="1828800"/>
            <a:ext cx="3291840" cy="914400"/>
          </a:xfrm>
          <a:prstGeom prst="rect">
            <a:avLst/>
          </a:prstGeom>
          <a:noFill/>
        </p:spPr>
        <p:txBody>
          <a:bodyPr wrap="square" anchor="t">
            <a:spAutoFit/>
          </a:bodyPr>
          <a:lstStyle/>
          <a:p>
            <a:pPr algn="l">
              <a:spcAft>
                <a:spcPts val="0"/>
              </a:spcAft>
            </a:pPr>
            <a:r>
              <a:rPr sz="1500" b="0" i="0">
                <a:solidFill>
                  <a:srgbClr val="262626"/>
                </a:solidFill>
                <a:latin typeface="Calibri"/>
              </a:rPr>
              <a:t>Ask which hop the request was on when time was lost or an error appeared.</a:t>
            </a:r>
          </a:p>
        </p:txBody>
      </p:sp>
      <p:sp>
        <p:nvSpPr>
          <p:cNvPr id="14" name="Habit 2"/>
          <p:cNvSpPr/>
          <p:nvPr/>
        </p:nvSpPr>
        <p:spPr>
          <a:xfrm>
            <a:off x="4279392" y="1188720"/>
            <a:ext cx="3611880" cy="1600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462272" y="1353312"/>
            <a:ext cx="457200" cy="45720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2</a:t>
            </a:r>
          </a:p>
        </p:txBody>
      </p:sp>
      <p:sp>
        <p:nvSpPr>
          <p:cNvPr id="16" name="TextBox 15"/>
          <p:cNvSpPr txBox="1"/>
          <p:nvPr/>
        </p:nvSpPr>
        <p:spPr>
          <a:xfrm>
            <a:off x="5010912" y="1298448"/>
            <a:ext cx="2788920" cy="457200"/>
          </a:xfrm>
          <a:prstGeom prst="rect">
            <a:avLst/>
          </a:prstGeom>
          <a:noFill/>
        </p:spPr>
        <p:txBody>
          <a:bodyPr wrap="square" anchor="ctr">
            <a:spAutoFit/>
          </a:bodyPr>
          <a:lstStyle/>
          <a:p>
            <a:pPr algn="l">
              <a:spcAft>
                <a:spcPts val="0"/>
              </a:spcAft>
            </a:pPr>
            <a:r>
              <a:rPr sz="1700" b="1" i="0">
                <a:solidFill>
                  <a:srgbClr val="002060"/>
                </a:solidFill>
                <a:latin typeface="Calibri"/>
              </a:rPr>
              <a:t>Know each boundary</a:t>
            </a:r>
          </a:p>
        </p:txBody>
      </p:sp>
      <p:sp>
        <p:nvSpPr>
          <p:cNvPr id="17" name="TextBox 16"/>
          <p:cNvSpPr txBox="1"/>
          <p:nvPr/>
        </p:nvSpPr>
        <p:spPr>
          <a:xfrm>
            <a:off x="4462272" y="1828800"/>
            <a:ext cx="3291840" cy="914400"/>
          </a:xfrm>
          <a:prstGeom prst="rect">
            <a:avLst/>
          </a:prstGeom>
          <a:noFill/>
        </p:spPr>
        <p:txBody>
          <a:bodyPr wrap="square" anchor="t">
            <a:spAutoFit/>
          </a:bodyPr>
          <a:lstStyle/>
          <a:p>
            <a:pPr algn="l">
              <a:spcAft>
                <a:spcPts val="0"/>
              </a:spcAft>
            </a:pPr>
            <a:r>
              <a:rPr sz="1500" b="0" i="0">
                <a:solidFill>
                  <a:srgbClr val="262626"/>
                </a:solidFill>
                <a:latin typeface="Calibri"/>
              </a:rPr>
              <a:t>Every box has an owner, a failure mode and a limit.</a:t>
            </a:r>
          </a:p>
        </p:txBody>
      </p:sp>
      <p:sp>
        <p:nvSpPr>
          <p:cNvPr id="18" name="Habit 3"/>
          <p:cNvSpPr/>
          <p:nvPr/>
        </p:nvSpPr>
        <p:spPr>
          <a:xfrm>
            <a:off x="8101583" y="1188720"/>
            <a:ext cx="3611880" cy="1600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84463" y="1353312"/>
            <a:ext cx="457200" cy="45720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3</a:t>
            </a:r>
          </a:p>
        </p:txBody>
      </p:sp>
      <p:sp>
        <p:nvSpPr>
          <p:cNvPr id="20" name="TextBox 19"/>
          <p:cNvSpPr txBox="1"/>
          <p:nvPr/>
        </p:nvSpPr>
        <p:spPr>
          <a:xfrm>
            <a:off x="8833104" y="1298448"/>
            <a:ext cx="2788920" cy="457200"/>
          </a:xfrm>
          <a:prstGeom prst="rect">
            <a:avLst/>
          </a:prstGeom>
          <a:noFill/>
        </p:spPr>
        <p:txBody>
          <a:bodyPr wrap="square" anchor="ctr">
            <a:spAutoFit/>
          </a:bodyPr>
          <a:lstStyle/>
          <a:p>
            <a:pPr algn="l">
              <a:spcAft>
                <a:spcPts val="0"/>
              </a:spcAft>
            </a:pPr>
            <a:r>
              <a:rPr sz="1700" b="1" i="0">
                <a:solidFill>
                  <a:srgbClr val="002060"/>
                </a:solidFill>
                <a:latin typeface="Calibri"/>
              </a:rPr>
              <a:t>Measure before changing</a:t>
            </a:r>
          </a:p>
        </p:txBody>
      </p:sp>
      <p:sp>
        <p:nvSpPr>
          <p:cNvPr id="21" name="TextBox 20"/>
          <p:cNvSpPr txBox="1"/>
          <p:nvPr/>
        </p:nvSpPr>
        <p:spPr>
          <a:xfrm>
            <a:off x="8284463" y="1828800"/>
            <a:ext cx="3291840" cy="914400"/>
          </a:xfrm>
          <a:prstGeom prst="rect">
            <a:avLst/>
          </a:prstGeom>
          <a:noFill/>
        </p:spPr>
        <p:txBody>
          <a:bodyPr wrap="square" anchor="t">
            <a:spAutoFit/>
          </a:bodyPr>
          <a:lstStyle/>
          <a:p>
            <a:pPr algn="l">
              <a:spcAft>
                <a:spcPts val="0"/>
              </a:spcAft>
            </a:pPr>
            <a:r>
              <a:rPr sz="1500" b="0" i="0">
                <a:solidFill>
                  <a:srgbClr val="262626"/>
                </a:solidFill>
                <a:latin typeface="Calibri"/>
              </a:rPr>
              <a:t>Back every claim with a metric or a trace that anyone can reproduce.</a:t>
            </a:r>
          </a:p>
        </p:txBody>
      </p:sp>
      <p:sp>
        <p:nvSpPr>
          <p:cNvPr id="22" name="Code block"/>
          <p:cNvSpPr/>
          <p:nvPr/>
        </p:nvSpPr>
        <p:spPr>
          <a:xfrm>
            <a:off x="457200" y="3063240"/>
            <a:ext cx="7223760" cy="3200400"/>
          </a:xfrm>
          <a:prstGeom prst="rect">
            <a:avLst/>
          </a:prstGeom>
          <a:solidFill>
            <a:srgbClr val="F5F5F5"/>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37160" tIns="91440" bIns="91440" rtlCol="0" anchor="t"/>
          <a:lstStyle/>
          <a:p>
            <a:pPr algn="l">
              <a:spcAft>
                <a:spcPts val="0"/>
              </a:spcAft>
            </a:pPr>
            <a:r>
              <a:rPr sz="1200" b="0" i="0">
                <a:solidFill>
                  <a:srgbClr val="1A1A1A"/>
                </a:solidFill>
                <a:latin typeface="Courier New"/>
              </a:rPr>
              <a:t>$ dig +short bookstash.com</a:t>
            </a:r>
          </a:p>
          <a:p>
            <a:pPr algn="l">
              <a:spcAft>
                <a:spcPts val="0"/>
              </a:spcAft>
            </a:pPr>
            <a:r>
              <a:rPr sz="1200" b="0" i="0">
                <a:solidFill>
                  <a:srgbClr val="1A1A1A"/>
                </a:solidFill>
                <a:latin typeface="Courier New"/>
              </a:rPr>
              <a:t>13.224.163.12</a:t>
            </a:r>
          </a:p>
          <a:p>
            <a:pPr algn="l">
              <a:spcAft>
                <a:spcPts val="0"/>
              </a:spcAft>
            </a:pPr>
            <a:r>
              <a:rPr sz="1200" b="0" i="0">
                <a:solidFill>
                  <a:srgbClr val="1A1A1A"/>
                </a:solidFill>
                <a:latin typeface="Courier New"/>
              </a:rPr>
              <a:t>13.224.163.84</a:t>
            </a:r>
          </a:p>
          <a:p>
            <a:pPr algn="l">
              <a:spcAft>
                <a:spcPts val="0"/>
              </a:spcAft>
            </a:pPr>
            <a:r>
              <a:rPr sz="1200" b="0" i="0">
                <a:solidFill>
                  <a:srgbClr val="1A1A1A"/>
                </a:solidFill>
                <a:latin typeface="Courier New"/>
              </a:rPr>
              <a:t> </a:t>
            </a:r>
          </a:p>
          <a:p>
            <a:pPr algn="l">
              <a:spcAft>
                <a:spcPts val="0"/>
              </a:spcAft>
            </a:pPr>
            <a:r>
              <a:rPr sz="1200" b="0" i="0">
                <a:solidFill>
                  <a:srgbClr val="1A1A1A"/>
                </a:solidFill>
                <a:latin typeface="Courier New"/>
              </a:rPr>
              <a:t>$ curl -sI https://bookstash.com/covers/42.jpg</a:t>
            </a:r>
          </a:p>
          <a:p>
            <a:pPr algn="l">
              <a:spcAft>
                <a:spcPts val="0"/>
              </a:spcAft>
            </a:pPr>
            <a:r>
              <a:rPr sz="1200" b="0" i="0">
                <a:solidFill>
                  <a:srgbClr val="1A1A1A"/>
                </a:solidFill>
                <a:latin typeface="Courier New"/>
              </a:rPr>
              <a:t>cache-control: public, max-age=86400</a:t>
            </a:r>
          </a:p>
          <a:p>
            <a:pPr algn="l">
              <a:spcAft>
                <a:spcPts val="0"/>
              </a:spcAft>
            </a:pPr>
            <a:r>
              <a:rPr sz="1200" b="0" i="0">
                <a:solidFill>
                  <a:srgbClr val="1A1A1A"/>
                </a:solidFill>
                <a:latin typeface="Courier New"/>
              </a:rPr>
              <a:t>age: 5123</a:t>
            </a:r>
          </a:p>
          <a:p>
            <a:pPr algn="l">
              <a:spcAft>
                <a:spcPts val="0"/>
              </a:spcAft>
            </a:pPr>
            <a:r>
              <a:rPr sz="1200" b="0" i="0">
                <a:solidFill>
                  <a:srgbClr val="1A1A1A"/>
                </a:solidFill>
                <a:latin typeface="Courier New"/>
              </a:rPr>
              <a:t>x-cache: Hit from cloudfront</a:t>
            </a:r>
          </a:p>
          <a:p>
            <a:pPr algn="l">
              <a:spcAft>
                <a:spcPts val="0"/>
              </a:spcAft>
            </a:pPr>
            <a:r>
              <a:rPr sz="1200" b="0" i="0">
                <a:solidFill>
                  <a:srgbClr val="1A1A1A"/>
                </a:solidFill>
                <a:latin typeface="Courier New"/>
              </a:rPr>
              <a:t>x-amz-cf-pop: HYD50-P1</a:t>
            </a:r>
          </a:p>
          <a:p>
            <a:pPr algn="l">
              <a:spcAft>
                <a:spcPts val="0"/>
              </a:spcAft>
            </a:pPr>
            <a:r>
              <a:rPr sz="1200" b="0" i="0">
                <a:solidFill>
                  <a:srgbClr val="1A1A1A"/>
                </a:solidFill>
                <a:latin typeface="Courier New"/>
              </a:rPr>
              <a:t> </a:t>
            </a:r>
          </a:p>
          <a:p>
            <a:pPr algn="l">
              <a:spcAft>
                <a:spcPts val="0"/>
              </a:spcAft>
            </a:pPr>
            <a:r>
              <a:rPr sz="1200" b="0" i="0">
                <a:solidFill>
                  <a:srgbClr val="1A1A1A"/>
                </a:solidFill>
                <a:latin typeface="Courier New"/>
              </a:rPr>
              <a:t>$ curl -s https://bookstash.com/api/books/42 -D -</a:t>
            </a:r>
          </a:p>
          <a:p>
            <a:pPr algn="l">
              <a:spcAft>
                <a:spcPts val="0"/>
              </a:spcAft>
            </a:pPr>
            <a:r>
              <a:rPr sz="1200" b="0" i="0">
                <a:solidFill>
                  <a:srgbClr val="1A1A1A"/>
                </a:solidFill>
                <a:latin typeface="Courier New"/>
              </a:rPr>
              <a:t>x-cache: Miss from cloudfront</a:t>
            </a:r>
          </a:p>
          <a:p>
            <a:pPr algn="l">
              <a:spcAft>
                <a:spcPts val="0"/>
              </a:spcAft>
            </a:pPr>
            <a:r>
              <a:rPr sz="1200" b="0" i="0">
                <a:solidFill>
                  <a:srgbClr val="1A1A1A"/>
                </a:solidFill>
                <a:latin typeface="Courier New"/>
              </a:rPr>
              <a:t>x-amzn-trace-id: Root=1-6740d8f2-3b9c...</a:t>
            </a:r>
          </a:p>
        </p:txBody>
      </p:sp>
      <p:sp>
        <p:nvSpPr>
          <p:cNvPr id="23" name="TextBox 22"/>
          <p:cNvSpPr txBox="1"/>
          <p:nvPr/>
        </p:nvSpPr>
        <p:spPr>
          <a:xfrm>
            <a:off x="7909560" y="3063240"/>
            <a:ext cx="3840480" cy="3200400"/>
          </a:xfrm>
          <a:prstGeom prst="rect">
            <a:avLst/>
          </a:prstGeom>
          <a:noFill/>
        </p:spPr>
        <p:txBody>
          <a:bodyPr wrap="square" anchor="t">
            <a:spAutoFit/>
          </a:bodyPr>
          <a:lstStyle/>
          <a:p>
            <a:pPr marL="228600" indent="-228600" algn="l">
              <a:spcAft>
                <a:spcPts val="800"/>
              </a:spcAft>
              <a:buClr>
                <a:srgbClr val="E97132"/>
              </a:buClr>
              <a:buFont typeface="Arial"/>
              <a:buChar char="•"/>
            </a:pPr>
            <a:r>
              <a:rPr sz="1500" b="0" i="0">
                <a:solidFill>
                  <a:srgbClr val="262626"/>
                </a:solidFill>
                <a:latin typeface="Calibri"/>
              </a:rPr>
              <a:t>Addresses belong to CloudFront, not to our servers</a:t>
            </a:r>
          </a:p>
          <a:p>
            <a:pPr marL="228600" indent="-228600" algn="l">
              <a:spcAft>
                <a:spcPts val="800"/>
              </a:spcAft>
              <a:buClr>
                <a:srgbClr val="E97132"/>
              </a:buClr>
              <a:buFont typeface="Arial"/>
              <a:buChar char="•"/>
            </a:pPr>
            <a:r>
              <a:rPr sz="1500" b="0" i="0">
                <a:solidFill>
                  <a:srgbClr val="262626"/>
                </a:solidFill>
                <a:latin typeface="Calibri"/>
              </a:rPr>
              <a:t>Cover served from the Hyderabad edge cache, cached for 5,123 s so far</a:t>
            </a:r>
          </a:p>
          <a:p>
            <a:pPr marL="228600" indent="-228600" algn="l">
              <a:spcAft>
                <a:spcPts val="800"/>
              </a:spcAft>
              <a:buClr>
                <a:srgbClr val="E97132"/>
              </a:buClr>
              <a:buFont typeface="Arial"/>
              <a:buChar char="•"/>
            </a:pPr>
            <a:r>
              <a:rPr sz="1500" b="0" i="0">
                <a:solidFill>
                  <a:srgbClr val="262626"/>
                </a:solidFill>
                <a:latin typeface="Calibri"/>
              </a:rPr>
              <a:t>API call missed the edge and reached the origin</a:t>
            </a:r>
          </a:p>
          <a:p>
            <a:pPr marL="228600" indent="-228600" algn="l">
              <a:spcAft>
                <a:spcPts val="0"/>
              </a:spcAft>
              <a:buClr>
                <a:srgbClr val="E97132"/>
              </a:buClr>
              <a:buFont typeface="Arial"/>
              <a:buChar char="•"/>
            </a:pPr>
            <a:r>
              <a:rPr sz="1500" b="0" i="0">
                <a:solidFill>
                  <a:srgbClr val="262626"/>
                </a:solidFill>
                <a:latin typeface="Calibri"/>
              </a:rPr>
              <a:t>Trace ID lets us find this exact request in X-Ray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1.2</a:t>
            </a:r>
            <a:r>
              <a:rPr sz="2400" b="1" i="0">
                <a:solidFill>
                  <a:srgbClr val="FFFFFF"/>
                </a:solidFill>
                <a:latin typeface="Calibri"/>
              </a:rPr>
              <a:t> Canonical Cloud-Native Architecture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3.png"/>
          <p:cNvPicPr>
            <a:picLocks noChangeAspect="1"/>
          </p:cNvPicPr>
          <p:nvPr/>
        </p:nvPicPr>
        <p:blipFill>
          <a:blip r:embed="rId4"/>
          <a:stretch>
            <a:fillRect/>
          </a:stretch>
        </p:blipFill>
        <p:spPr>
          <a:xfrm>
            <a:off x="457200" y="1097280"/>
            <a:ext cx="6358596" cy="5166360"/>
          </a:xfrm>
          <a:prstGeom prst="rect">
            <a:avLst/>
          </a:prstGeom>
          <a:ln w="9525">
            <a:solidFill>
              <a:srgbClr val="D9D9D9"/>
            </a:solidFill>
          </a:ln>
        </p:spPr>
      </p:pic>
      <p:sp>
        <p:nvSpPr>
          <p:cNvPr id="11" name="Working definition: cloud-native body"/>
          <p:cNvSpPr/>
          <p:nvPr/>
        </p:nvSpPr>
        <p:spPr>
          <a:xfrm>
            <a:off x="7086600" y="1188720"/>
            <a:ext cx="4645152" cy="3657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Working definition: cloud-native head"/>
          <p:cNvSpPr/>
          <p:nvPr/>
        </p:nvSpPr>
        <p:spPr>
          <a:xfrm>
            <a:off x="7086600" y="1188720"/>
            <a:ext cx="4645152"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700" b="1" i="0">
                <a:solidFill>
                  <a:srgbClr val="FFFFFF"/>
                </a:solidFill>
                <a:latin typeface="Calibri"/>
              </a:rPr>
              <a:t>Working definition: cloud-native</a:t>
            </a:r>
          </a:p>
        </p:txBody>
      </p:sp>
      <p:sp>
        <p:nvSpPr>
          <p:cNvPr id="13" name="TextBox 12"/>
          <p:cNvSpPr txBox="1"/>
          <p:nvPr/>
        </p:nvSpPr>
        <p:spPr>
          <a:xfrm>
            <a:off x="7132320" y="1691640"/>
            <a:ext cx="4553712" cy="3108960"/>
          </a:xfrm>
          <a:prstGeom prst="rect">
            <a:avLst/>
          </a:prstGeom>
          <a:noFill/>
        </p:spPr>
        <p:txBody>
          <a:bodyPr wrap="square" anchor="t">
            <a:spAutoFit/>
          </a:bodyPr>
          <a:lstStyle/>
          <a:p>
            <a:pPr marL="228600" indent="-228600" algn="l">
              <a:spcAft>
                <a:spcPts val="400"/>
              </a:spcAft>
              <a:buClr>
                <a:srgbClr val="E97132"/>
              </a:buClr>
              <a:buFont typeface="Arial"/>
              <a:buChar char="•"/>
            </a:pPr>
            <a:r>
              <a:rPr sz="1600" b="0" i="0">
                <a:solidFill>
                  <a:srgbClr val="262626"/>
                </a:solidFill>
                <a:latin typeface="Calibri"/>
              </a:rPr>
              <a:t>Stateless processes that can be replaced at any time</a:t>
            </a:r>
          </a:p>
          <a:p>
            <a:pPr marL="228600" indent="-228600" algn="l">
              <a:spcAft>
                <a:spcPts val="400"/>
              </a:spcAft>
              <a:buClr>
                <a:srgbClr val="E97132"/>
              </a:buClr>
              <a:buFont typeface="Arial"/>
              <a:buChar char="•"/>
            </a:pPr>
            <a:r>
              <a:rPr sz="1600" b="0" i="0">
                <a:solidFill>
                  <a:srgbClr val="262626"/>
                </a:solidFill>
                <a:latin typeface="Calibri"/>
              </a:rPr>
              <a:t>Durable state in managed data services, not local disks</a:t>
            </a:r>
          </a:p>
          <a:p>
            <a:pPr marL="228600" indent="-228600" algn="l">
              <a:spcAft>
                <a:spcPts val="400"/>
              </a:spcAft>
              <a:buClr>
                <a:srgbClr val="E97132"/>
              </a:buClr>
              <a:buFont typeface="Arial"/>
              <a:buChar char="•"/>
            </a:pPr>
            <a:r>
              <a:rPr sz="1600" b="0" i="0">
                <a:solidFill>
                  <a:srgbClr val="262626"/>
                </a:solidFill>
                <a:latin typeface="Calibri"/>
              </a:rPr>
              <a:t>Deployed and scaled through declarative configuration</a:t>
            </a:r>
          </a:p>
          <a:p>
            <a:pPr marL="228600" indent="-228600" algn="l">
              <a:spcAft>
                <a:spcPts val="400"/>
              </a:spcAft>
              <a:buClr>
                <a:srgbClr val="E97132"/>
              </a:buClr>
              <a:buFont typeface="Arial"/>
              <a:buChar char="•"/>
            </a:pPr>
            <a:r>
              <a:rPr sz="1600" b="0" i="0">
                <a:solidFill>
                  <a:srgbClr val="262626"/>
                </a:solidFill>
                <a:latin typeface="Calibri"/>
              </a:rPr>
              <a:t>Metrics, logs and traces built in, so nobody logs in to a machine</a:t>
            </a:r>
          </a:p>
        </p:txBody>
      </p:sp>
      <p:sp>
        <p:nvSpPr>
          <p:cNvPr id="14" name="BookStash check"/>
          <p:cNvSpPr/>
          <p:nvPr/>
        </p:nvSpPr>
        <p:spPr>
          <a:xfrm>
            <a:off x="7086600" y="5029200"/>
            <a:ext cx="4645152" cy="1188720"/>
          </a:xfrm>
          <a:prstGeom prst="roundRect">
            <a:avLst>
              <a:gd name="adj" fmla="val 10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0" i="0">
                <a:solidFill>
                  <a:srgbClr val="262626"/>
                </a:solidFill>
                <a:latin typeface="Calibri"/>
              </a:rPr>
              <a:t>BookStash meets all four: stateless tasks, data in RDS, ElastiCache and SQS, templates, and CloudWatch plus X-Ray.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1.2</a:t>
            </a:r>
            <a:r>
              <a:rPr sz="2400" b="1" i="0">
                <a:solidFill>
                  <a:srgbClr val="FFFFFF"/>
                </a:solidFill>
                <a:latin typeface="Calibri"/>
              </a:rPr>
              <a:t> DNS with Amazon Route 53</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4.png"/>
          <p:cNvPicPr>
            <a:picLocks noChangeAspect="1"/>
          </p:cNvPicPr>
          <p:nvPr/>
        </p:nvPicPr>
        <p:blipFill>
          <a:blip r:embed="rId4"/>
          <a:stretch>
            <a:fillRect/>
          </a:stretch>
        </p:blipFill>
        <p:spPr>
          <a:xfrm>
            <a:off x="457200" y="1143000"/>
            <a:ext cx="6675120" cy="3546157"/>
          </a:xfrm>
          <a:prstGeom prst="rect">
            <a:avLst/>
          </a:prstGeom>
          <a:ln w="9525">
            <a:solidFill>
              <a:srgbClr val="D9D9D9"/>
            </a:solidFill>
          </a:ln>
        </p:spPr>
      </p:pic>
      <p:sp>
        <p:nvSpPr>
          <p:cNvPr id="11" name="Authoritative server body"/>
          <p:cNvSpPr/>
          <p:nvPr/>
        </p:nvSpPr>
        <p:spPr>
          <a:xfrm>
            <a:off x="7452360" y="1143000"/>
            <a:ext cx="4279392" cy="109728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uthoritative server head"/>
          <p:cNvSpPr/>
          <p:nvPr/>
        </p:nvSpPr>
        <p:spPr>
          <a:xfrm>
            <a:off x="7452360" y="1143000"/>
            <a:ext cx="4279392"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Authoritative server</a:t>
            </a:r>
          </a:p>
        </p:txBody>
      </p:sp>
      <p:sp>
        <p:nvSpPr>
          <p:cNvPr id="13" name="TextBox 12"/>
          <p:cNvSpPr txBox="1"/>
          <p:nvPr/>
        </p:nvSpPr>
        <p:spPr>
          <a:xfrm>
            <a:off x="7498080" y="1572768"/>
            <a:ext cx="4187952" cy="621792"/>
          </a:xfrm>
          <a:prstGeom prst="rect">
            <a:avLst/>
          </a:prstGeom>
          <a:noFill/>
        </p:spPr>
        <p:txBody>
          <a:bodyPr wrap="square" anchor="t">
            <a:spAutoFit/>
          </a:bodyPr>
          <a:lstStyle/>
          <a:p>
            <a:pPr algn="l">
              <a:spcAft>
                <a:spcPts val="0"/>
              </a:spcAft>
            </a:pPr>
            <a:r>
              <a:rPr sz="1400" b="0" i="0">
                <a:solidFill>
                  <a:srgbClr val="262626"/>
                </a:solidFill>
                <a:latin typeface="Calibri"/>
              </a:rPr>
              <a:t>Holds the definitive records for the bookstash.com hosted zone</a:t>
            </a:r>
          </a:p>
        </p:txBody>
      </p:sp>
      <p:sp>
        <p:nvSpPr>
          <p:cNvPr id="14" name="Alias records body"/>
          <p:cNvSpPr/>
          <p:nvPr/>
        </p:nvSpPr>
        <p:spPr>
          <a:xfrm>
            <a:off x="7452360" y="2350008"/>
            <a:ext cx="4279392" cy="109728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lias records head"/>
          <p:cNvSpPr/>
          <p:nvPr/>
        </p:nvSpPr>
        <p:spPr>
          <a:xfrm>
            <a:off x="7452360" y="2350008"/>
            <a:ext cx="4279392"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Alias records</a:t>
            </a:r>
          </a:p>
        </p:txBody>
      </p:sp>
      <p:sp>
        <p:nvSpPr>
          <p:cNvPr id="16" name="TextBox 15"/>
          <p:cNvSpPr txBox="1"/>
          <p:nvPr/>
        </p:nvSpPr>
        <p:spPr>
          <a:xfrm>
            <a:off x="7498080" y="2779776"/>
            <a:ext cx="4187952" cy="621792"/>
          </a:xfrm>
          <a:prstGeom prst="rect">
            <a:avLst/>
          </a:prstGeom>
          <a:noFill/>
        </p:spPr>
        <p:txBody>
          <a:bodyPr wrap="square" anchor="t">
            <a:spAutoFit/>
          </a:bodyPr>
          <a:lstStyle/>
          <a:p>
            <a:pPr algn="l">
              <a:spcAft>
                <a:spcPts val="0"/>
              </a:spcAft>
            </a:pPr>
            <a:r>
              <a:rPr sz="1400" b="0" i="0">
                <a:solidFill>
                  <a:srgbClr val="262626"/>
                </a:solidFill>
                <a:latin typeface="Calibri"/>
              </a:rPr>
              <a:t>Point the apex name straight at CloudFront; no charge for these queries</a:t>
            </a:r>
          </a:p>
        </p:txBody>
      </p:sp>
      <p:sp>
        <p:nvSpPr>
          <p:cNvPr id="17" name="Health checks body"/>
          <p:cNvSpPr/>
          <p:nvPr/>
        </p:nvSpPr>
        <p:spPr>
          <a:xfrm>
            <a:off x="7452360" y="3557016"/>
            <a:ext cx="4279392" cy="109728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ealth checks head"/>
          <p:cNvSpPr/>
          <p:nvPr/>
        </p:nvSpPr>
        <p:spPr>
          <a:xfrm>
            <a:off x="7452360" y="3557016"/>
            <a:ext cx="4279392"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Health checks</a:t>
            </a:r>
          </a:p>
        </p:txBody>
      </p:sp>
      <p:sp>
        <p:nvSpPr>
          <p:cNvPr id="19" name="TextBox 18"/>
          <p:cNvSpPr txBox="1"/>
          <p:nvPr/>
        </p:nvSpPr>
        <p:spPr>
          <a:xfrm>
            <a:off x="7498080" y="3986784"/>
            <a:ext cx="4187952" cy="621792"/>
          </a:xfrm>
          <a:prstGeom prst="rect">
            <a:avLst/>
          </a:prstGeom>
          <a:noFill/>
        </p:spPr>
        <p:txBody>
          <a:bodyPr wrap="square" anchor="t">
            <a:spAutoFit/>
          </a:bodyPr>
          <a:lstStyle/>
          <a:p>
            <a:pPr algn="l">
              <a:spcAft>
                <a:spcPts val="0"/>
              </a:spcAft>
            </a:pPr>
            <a:r>
              <a:rPr sz="1400" b="0" i="0">
                <a:solidFill>
                  <a:srgbClr val="262626"/>
                </a:solidFill>
                <a:latin typeface="Calibri"/>
              </a:rPr>
              <a:t>Change answers based on health, latency, location or weight</a:t>
            </a:r>
          </a:p>
        </p:txBody>
      </p:sp>
      <p:sp>
        <p:nvSpPr>
          <p:cNvPr id="20" name="TextBox 19"/>
          <p:cNvSpPr txBox="1"/>
          <p:nvPr/>
        </p:nvSpPr>
        <p:spPr>
          <a:xfrm>
            <a:off x="457200" y="4846320"/>
            <a:ext cx="6675120" cy="365760"/>
          </a:xfrm>
          <a:prstGeom prst="rect">
            <a:avLst/>
          </a:prstGeom>
          <a:noFill/>
        </p:spPr>
        <p:txBody>
          <a:bodyPr wrap="square" anchor="t">
            <a:spAutoFit/>
          </a:bodyPr>
          <a:lstStyle/>
          <a:p>
            <a:pPr algn="l">
              <a:spcAft>
                <a:spcPts val="0"/>
              </a:spcAft>
            </a:pPr>
            <a:r>
              <a:rPr sz="1600" b="1" i="0">
                <a:solidFill>
                  <a:srgbClr val="002060"/>
                </a:solidFill>
                <a:latin typeface="Calibri"/>
              </a:rPr>
              <a:t>Routing policies</a:t>
            </a:r>
          </a:p>
        </p:txBody>
      </p:sp>
      <p:sp>
        <p:nvSpPr>
          <p:cNvPr id="21" name="Policy Simple"/>
          <p:cNvSpPr/>
          <p:nvPr/>
        </p:nvSpPr>
        <p:spPr>
          <a:xfrm>
            <a:off x="457200" y="5257800"/>
            <a:ext cx="1572768" cy="438912"/>
          </a:xfrm>
          <a:prstGeom prst="roundRect">
            <a:avLst>
              <a:gd name="adj" fmla="val 3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FFFFFF"/>
                </a:solidFill>
                <a:latin typeface="Calibri"/>
              </a:rPr>
              <a:t>Simple</a:t>
            </a:r>
          </a:p>
        </p:txBody>
      </p:sp>
      <p:sp>
        <p:nvSpPr>
          <p:cNvPr id="22" name="Policy Weighted"/>
          <p:cNvSpPr/>
          <p:nvPr/>
        </p:nvSpPr>
        <p:spPr>
          <a:xfrm>
            <a:off x="2148840" y="5257800"/>
            <a:ext cx="1572768" cy="438912"/>
          </a:xfrm>
          <a:prstGeom prst="roundRect">
            <a:avLst>
              <a:gd name="adj" fmla="val 3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002060"/>
                </a:solidFill>
                <a:latin typeface="Calibri"/>
              </a:rPr>
              <a:t>Weighted</a:t>
            </a:r>
          </a:p>
        </p:txBody>
      </p:sp>
      <p:sp>
        <p:nvSpPr>
          <p:cNvPr id="23" name="Policy Latency"/>
          <p:cNvSpPr/>
          <p:nvPr/>
        </p:nvSpPr>
        <p:spPr>
          <a:xfrm>
            <a:off x="3840480" y="5257800"/>
            <a:ext cx="1572768" cy="438912"/>
          </a:xfrm>
          <a:prstGeom prst="roundRect">
            <a:avLst>
              <a:gd name="adj" fmla="val 3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002060"/>
                </a:solidFill>
                <a:latin typeface="Calibri"/>
              </a:rPr>
              <a:t>Latency</a:t>
            </a:r>
          </a:p>
        </p:txBody>
      </p:sp>
      <p:sp>
        <p:nvSpPr>
          <p:cNvPr id="24" name="Policy Failover"/>
          <p:cNvSpPr/>
          <p:nvPr/>
        </p:nvSpPr>
        <p:spPr>
          <a:xfrm>
            <a:off x="5532120" y="5257800"/>
            <a:ext cx="1572768" cy="438912"/>
          </a:xfrm>
          <a:prstGeom prst="roundRect">
            <a:avLst>
              <a:gd name="adj" fmla="val 3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002060"/>
                </a:solidFill>
                <a:latin typeface="Calibri"/>
              </a:rPr>
              <a:t>Failover</a:t>
            </a:r>
          </a:p>
        </p:txBody>
      </p:sp>
      <p:sp>
        <p:nvSpPr>
          <p:cNvPr id="25" name="Policy Geolocation"/>
          <p:cNvSpPr/>
          <p:nvPr/>
        </p:nvSpPr>
        <p:spPr>
          <a:xfrm>
            <a:off x="457200" y="5788152"/>
            <a:ext cx="1572768" cy="438912"/>
          </a:xfrm>
          <a:prstGeom prst="roundRect">
            <a:avLst>
              <a:gd name="adj" fmla="val 3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002060"/>
                </a:solidFill>
                <a:latin typeface="Calibri"/>
              </a:rPr>
              <a:t>Geolocation</a:t>
            </a:r>
          </a:p>
        </p:txBody>
      </p:sp>
      <p:sp>
        <p:nvSpPr>
          <p:cNvPr id="26" name="Policy Multivalue"/>
          <p:cNvSpPr/>
          <p:nvPr/>
        </p:nvSpPr>
        <p:spPr>
          <a:xfrm>
            <a:off x="2148840" y="5788152"/>
            <a:ext cx="1572768" cy="438912"/>
          </a:xfrm>
          <a:prstGeom prst="roundRect">
            <a:avLst>
              <a:gd name="adj" fmla="val 3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002060"/>
                </a:solidFill>
                <a:latin typeface="Calibri"/>
              </a:rPr>
              <a:t>Multivalue</a:t>
            </a:r>
          </a:p>
        </p:txBody>
      </p:sp>
      <p:sp>
        <p:nvSpPr>
          <p:cNvPr id="27" name="Policy IP-based"/>
          <p:cNvSpPr/>
          <p:nvPr/>
        </p:nvSpPr>
        <p:spPr>
          <a:xfrm>
            <a:off x="3840480" y="5788152"/>
            <a:ext cx="1572768" cy="438912"/>
          </a:xfrm>
          <a:prstGeom prst="roundRect">
            <a:avLst>
              <a:gd name="adj" fmla="val 3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Aft>
                <a:spcPts val="0"/>
              </a:spcAft>
            </a:pPr>
            <a:r>
              <a:rPr sz="1400" b="1" i="0">
                <a:solidFill>
                  <a:srgbClr val="002060"/>
                </a:solidFill>
                <a:latin typeface="Calibri"/>
              </a:rPr>
              <a:t>IP-based</a:t>
            </a:r>
          </a:p>
        </p:txBody>
      </p:sp>
      <p:sp>
        <p:nvSpPr>
          <p:cNvPr id="28" name="TTL tip"/>
          <p:cNvSpPr/>
          <p:nvPr/>
        </p:nvSpPr>
        <p:spPr>
          <a:xfrm>
            <a:off x="7452360" y="4846320"/>
            <a:ext cx="4279392" cy="1417320"/>
          </a:xfrm>
          <a:prstGeom prst="roundRect">
            <a:avLst>
              <a:gd name="adj" fmla="val 8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E97132"/>
                </a:solidFill>
                <a:latin typeface="Calibri"/>
              </a:rPr>
              <a:t>TTL tip: </a:t>
            </a:r>
            <a:r>
              <a:rPr sz="1500" b="0" i="0">
                <a:solidFill>
                  <a:srgbClr val="262626"/>
                </a:solidFill>
                <a:latin typeface="Calibri"/>
              </a:rPr>
              <a:t>lower the TTL to 60 s a day before a planned change, switch, confirm, then raise it again.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1.2</a:t>
            </a:r>
            <a:r>
              <a:rPr sz="2400" b="1" i="0">
                <a:solidFill>
                  <a:srgbClr val="FFFFFF"/>
                </a:solidFill>
                <a:latin typeface="Calibri"/>
              </a:rPr>
              <a:t> Content Delivery with Amazon CloudFront</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5.png"/>
          <p:cNvPicPr>
            <a:picLocks noChangeAspect="1"/>
          </p:cNvPicPr>
          <p:nvPr/>
        </p:nvPicPr>
        <p:blipFill>
          <a:blip r:embed="rId4"/>
          <a:stretch>
            <a:fillRect/>
          </a:stretch>
        </p:blipFill>
        <p:spPr>
          <a:xfrm>
            <a:off x="457200" y="1143000"/>
            <a:ext cx="6309360" cy="3253263"/>
          </a:xfrm>
          <a:prstGeom prst="rect">
            <a:avLst/>
          </a:prstGeom>
          <a:ln w="9525">
            <a:solidFill>
              <a:srgbClr val="D9D9D9"/>
            </a:solidFill>
          </a:ln>
        </p:spPr>
      </p:pic>
      <p:graphicFrame>
        <p:nvGraphicFramePr>
          <p:cNvPr id="11" name="Table 10"/>
          <p:cNvGraphicFramePr>
            <a:graphicFrameLocks noGrp="1"/>
          </p:cNvGraphicFramePr>
          <p:nvPr/>
        </p:nvGraphicFramePr>
        <p:xfrm>
          <a:off x="6995160" y="1143000"/>
          <a:ext cx="4736592" cy="2743200"/>
        </p:xfrm>
        <a:graphic>
          <a:graphicData uri="http://schemas.openxmlformats.org/drawingml/2006/table">
            <a:tbl>
              <a:tblPr firstRow="1">
                <a:tableStyleId>{5940675A-B579-460E-94D1-54222C63F5DA}</a:tableStyleId>
              </a:tblPr>
              <a:tblGrid>
                <a:gridCol w="16002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2267712">
                  <a:extLst>
                    <a:ext uri="{9D8B030D-6E8A-4147-A177-3AD203B41FA5}">
                      <a16:colId xmlns:a16="http://schemas.microsoft.com/office/drawing/2014/main" val="20002"/>
                    </a:ext>
                  </a:extLst>
                </a:gridCol>
              </a:tblGrid>
              <a:tr h="457200">
                <a:tc>
                  <a:txBody>
                    <a:bodyPr/>
                    <a:lstStyle/>
                    <a:p>
                      <a:r>
                        <a:rPr sz="1400" b="1" i="0">
                          <a:solidFill>
                            <a:srgbClr val="FFFFFF"/>
                          </a:solidFill>
                          <a:latin typeface="Calibri"/>
                        </a:rPr>
                        <a:t>Path</a:t>
                      </a:r>
                    </a:p>
                  </a:txBody>
                  <a:tcPr marL="73152" marR="73152" marT="36576" marB="36576" anchor="ctr">
                    <a:solidFill>
                      <a:srgbClr val="156082"/>
                    </a:solidFill>
                  </a:tcPr>
                </a:tc>
                <a:tc>
                  <a:txBody>
                    <a:bodyPr/>
                    <a:lstStyle/>
                    <a:p>
                      <a:r>
                        <a:rPr sz="1400" b="1" i="0">
                          <a:solidFill>
                            <a:srgbClr val="FFFFFF"/>
                          </a:solidFill>
                          <a:latin typeface="Calibri"/>
                        </a:rPr>
                        <a:t>TTL</a:t>
                      </a:r>
                    </a:p>
                  </a:txBody>
                  <a:tcPr marL="73152" marR="73152" marT="36576" marB="36576" anchor="ctr">
                    <a:solidFill>
                      <a:srgbClr val="156082"/>
                    </a:solidFill>
                  </a:tcPr>
                </a:tc>
                <a:tc>
                  <a:txBody>
                    <a:bodyPr/>
                    <a:lstStyle/>
                    <a:p>
                      <a:r>
                        <a:rPr sz="1400" b="1" i="0">
                          <a:solidFill>
                            <a:srgbClr val="FFFFFF"/>
                          </a:solidFill>
                          <a:latin typeface="Calibri"/>
                        </a:rPr>
                        <a:t>Notes</a:t>
                      </a:r>
                    </a:p>
                  </a:txBody>
                  <a:tcPr marL="73152" marR="73152" marT="36576" marB="36576" anchor="ctr">
                    <a:solidFill>
                      <a:srgbClr val="156082"/>
                    </a:solidFill>
                  </a:tcPr>
                </a:tc>
                <a:extLst>
                  <a:ext uri="{0D108BD9-81ED-4DB2-BD59-A6C34878D82A}">
                    <a16:rowId xmlns:a16="http://schemas.microsoft.com/office/drawing/2014/main" val="10000"/>
                  </a:ext>
                </a:extLst>
              </a:tr>
              <a:tr h="457200">
                <a:tc>
                  <a:txBody>
                    <a:bodyPr/>
                    <a:lstStyle/>
                    <a:p>
                      <a:r>
                        <a:rPr sz="1400" b="1" i="0">
                          <a:solidFill>
                            <a:srgbClr val="002060"/>
                          </a:solidFill>
                          <a:latin typeface="Calibri"/>
                        </a:rPr>
                        <a:t>/covers/*</a:t>
                      </a:r>
                    </a:p>
                  </a:txBody>
                  <a:tcPr marL="73152" marR="73152" marT="36576" marB="36576" anchor="ctr">
                    <a:solidFill>
                      <a:srgbClr val="FFFFFF"/>
                    </a:solidFill>
                  </a:tcPr>
                </a:tc>
                <a:tc>
                  <a:txBody>
                    <a:bodyPr/>
                    <a:lstStyle/>
                    <a:p>
                      <a:r>
                        <a:rPr sz="1400" b="0" i="0">
                          <a:solidFill>
                            <a:srgbClr val="262626"/>
                          </a:solidFill>
                          <a:latin typeface="Calibri"/>
                        </a:rPr>
                        <a:t>1 day</a:t>
                      </a:r>
                    </a:p>
                  </a:txBody>
                  <a:tcPr marL="73152" marR="73152" marT="36576" marB="36576" anchor="ctr">
                    <a:solidFill>
                      <a:srgbClr val="FFFFFF"/>
                    </a:solidFill>
                  </a:tcPr>
                </a:tc>
                <a:tc>
                  <a:txBody>
                    <a:bodyPr/>
                    <a:lstStyle/>
                    <a:p>
                      <a:r>
                        <a:rPr sz="1400" b="0" i="0">
                          <a:solidFill>
                            <a:srgbClr val="262626"/>
                          </a:solidFill>
                          <a:latin typeface="Calibri"/>
                        </a:rPr>
                        <a:t>Never changes per ID</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400" b="1" i="0">
                          <a:solidFill>
                            <a:srgbClr val="002060"/>
                          </a:solidFill>
                          <a:latin typeface="Calibri"/>
                        </a:rPr>
                        <a:t>/static/*</a:t>
                      </a:r>
                    </a:p>
                  </a:txBody>
                  <a:tcPr marL="73152" marR="73152" marT="36576" marB="36576" anchor="ctr">
                    <a:solidFill>
                      <a:srgbClr val="F2F2F2"/>
                    </a:solidFill>
                  </a:tcPr>
                </a:tc>
                <a:tc>
                  <a:txBody>
                    <a:bodyPr/>
                    <a:lstStyle/>
                    <a:p>
                      <a:r>
                        <a:rPr sz="1400" b="0" i="0">
                          <a:solidFill>
                            <a:srgbClr val="262626"/>
                          </a:solidFill>
                          <a:latin typeface="Calibri"/>
                        </a:rPr>
                        <a:t>1 year</a:t>
                      </a:r>
                    </a:p>
                  </a:txBody>
                  <a:tcPr marL="73152" marR="73152" marT="36576" marB="36576" anchor="ctr">
                    <a:solidFill>
                      <a:srgbClr val="F2F2F2"/>
                    </a:solidFill>
                  </a:tcPr>
                </a:tc>
                <a:tc>
                  <a:txBody>
                    <a:bodyPr/>
                    <a:lstStyle/>
                    <a:p>
                      <a:r>
                        <a:rPr sz="1400" b="0" i="0">
                          <a:solidFill>
                            <a:srgbClr val="262626"/>
                          </a:solidFill>
                          <a:latin typeface="Calibri"/>
                        </a:rPr>
                        <a:t>Hashed bundle names</a:t>
                      </a:r>
                    </a:p>
                  </a:txBody>
                  <a:tcPr marL="73152" marR="73152" marT="36576" marB="36576" anchor="ctr">
                    <a:solidFill>
                      <a:srgbClr val="F2F2F2"/>
                    </a:solidFill>
                  </a:tcPr>
                </a:tc>
                <a:extLst>
                  <a:ext uri="{0D108BD9-81ED-4DB2-BD59-A6C34878D82A}">
                    <a16:rowId xmlns:a16="http://schemas.microsoft.com/office/drawing/2014/main" val="10002"/>
                  </a:ext>
                </a:extLst>
              </a:tr>
              <a:tr h="457200">
                <a:tc>
                  <a:txBody>
                    <a:bodyPr/>
                    <a:lstStyle/>
                    <a:p>
                      <a:r>
                        <a:rPr sz="1400" b="1" i="0">
                          <a:solidFill>
                            <a:srgbClr val="002060"/>
                          </a:solidFill>
                          <a:latin typeface="Calibri"/>
                        </a:rPr>
                        <a:t>/api/books/*</a:t>
                      </a:r>
                    </a:p>
                  </a:txBody>
                  <a:tcPr marL="73152" marR="73152" marT="36576" marB="36576" anchor="ctr">
                    <a:solidFill>
                      <a:srgbClr val="FFFFFF"/>
                    </a:solidFill>
                  </a:tcPr>
                </a:tc>
                <a:tc>
                  <a:txBody>
                    <a:bodyPr/>
                    <a:lstStyle/>
                    <a:p>
                      <a:r>
                        <a:rPr sz="1400" b="0" i="0">
                          <a:solidFill>
                            <a:srgbClr val="262626"/>
                          </a:solidFill>
                          <a:latin typeface="Calibri"/>
                        </a:rPr>
                        <a:t>60 s</a:t>
                      </a:r>
                    </a:p>
                  </a:txBody>
                  <a:tcPr marL="73152" marR="73152" marT="36576" marB="36576" anchor="ctr">
                    <a:solidFill>
                      <a:srgbClr val="FFFFFF"/>
                    </a:solidFill>
                  </a:tcPr>
                </a:tc>
                <a:tc>
                  <a:txBody>
                    <a:bodyPr/>
                    <a:lstStyle/>
                    <a:p>
                      <a:r>
                        <a:rPr sz="1400" b="0" i="0">
                          <a:solidFill>
                            <a:srgbClr val="262626"/>
                          </a:solidFill>
                          <a:latin typeface="Calibri"/>
                        </a:rPr>
                        <a:t>Stock changes show fast</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400" b="1" i="0">
                          <a:solidFill>
                            <a:srgbClr val="002060"/>
                          </a:solidFill>
                          <a:latin typeface="Calibri"/>
                        </a:rPr>
                        <a:t>/api/search*</a:t>
                      </a:r>
                    </a:p>
                  </a:txBody>
                  <a:tcPr marL="73152" marR="73152" marT="36576" marB="36576" anchor="ctr">
                    <a:solidFill>
                      <a:srgbClr val="F2F2F2"/>
                    </a:solidFill>
                  </a:tcPr>
                </a:tc>
                <a:tc>
                  <a:txBody>
                    <a:bodyPr/>
                    <a:lstStyle/>
                    <a:p>
                      <a:r>
                        <a:rPr sz="1400" b="0" i="0">
                          <a:solidFill>
                            <a:srgbClr val="262626"/>
                          </a:solidFill>
                          <a:latin typeface="Calibri"/>
                        </a:rPr>
                        <a:t>None</a:t>
                      </a:r>
                    </a:p>
                  </a:txBody>
                  <a:tcPr marL="73152" marR="73152" marT="36576" marB="36576" anchor="ctr">
                    <a:solidFill>
                      <a:srgbClr val="F2F2F2"/>
                    </a:solidFill>
                  </a:tcPr>
                </a:tc>
                <a:tc>
                  <a:txBody>
                    <a:bodyPr/>
                    <a:lstStyle/>
                    <a:p>
                      <a:r>
                        <a:rPr sz="1400" b="0" i="0">
                          <a:solidFill>
                            <a:srgbClr val="262626"/>
                          </a:solidFill>
                          <a:latin typeface="Calibri"/>
                        </a:rPr>
                        <a:t>Forwarded to origin</a:t>
                      </a:r>
                    </a:p>
                  </a:txBody>
                  <a:tcPr marL="73152" marR="73152" marT="36576" marB="36576" anchor="ctr">
                    <a:solidFill>
                      <a:srgbClr val="F2F2F2"/>
                    </a:solidFill>
                  </a:tcPr>
                </a:tc>
                <a:extLst>
                  <a:ext uri="{0D108BD9-81ED-4DB2-BD59-A6C34878D82A}">
                    <a16:rowId xmlns:a16="http://schemas.microsoft.com/office/drawing/2014/main" val="10004"/>
                  </a:ext>
                </a:extLst>
              </a:tr>
              <a:tr h="457200">
                <a:tc>
                  <a:txBody>
                    <a:bodyPr/>
                    <a:lstStyle/>
                    <a:p>
                      <a:r>
                        <a:rPr sz="1400" b="1" i="0">
                          <a:solidFill>
                            <a:srgbClr val="002060"/>
                          </a:solidFill>
                          <a:latin typeface="Calibri"/>
                        </a:rPr>
                        <a:t>/api/orders</a:t>
                      </a:r>
                    </a:p>
                  </a:txBody>
                  <a:tcPr marL="73152" marR="73152" marT="36576" marB="36576" anchor="ctr">
                    <a:solidFill>
                      <a:srgbClr val="FFFFFF"/>
                    </a:solidFill>
                  </a:tcPr>
                </a:tc>
                <a:tc>
                  <a:txBody>
                    <a:bodyPr/>
                    <a:lstStyle/>
                    <a:p>
                      <a:r>
                        <a:rPr sz="1400" b="0" i="0">
                          <a:solidFill>
                            <a:srgbClr val="262626"/>
                          </a:solidFill>
                          <a:latin typeface="Calibri"/>
                        </a:rPr>
                        <a:t>None</a:t>
                      </a:r>
                    </a:p>
                  </a:txBody>
                  <a:tcPr marL="73152" marR="73152" marT="36576" marB="36576" anchor="ctr">
                    <a:solidFill>
                      <a:srgbClr val="FFFFFF"/>
                    </a:solidFill>
                  </a:tcPr>
                </a:tc>
                <a:tc>
                  <a:txBody>
                    <a:bodyPr/>
                    <a:lstStyle/>
                    <a:p>
                      <a:r>
                        <a:rPr sz="1400" b="0" i="0">
                          <a:solidFill>
                            <a:srgbClr val="262626"/>
                          </a:solidFill>
                          <a:latin typeface="Calibri"/>
                        </a:rPr>
                        <a:t>POST always forwarded</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2" name="Rounded Rectangle 11"/>
          <p:cNvSpPr/>
          <p:nvPr/>
        </p:nvSpPr>
        <p:spPr>
          <a:xfrm>
            <a:off x="457200" y="4572000"/>
            <a:ext cx="2011680" cy="169164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70%</a:t>
            </a:r>
          </a:p>
          <a:p>
            <a:pPr algn="ctr">
              <a:spcAft>
                <a:spcPts val="0"/>
              </a:spcAft>
            </a:pPr>
            <a:r>
              <a:rPr sz="1300" b="0" i="0">
                <a:solidFill>
                  <a:srgbClr val="FFFFFF"/>
                </a:solidFill>
                <a:latin typeface="Calibri"/>
              </a:rPr>
              <a:t>edge hit ratio on /api/books/*</a:t>
            </a:r>
          </a:p>
        </p:txBody>
      </p:sp>
      <p:sp>
        <p:nvSpPr>
          <p:cNvPr id="13" name="TextBox 12"/>
          <p:cNvSpPr txBox="1"/>
          <p:nvPr/>
        </p:nvSpPr>
        <p:spPr>
          <a:xfrm>
            <a:off x="2651760" y="4572000"/>
            <a:ext cx="4114800" cy="1691640"/>
          </a:xfrm>
          <a:prstGeom prst="rect">
            <a:avLst/>
          </a:prstGeom>
          <a:noFill/>
        </p:spPr>
        <p:txBody>
          <a:bodyPr wrap="square" anchor="ctr">
            <a:spAutoFit/>
          </a:bodyPr>
          <a:lstStyle/>
          <a:p>
            <a:pPr algn="l">
              <a:spcAft>
                <a:spcPts val="600"/>
              </a:spcAft>
            </a:pPr>
            <a:r>
              <a:rPr sz="1500" b="0" i="0">
                <a:solidFill>
                  <a:srgbClr val="262626"/>
                </a:solidFill>
                <a:latin typeface="Calibri"/>
              </a:rPr>
              <a:t>1.2 M requests a day become 360,000 at the origin.</a:t>
            </a:r>
          </a:p>
          <a:p>
            <a:pPr algn="l">
              <a:spcAft>
                <a:spcPts val="0"/>
              </a:spcAft>
            </a:pPr>
            <a:r>
              <a:rPr sz="1500" b="0" i="0">
                <a:solidFill>
                  <a:srgbClr val="262626"/>
                </a:solidFill>
                <a:latin typeface="Calibri"/>
              </a:rPr>
              <a:t>Peak origin load drops from 55.6 to 16.7 requests per second.</a:t>
            </a:r>
          </a:p>
        </p:txBody>
      </p:sp>
      <p:sp>
        <p:nvSpPr>
          <p:cNvPr id="14" name="TextBox 13"/>
          <p:cNvSpPr txBox="1"/>
          <p:nvPr/>
        </p:nvSpPr>
        <p:spPr>
          <a:xfrm>
            <a:off x="6995160" y="4206240"/>
            <a:ext cx="4736592" cy="2057400"/>
          </a:xfrm>
          <a:prstGeom prst="rect">
            <a:avLst/>
          </a:prstGeom>
          <a:noFill/>
        </p:spPr>
        <p:txBody>
          <a:bodyPr wrap="square" anchor="t">
            <a:spAutoFit/>
          </a:bodyPr>
          <a:lstStyle/>
          <a:p>
            <a:pPr algn="l">
              <a:spcAft>
                <a:spcPts val="400"/>
              </a:spcAft>
            </a:pPr>
            <a:r>
              <a:rPr sz="1600" b="1" i="0">
                <a:solidFill>
                  <a:srgbClr val="002060"/>
                </a:solidFill>
                <a:latin typeface="Calibri"/>
              </a:rPr>
              <a:t>Beyond caching</a:t>
            </a:r>
          </a:p>
          <a:p>
            <a:pPr marL="228600" indent="-228600" algn="l">
              <a:spcAft>
                <a:spcPts val="300"/>
              </a:spcAft>
              <a:buClr>
                <a:srgbClr val="E97132"/>
              </a:buClr>
              <a:buFont typeface="Arial"/>
              <a:buChar char="•"/>
            </a:pPr>
            <a:r>
              <a:rPr sz="1500" b="0" i="0">
                <a:solidFill>
                  <a:srgbClr val="262626"/>
                </a:solidFill>
                <a:latin typeface="Calibri"/>
              </a:rPr>
              <a:t>TLS handshake completes near the reader</a:t>
            </a:r>
          </a:p>
          <a:p>
            <a:pPr marL="228600" indent="-228600" algn="l">
              <a:spcAft>
                <a:spcPts val="300"/>
              </a:spcAft>
              <a:buClr>
                <a:srgbClr val="E97132"/>
              </a:buClr>
              <a:buFont typeface="Arial"/>
              <a:buChar char="•"/>
            </a:pPr>
            <a:r>
              <a:rPr sz="1500" b="0" i="0">
                <a:solidFill>
                  <a:srgbClr val="262626"/>
                </a:solidFill>
                <a:latin typeface="Calibri"/>
              </a:rPr>
              <a:t>Long-lived, reused connections to the origin</a:t>
            </a:r>
          </a:p>
          <a:p>
            <a:pPr marL="228600" indent="-228600" algn="l">
              <a:spcAft>
                <a:spcPts val="0"/>
              </a:spcAft>
              <a:buClr>
                <a:srgbClr val="E97132"/>
              </a:buClr>
              <a:buFont typeface="Arial"/>
              <a:buChar char="•"/>
            </a:pPr>
            <a:r>
              <a:rPr sz="1500" b="0" i="0">
                <a:solidFill>
                  <a:srgbClr val="262626"/>
                </a:solidFill>
                <a:latin typeface="Calibri"/>
              </a:rPr>
              <a:t>AWS WAF rules and geo restriction at the edge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1.2</a:t>
            </a:r>
            <a:r>
              <a:rPr sz="2400" b="1" i="0">
                <a:solidFill>
                  <a:srgbClr val="FFFFFF"/>
                </a:solidFill>
                <a:latin typeface="Calibri"/>
              </a:rPr>
              <a:t> The Load Balancer and the Application Tier</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ALB node"/>
          <p:cNvSpPr/>
          <p:nvPr/>
        </p:nvSpPr>
        <p:spPr>
          <a:xfrm>
            <a:off x="457200" y="2377440"/>
            <a:ext cx="1737360" cy="1188720"/>
          </a:xfrm>
          <a:prstGeom prst="roundRect">
            <a:avLst>
              <a:gd name="adj" fmla="val 1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2000" b="1" i="0">
                <a:solidFill>
                  <a:srgbClr val="FFFFFF"/>
                </a:solidFill>
                <a:latin typeface="Calibri"/>
              </a:rPr>
              <a:t>ALB</a:t>
            </a:r>
          </a:p>
          <a:p>
            <a:pPr algn="ctr">
              <a:spcAft>
                <a:spcPts val="0"/>
              </a:spcAft>
            </a:pPr>
            <a:r>
              <a:rPr sz="1300" b="0" i="0">
                <a:solidFill>
                  <a:srgbClr val="FFFFFF"/>
                </a:solidFill>
                <a:latin typeface="Calibri"/>
              </a:rPr>
              <a:t>HTTPS :443</a:t>
            </a:r>
          </a:p>
        </p:txBody>
      </p:sp>
      <p:sp>
        <p:nvSpPr>
          <p:cNvPr id="11" name="Target group"/>
          <p:cNvSpPr/>
          <p:nvPr/>
        </p:nvSpPr>
        <p:spPr>
          <a:xfrm>
            <a:off x="2651760" y="2377440"/>
            <a:ext cx="1828800" cy="1188720"/>
          </a:xfrm>
          <a:prstGeom prst="roundRect">
            <a:avLst>
              <a:gd name="adj" fmla="val 1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Target group</a:t>
            </a:r>
          </a:p>
          <a:p>
            <a:pPr algn="ctr">
              <a:spcAft>
                <a:spcPts val="0"/>
              </a:spcAft>
            </a:pPr>
            <a:r>
              <a:rPr sz="1300" b="0" i="0">
                <a:solidFill>
                  <a:srgbClr val="FFFFFF"/>
                </a:solidFill>
                <a:latin typeface="Calibri"/>
              </a:rPr>
              <a:t>health check /healthz</a:t>
            </a:r>
          </a:p>
        </p:txBody>
      </p:sp>
      <p:sp>
        <p:nvSpPr>
          <p:cNvPr id="12" name="API task, AZ a"/>
          <p:cNvSpPr/>
          <p:nvPr/>
        </p:nvSpPr>
        <p:spPr>
          <a:xfrm>
            <a:off x="4983480" y="1600200"/>
            <a:ext cx="1783080" cy="1051560"/>
          </a:xfrm>
          <a:prstGeom prst="roundRect">
            <a:avLst>
              <a:gd name="adj" fmla="val 10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API task</a:t>
            </a:r>
          </a:p>
          <a:p>
            <a:pPr algn="ctr">
              <a:spcAft>
                <a:spcPts val="0"/>
              </a:spcAft>
            </a:pPr>
            <a:r>
              <a:rPr sz="1300" b="0" i="0">
                <a:solidFill>
                  <a:srgbClr val="FFFFFF"/>
                </a:solidFill>
                <a:latin typeface="Calibri"/>
              </a:rPr>
              <a:t>AZ a</a:t>
            </a:r>
          </a:p>
        </p:txBody>
      </p:sp>
      <p:cxnSp>
        <p:nvCxnSpPr>
          <p:cNvPr id="13" name="Connector 12"/>
          <p:cNvCxnSpPr/>
          <p:nvPr/>
        </p:nvCxnSpPr>
        <p:spPr>
          <a:xfrm flipV="1">
            <a:off x="4480560" y="2130552"/>
            <a:ext cx="502920" cy="841248"/>
          </a:xfrm>
          <a:prstGeom prst="line">
            <a:avLst/>
          </a:prstGeom>
          <a:ln w="19050">
            <a:solidFill>
              <a:srgbClr val="595959"/>
            </a:solidFill>
          </a:ln>
        </p:spPr>
        <p:style>
          <a:lnRef idx="2">
            <a:schemeClr val="accent1"/>
          </a:lnRef>
          <a:fillRef idx="0">
            <a:schemeClr val="accent1"/>
          </a:fillRef>
          <a:effectRef idx="1">
            <a:schemeClr val="accent1"/>
          </a:effectRef>
          <a:fontRef idx="minor">
            <a:schemeClr val="tx1"/>
          </a:fontRef>
        </p:style>
      </p:cxnSp>
      <p:sp>
        <p:nvSpPr>
          <p:cNvPr id="14" name="API task, AZ b"/>
          <p:cNvSpPr/>
          <p:nvPr/>
        </p:nvSpPr>
        <p:spPr>
          <a:xfrm>
            <a:off x="4983480" y="3291840"/>
            <a:ext cx="1783080" cy="1051560"/>
          </a:xfrm>
          <a:prstGeom prst="roundRect">
            <a:avLst>
              <a:gd name="adj" fmla="val 10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API task</a:t>
            </a:r>
          </a:p>
          <a:p>
            <a:pPr algn="ctr">
              <a:spcAft>
                <a:spcPts val="0"/>
              </a:spcAft>
            </a:pPr>
            <a:r>
              <a:rPr sz="1300" b="0" i="0">
                <a:solidFill>
                  <a:srgbClr val="FFFFFF"/>
                </a:solidFill>
                <a:latin typeface="Calibri"/>
              </a:rPr>
              <a:t>AZ b</a:t>
            </a:r>
          </a:p>
        </p:txBody>
      </p:sp>
      <p:cxnSp>
        <p:nvCxnSpPr>
          <p:cNvPr id="15" name="Connector 14"/>
          <p:cNvCxnSpPr/>
          <p:nvPr/>
        </p:nvCxnSpPr>
        <p:spPr>
          <a:xfrm>
            <a:off x="4480560" y="2971800"/>
            <a:ext cx="502920" cy="850391"/>
          </a:xfrm>
          <a:prstGeom prst="line">
            <a:avLst/>
          </a:prstGeom>
          <a:ln w="1905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2971800"/>
            <a:ext cx="457200" cy="0"/>
          </a:xfrm>
          <a:prstGeom prst="line">
            <a:avLst/>
          </a:prstGeom>
          <a:ln w="19050">
            <a:solidFill>
              <a:srgbClr val="59595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4526280"/>
            <a:ext cx="6309360" cy="411480"/>
          </a:xfrm>
          <a:prstGeom prst="rect">
            <a:avLst/>
          </a:prstGeom>
          <a:noFill/>
        </p:spPr>
        <p:txBody>
          <a:bodyPr wrap="square" anchor="t">
            <a:spAutoFit/>
          </a:bodyPr>
          <a:lstStyle/>
          <a:p>
            <a:pPr algn="l">
              <a:spcAft>
                <a:spcPts val="0"/>
              </a:spcAft>
            </a:pPr>
            <a:r>
              <a:rPr sz="1400" b="0" i="1">
                <a:solidFill>
                  <a:srgbClr val="595959"/>
                </a:solidFill>
                <a:latin typeface="Calibri"/>
              </a:rPr>
              <a:t>Health check settings: every 15 s; 2 failures remove a task, 3 successes return it</a:t>
            </a:r>
          </a:p>
        </p:txBody>
      </p:sp>
      <p:sp>
        <p:nvSpPr>
          <p:cNvPr id="18" name="Health check note"/>
          <p:cNvSpPr/>
          <p:nvPr/>
        </p:nvSpPr>
        <p:spPr>
          <a:xfrm>
            <a:off x="457200" y="5029200"/>
            <a:ext cx="6309360" cy="1234440"/>
          </a:xfrm>
          <a:prstGeom prst="roundRect">
            <a:avLst>
              <a:gd name="adj" fmla="val 8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E97132"/>
                </a:solidFill>
                <a:latin typeface="Calibri"/>
              </a:rPr>
              <a:t>Health checks that tell the truth: </a:t>
            </a:r>
            <a:r>
              <a:rPr sz="1500" b="0" i="0">
                <a:solidFill>
                  <a:srgbClr val="262626"/>
                </a:solidFill>
                <a:latin typeface="Calibri"/>
              </a:rPr>
              <a:t>/healthz checks cache and pool connections within 100 ms, but runs no full query.</a:t>
            </a:r>
          </a:p>
        </p:txBody>
      </p:sp>
      <p:sp>
        <p:nvSpPr>
          <p:cNvPr id="19" name="Application Load Balancer body"/>
          <p:cNvSpPr/>
          <p:nvPr/>
        </p:nvSpPr>
        <p:spPr>
          <a:xfrm>
            <a:off x="7086600" y="1188720"/>
            <a:ext cx="4645152" cy="242316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pplication Load Balancer head"/>
          <p:cNvSpPr/>
          <p:nvPr/>
        </p:nvSpPr>
        <p:spPr>
          <a:xfrm>
            <a:off x="7086600" y="1188720"/>
            <a:ext cx="4645152" cy="4572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Application Load Balancer</a:t>
            </a:r>
          </a:p>
        </p:txBody>
      </p:sp>
      <p:sp>
        <p:nvSpPr>
          <p:cNvPr id="21" name="TextBox 20"/>
          <p:cNvSpPr txBox="1"/>
          <p:nvPr/>
        </p:nvSpPr>
        <p:spPr>
          <a:xfrm>
            <a:off x="7132320" y="1691640"/>
            <a:ext cx="4553712" cy="1874519"/>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Layer 7: routes on path, host and headers</a:t>
            </a:r>
          </a:p>
          <a:p>
            <a:pPr marL="228600" indent="-228600" algn="l">
              <a:spcAft>
                <a:spcPts val="400"/>
              </a:spcAft>
              <a:buClr>
                <a:srgbClr val="E97132"/>
              </a:buClr>
              <a:buFont typeface="Arial"/>
              <a:buChar char="•"/>
            </a:pPr>
            <a:r>
              <a:rPr sz="1500" b="0" i="0">
                <a:solidFill>
                  <a:srgbClr val="262626"/>
                </a:solidFill>
                <a:latin typeface="Calibri"/>
              </a:rPr>
              <a:t>Listeners, rules and target groups</a:t>
            </a:r>
          </a:p>
          <a:p>
            <a:pPr marL="228600" indent="-228600" algn="l">
              <a:spcAft>
                <a:spcPts val="400"/>
              </a:spcAft>
              <a:buClr>
                <a:srgbClr val="E97132"/>
              </a:buClr>
              <a:buFont typeface="Arial"/>
              <a:buChar char="•"/>
            </a:pPr>
            <a:r>
              <a:rPr sz="1500" b="0" i="0">
                <a:solidFill>
                  <a:srgbClr val="262626"/>
                </a:solidFill>
                <a:latin typeface="Calibri"/>
              </a:rPr>
              <a:t>Nodes in every enabled AZ</a:t>
            </a:r>
          </a:p>
        </p:txBody>
      </p:sp>
      <p:sp>
        <p:nvSpPr>
          <p:cNvPr id="22" name="Amazon ECS on AWS Fargate body"/>
          <p:cNvSpPr/>
          <p:nvPr/>
        </p:nvSpPr>
        <p:spPr>
          <a:xfrm>
            <a:off x="7086600" y="3794760"/>
            <a:ext cx="4645152" cy="246888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Amazon ECS on AWS Fargate head"/>
          <p:cNvSpPr/>
          <p:nvPr/>
        </p:nvSpPr>
        <p:spPr>
          <a:xfrm>
            <a:off x="7086600" y="3794760"/>
            <a:ext cx="4645152" cy="45720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Amazon ECS on AWS Fargate</a:t>
            </a:r>
          </a:p>
        </p:txBody>
      </p:sp>
      <p:sp>
        <p:nvSpPr>
          <p:cNvPr id="24" name="TextBox 23"/>
          <p:cNvSpPr txBox="1"/>
          <p:nvPr/>
        </p:nvSpPr>
        <p:spPr>
          <a:xfrm>
            <a:off x="7132320" y="4297680"/>
            <a:ext cx="4553712" cy="1920240"/>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Task definition: image, CPU, memory, role</a:t>
            </a:r>
          </a:p>
          <a:p>
            <a:pPr marL="228600" indent="-228600" algn="l">
              <a:spcAft>
                <a:spcPts val="400"/>
              </a:spcAft>
              <a:buClr>
                <a:srgbClr val="E97132"/>
              </a:buClr>
              <a:buFont typeface="Arial"/>
              <a:buChar char="•"/>
            </a:pPr>
            <a:r>
              <a:rPr sz="1500" b="0" i="0">
                <a:solidFill>
                  <a:srgbClr val="262626"/>
                </a:solidFill>
                <a:latin typeface="Calibri"/>
              </a:rPr>
              <a:t>Service keeps the desired task count</a:t>
            </a:r>
          </a:p>
          <a:p>
            <a:pPr marL="228600" indent="-228600" algn="l">
              <a:spcAft>
                <a:spcPts val="400"/>
              </a:spcAft>
              <a:buClr>
                <a:srgbClr val="E97132"/>
              </a:buClr>
              <a:buFont typeface="Arial"/>
              <a:buChar char="•"/>
            </a:pPr>
            <a:r>
              <a:rPr sz="1500" b="0" i="0">
                <a:solidFill>
                  <a:srgbClr val="262626"/>
                </a:solidFill>
                <a:latin typeface="Calibri"/>
              </a:rPr>
              <a:t>Secrets from Secrets Manager; logs to CloudWatch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1.2</a:t>
            </a:r>
            <a:r>
              <a:rPr sz="2400" b="1" i="0">
                <a:solidFill>
                  <a:srgbClr val="FFFFFF"/>
                </a:solidFill>
                <a:latin typeface="Calibri"/>
              </a:rPr>
              <a:t> The Data Tier: RDS, ElastiCache and SQS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6.png"/>
          <p:cNvPicPr>
            <a:picLocks noChangeAspect="1"/>
          </p:cNvPicPr>
          <p:nvPr/>
        </p:nvPicPr>
        <p:blipFill>
          <a:blip r:embed="rId4"/>
          <a:stretch>
            <a:fillRect/>
          </a:stretch>
        </p:blipFill>
        <p:spPr>
          <a:xfrm>
            <a:off x="457200" y="1143000"/>
            <a:ext cx="6675120" cy="3128962"/>
          </a:xfrm>
          <a:prstGeom prst="rect">
            <a:avLst/>
          </a:prstGeom>
          <a:ln w="9525">
            <a:solidFill>
              <a:srgbClr val="D9D9D9"/>
            </a:solidFill>
          </a:ln>
        </p:spPr>
      </p:pic>
      <p:sp>
        <p:nvSpPr>
          <p:cNvPr id="11" name="Amazon RDS body"/>
          <p:cNvSpPr/>
          <p:nvPr/>
        </p:nvSpPr>
        <p:spPr>
          <a:xfrm>
            <a:off x="7452360" y="1143000"/>
            <a:ext cx="4279392" cy="100584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mazon RDS head"/>
          <p:cNvSpPr/>
          <p:nvPr/>
        </p:nvSpPr>
        <p:spPr>
          <a:xfrm>
            <a:off x="7452360" y="1143000"/>
            <a:ext cx="4279392" cy="38404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Amazon RDS</a:t>
            </a:r>
          </a:p>
        </p:txBody>
      </p:sp>
      <p:sp>
        <p:nvSpPr>
          <p:cNvPr id="13" name="TextBox 12"/>
          <p:cNvSpPr txBox="1"/>
          <p:nvPr/>
        </p:nvSpPr>
        <p:spPr>
          <a:xfrm>
            <a:off x="7498080" y="1572768"/>
            <a:ext cx="4187952" cy="530352"/>
          </a:xfrm>
          <a:prstGeom prst="rect">
            <a:avLst/>
          </a:prstGeom>
          <a:noFill/>
        </p:spPr>
        <p:txBody>
          <a:bodyPr wrap="square" anchor="t">
            <a:spAutoFit/>
          </a:bodyPr>
          <a:lstStyle/>
          <a:p>
            <a:pPr algn="l">
              <a:spcAft>
                <a:spcPts val="0"/>
              </a:spcAft>
            </a:pPr>
            <a:r>
              <a:rPr sz="1400" b="0" i="0">
                <a:solidFill>
                  <a:srgbClr val="262626"/>
                </a:solidFill>
                <a:latin typeface="Calibri"/>
              </a:rPr>
              <a:t>System of record. Multi-AZ standby, automated backups.</a:t>
            </a:r>
          </a:p>
        </p:txBody>
      </p:sp>
      <p:sp>
        <p:nvSpPr>
          <p:cNvPr id="14" name="Amazon ElastiCache body"/>
          <p:cNvSpPr/>
          <p:nvPr/>
        </p:nvSpPr>
        <p:spPr>
          <a:xfrm>
            <a:off x="7452360" y="2212848"/>
            <a:ext cx="4279392" cy="100584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mazon ElastiCache head"/>
          <p:cNvSpPr/>
          <p:nvPr/>
        </p:nvSpPr>
        <p:spPr>
          <a:xfrm>
            <a:off x="7452360" y="2212848"/>
            <a:ext cx="4279392"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Amazon ElastiCache</a:t>
            </a:r>
          </a:p>
        </p:txBody>
      </p:sp>
      <p:sp>
        <p:nvSpPr>
          <p:cNvPr id="16" name="TextBox 15"/>
          <p:cNvSpPr txBox="1"/>
          <p:nvPr/>
        </p:nvSpPr>
        <p:spPr>
          <a:xfrm>
            <a:off x="7498080" y="2642615"/>
            <a:ext cx="4187952" cy="530352"/>
          </a:xfrm>
          <a:prstGeom prst="rect">
            <a:avLst/>
          </a:prstGeom>
          <a:noFill/>
        </p:spPr>
        <p:txBody>
          <a:bodyPr wrap="square" anchor="t">
            <a:spAutoFit/>
          </a:bodyPr>
          <a:lstStyle/>
          <a:p>
            <a:pPr algn="l">
              <a:spcAft>
                <a:spcPts val="0"/>
              </a:spcAft>
            </a:pPr>
            <a:r>
              <a:rPr sz="1400" b="0" i="0">
                <a:solidFill>
                  <a:srgbClr val="262626"/>
                </a:solidFill>
                <a:latin typeface="Calibri"/>
              </a:rPr>
              <a:t>Hot data in memory. Sub-millisecond reads.</a:t>
            </a:r>
          </a:p>
        </p:txBody>
      </p:sp>
      <p:sp>
        <p:nvSpPr>
          <p:cNvPr id="17" name="Amazon SQS body"/>
          <p:cNvSpPr/>
          <p:nvPr/>
        </p:nvSpPr>
        <p:spPr>
          <a:xfrm>
            <a:off x="7452360" y="3282696"/>
            <a:ext cx="4279392" cy="100584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Amazon SQS head"/>
          <p:cNvSpPr/>
          <p:nvPr/>
        </p:nvSpPr>
        <p:spPr>
          <a:xfrm>
            <a:off x="7452360" y="3282696"/>
            <a:ext cx="4279392" cy="384048"/>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Amazon SQS</a:t>
            </a:r>
          </a:p>
        </p:txBody>
      </p:sp>
      <p:sp>
        <p:nvSpPr>
          <p:cNvPr id="19" name="TextBox 18"/>
          <p:cNvSpPr txBox="1"/>
          <p:nvPr/>
        </p:nvSpPr>
        <p:spPr>
          <a:xfrm>
            <a:off x="7498080" y="3712463"/>
            <a:ext cx="4187952" cy="530352"/>
          </a:xfrm>
          <a:prstGeom prst="rect">
            <a:avLst/>
          </a:prstGeom>
          <a:noFill/>
        </p:spPr>
        <p:txBody>
          <a:bodyPr wrap="square" anchor="t">
            <a:spAutoFit/>
          </a:bodyPr>
          <a:lstStyle/>
          <a:p>
            <a:pPr algn="l">
              <a:spcAft>
                <a:spcPts val="0"/>
              </a:spcAft>
            </a:pPr>
            <a:r>
              <a:rPr sz="1400" b="0" i="0">
                <a:solidFill>
                  <a:srgbClr val="262626"/>
                </a:solidFill>
                <a:latin typeface="Calibri"/>
              </a:rPr>
              <a:t>Work buffer. Message kept until the worker deletes it.</a:t>
            </a:r>
          </a:p>
        </p:txBody>
      </p:sp>
      <p:sp>
        <p:nvSpPr>
          <p:cNvPr id="20" name="TextBox 19"/>
          <p:cNvSpPr txBox="1"/>
          <p:nvPr/>
        </p:nvSpPr>
        <p:spPr>
          <a:xfrm>
            <a:off x="457200" y="4434840"/>
            <a:ext cx="11247120" cy="365760"/>
          </a:xfrm>
          <a:prstGeom prst="rect">
            <a:avLst/>
          </a:prstGeom>
          <a:noFill/>
        </p:spPr>
        <p:txBody>
          <a:bodyPr wrap="square" anchor="t">
            <a:spAutoFit/>
          </a:bodyPr>
          <a:lstStyle/>
          <a:p>
            <a:pPr algn="l">
              <a:spcAft>
                <a:spcPts val="0"/>
              </a:spcAft>
            </a:pPr>
            <a:r>
              <a:rPr sz="1600" b="1" i="0">
                <a:solidFill>
                  <a:srgbClr val="002060"/>
                </a:solidFill>
                <a:latin typeface="Calibri"/>
              </a:rPr>
              <a:t>If a component fails</a:t>
            </a:r>
          </a:p>
        </p:txBody>
      </p:sp>
      <p:sp>
        <p:nvSpPr>
          <p:cNvPr id="21" name="RDS down"/>
          <p:cNvSpPr/>
          <p:nvPr/>
        </p:nvSpPr>
        <p:spPr>
          <a:xfrm>
            <a:off x="457200" y="4892040"/>
            <a:ext cx="3611880" cy="132588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200"/>
              </a:spcAft>
            </a:pPr>
            <a:r>
              <a:rPr sz="1600" b="1" i="0">
                <a:solidFill>
                  <a:srgbClr val="E97132"/>
                </a:solidFill>
                <a:latin typeface="Calibri"/>
              </a:rPr>
              <a:t>RDS down</a:t>
            </a:r>
          </a:p>
          <a:p>
            <a:pPr algn="l">
              <a:spcAft>
                <a:spcPts val="0"/>
              </a:spcAft>
            </a:pPr>
            <a:r>
              <a:rPr sz="1500" b="0" i="0">
                <a:solidFill>
                  <a:srgbClr val="262626"/>
                </a:solidFill>
                <a:latin typeface="Calibri"/>
              </a:rPr>
              <a:t>reads and writes fail; orders wait in the queue</a:t>
            </a:r>
          </a:p>
        </p:txBody>
      </p:sp>
      <p:sp>
        <p:nvSpPr>
          <p:cNvPr id="22" name="Cache down"/>
          <p:cNvSpPr/>
          <p:nvPr/>
        </p:nvSpPr>
        <p:spPr>
          <a:xfrm>
            <a:off x="4251960" y="4892040"/>
            <a:ext cx="3611880" cy="132588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200"/>
              </a:spcAft>
            </a:pPr>
            <a:r>
              <a:rPr sz="1600" b="1" i="0">
                <a:solidFill>
                  <a:srgbClr val="E97132"/>
                </a:solidFill>
                <a:latin typeface="Calibri"/>
              </a:rPr>
              <a:t>Cache down</a:t>
            </a:r>
          </a:p>
          <a:p>
            <a:pPr algn="l">
              <a:spcAft>
                <a:spcPts val="0"/>
              </a:spcAft>
            </a:pPr>
            <a:r>
              <a:rPr sz="1500" b="0" i="0">
                <a:solidFill>
                  <a:srgbClr val="262626"/>
                </a:solidFill>
                <a:latin typeface="Calibri"/>
              </a:rPr>
              <a:t>slower reads served from RDS</a:t>
            </a:r>
          </a:p>
        </p:txBody>
      </p:sp>
      <p:sp>
        <p:nvSpPr>
          <p:cNvPr id="23" name="SQS down"/>
          <p:cNvSpPr/>
          <p:nvPr/>
        </p:nvSpPr>
        <p:spPr>
          <a:xfrm>
            <a:off x="8046720" y="4892040"/>
            <a:ext cx="3611880" cy="132588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200"/>
              </a:spcAft>
            </a:pPr>
            <a:r>
              <a:rPr sz="1600" b="1" i="0">
                <a:solidFill>
                  <a:srgbClr val="E97132"/>
                </a:solidFill>
                <a:latin typeface="Calibri"/>
              </a:rPr>
              <a:t>SQS down</a:t>
            </a:r>
          </a:p>
          <a:p>
            <a:pPr algn="l">
              <a:spcAft>
                <a:spcPts val="0"/>
              </a:spcAft>
            </a:pPr>
            <a:r>
              <a:rPr sz="1500" b="0" i="0">
                <a:solidFill>
                  <a:srgbClr val="262626"/>
                </a:solidFill>
                <a:latin typeface="Calibri"/>
              </a:rPr>
              <a:t>new orders cannot be accepted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1.2</a:t>
            </a:r>
            <a:r>
              <a:rPr sz="2400" b="1" i="0">
                <a:solidFill>
                  <a:srgbClr val="FFFFFF"/>
                </a:solidFill>
                <a:latin typeface="Calibri"/>
              </a:rPr>
              <a:t> Observability with CloudWatch and X-Ray</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Metrics"/>
          <p:cNvSpPr/>
          <p:nvPr/>
        </p:nvSpPr>
        <p:spPr>
          <a:xfrm>
            <a:off x="457200" y="1188720"/>
            <a:ext cx="3611880" cy="132588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000" b="1" i="0">
                <a:solidFill>
                  <a:srgbClr val="FFFFFF"/>
                </a:solidFill>
                <a:latin typeface="Calibri"/>
              </a:rPr>
              <a:t>Metrics</a:t>
            </a:r>
          </a:p>
          <a:p>
            <a:pPr algn="ctr">
              <a:spcAft>
                <a:spcPts val="0"/>
              </a:spcAft>
            </a:pPr>
            <a:r>
              <a:rPr sz="1400" b="0" i="0">
                <a:solidFill>
                  <a:srgbClr val="FFFFFF"/>
                </a:solidFill>
                <a:latin typeface="Calibri"/>
              </a:rPr>
              <a:t>Numbers over time: tell us THAT something is wrong</a:t>
            </a:r>
          </a:p>
        </p:txBody>
      </p:sp>
      <p:sp>
        <p:nvSpPr>
          <p:cNvPr id="11" name="Logs"/>
          <p:cNvSpPr/>
          <p:nvPr/>
        </p:nvSpPr>
        <p:spPr>
          <a:xfrm>
            <a:off x="4251960" y="1188720"/>
            <a:ext cx="3611880" cy="132588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000" b="1" i="0">
                <a:solidFill>
                  <a:srgbClr val="FFFFFF"/>
                </a:solidFill>
                <a:latin typeface="Calibri"/>
              </a:rPr>
              <a:t>Logs</a:t>
            </a:r>
          </a:p>
          <a:p>
            <a:pPr algn="ctr">
              <a:spcAft>
                <a:spcPts val="0"/>
              </a:spcAft>
            </a:pPr>
            <a:r>
              <a:rPr sz="1400" b="0" i="0">
                <a:solidFill>
                  <a:srgbClr val="FFFFFF"/>
                </a:solidFill>
                <a:latin typeface="Calibri"/>
              </a:rPr>
              <a:t>Timestamped events: tell us WHAT happened in one component</a:t>
            </a:r>
          </a:p>
        </p:txBody>
      </p:sp>
      <p:sp>
        <p:nvSpPr>
          <p:cNvPr id="12" name="Traces"/>
          <p:cNvSpPr/>
          <p:nvPr/>
        </p:nvSpPr>
        <p:spPr>
          <a:xfrm>
            <a:off x="8046720" y="1188720"/>
            <a:ext cx="3611880" cy="1325880"/>
          </a:xfrm>
          <a:prstGeom prst="roundRect">
            <a:avLst>
              <a:gd name="adj" fmla="val 8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000" b="1" i="0">
                <a:solidFill>
                  <a:srgbClr val="FFFFFF"/>
                </a:solidFill>
                <a:latin typeface="Calibri"/>
              </a:rPr>
              <a:t>Traces</a:t>
            </a:r>
          </a:p>
          <a:p>
            <a:pPr algn="ctr">
              <a:spcAft>
                <a:spcPts val="0"/>
              </a:spcAft>
            </a:pPr>
            <a:r>
              <a:rPr sz="1400" b="0" i="0">
                <a:solidFill>
                  <a:srgbClr val="FFFFFF"/>
                </a:solidFill>
                <a:latin typeface="Calibri"/>
              </a:rPr>
              <a:t>One request across tiers: tell us WHERE the time went</a:t>
            </a:r>
          </a:p>
        </p:txBody>
      </p:sp>
      <p:graphicFrame>
        <p:nvGraphicFramePr>
          <p:cNvPr id="13" name="Table 12"/>
          <p:cNvGraphicFramePr>
            <a:graphicFrameLocks noGrp="1"/>
          </p:cNvGraphicFramePr>
          <p:nvPr/>
        </p:nvGraphicFramePr>
        <p:xfrm>
          <a:off x="457200" y="2743200"/>
          <a:ext cx="11274551" cy="3200400"/>
        </p:xfrm>
        <a:graphic>
          <a:graphicData uri="http://schemas.openxmlformats.org/drawingml/2006/table">
            <a:tbl>
              <a:tblPr firstRow="1">
                <a:tableStyleId>{5940675A-B579-460E-94D1-54222C63F5DA}</a:tableStyleId>
              </a:tblPr>
              <a:tblGrid>
                <a:gridCol w="3941510">
                  <a:extLst>
                    <a:ext uri="{9D8B030D-6E8A-4147-A177-3AD203B41FA5}">
                      <a16:colId xmlns:a16="http://schemas.microsoft.com/office/drawing/2014/main" val="20000"/>
                    </a:ext>
                  </a:extLst>
                </a:gridCol>
                <a:gridCol w="2199912">
                  <a:extLst>
                    <a:ext uri="{9D8B030D-6E8A-4147-A177-3AD203B41FA5}">
                      <a16:colId xmlns:a16="http://schemas.microsoft.com/office/drawing/2014/main" val="20001"/>
                    </a:ext>
                  </a:extLst>
                </a:gridCol>
                <a:gridCol w="5133129">
                  <a:extLst>
                    <a:ext uri="{9D8B030D-6E8A-4147-A177-3AD203B41FA5}">
                      <a16:colId xmlns:a16="http://schemas.microsoft.com/office/drawing/2014/main" val="20002"/>
                    </a:ext>
                  </a:extLst>
                </a:gridCol>
              </a:tblGrid>
              <a:tr h="457200">
                <a:tc>
                  <a:txBody>
                    <a:bodyPr/>
                    <a:lstStyle/>
                    <a:p>
                      <a:r>
                        <a:rPr sz="1400" b="1" i="0">
                          <a:solidFill>
                            <a:srgbClr val="FFFFFF"/>
                          </a:solidFill>
                          <a:latin typeface="Calibri"/>
                        </a:rPr>
                        <a:t>Alarm metric</a:t>
                      </a:r>
                    </a:p>
                  </a:txBody>
                  <a:tcPr marL="73152" marR="73152" marT="36576" marB="36576" anchor="ctr">
                    <a:solidFill>
                      <a:srgbClr val="156082"/>
                    </a:solidFill>
                  </a:tcPr>
                </a:tc>
                <a:tc>
                  <a:txBody>
                    <a:bodyPr/>
                    <a:lstStyle/>
                    <a:p>
                      <a:r>
                        <a:rPr sz="1400" b="1" i="0">
                          <a:solidFill>
                            <a:srgbClr val="FFFFFF"/>
                          </a:solidFill>
                          <a:latin typeface="Calibri"/>
                        </a:rPr>
                        <a:t>Threshold</a:t>
                      </a:r>
                    </a:p>
                  </a:txBody>
                  <a:tcPr marL="73152" marR="73152" marT="36576" marB="36576" anchor="ctr">
                    <a:solidFill>
                      <a:srgbClr val="156082"/>
                    </a:solidFill>
                  </a:tcPr>
                </a:tc>
                <a:tc>
                  <a:txBody>
                    <a:bodyPr/>
                    <a:lstStyle/>
                    <a:p>
                      <a:r>
                        <a:rPr sz="1400" b="1" i="0">
                          <a:solidFill>
                            <a:srgbClr val="FFFFFF"/>
                          </a:solidFill>
                          <a:latin typeface="Calibri"/>
                        </a:rPr>
                        <a:t>Why it matters</a:t>
                      </a:r>
                    </a:p>
                  </a:txBody>
                  <a:tcPr marL="73152" marR="73152" marT="36576" marB="36576" anchor="ctr">
                    <a:solidFill>
                      <a:srgbClr val="156082"/>
                    </a:solidFill>
                  </a:tcPr>
                </a:tc>
                <a:extLst>
                  <a:ext uri="{0D108BD9-81ED-4DB2-BD59-A6C34878D82A}">
                    <a16:rowId xmlns:a16="http://schemas.microsoft.com/office/drawing/2014/main" val="10000"/>
                  </a:ext>
                </a:extLst>
              </a:tr>
              <a:tr h="457200">
                <a:tc>
                  <a:txBody>
                    <a:bodyPr/>
                    <a:lstStyle/>
                    <a:p>
                      <a:r>
                        <a:rPr sz="1400" b="1" i="0">
                          <a:solidFill>
                            <a:srgbClr val="002060"/>
                          </a:solidFill>
                          <a:latin typeface="Calibri"/>
                        </a:rPr>
                        <a:t>ALB TargetResponseTime p95</a:t>
                      </a:r>
                    </a:p>
                  </a:txBody>
                  <a:tcPr marL="73152" marR="73152" marT="36576" marB="36576" anchor="ctr">
                    <a:solidFill>
                      <a:srgbClr val="FFFFFF"/>
                    </a:solidFill>
                  </a:tcPr>
                </a:tc>
                <a:tc>
                  <a:txBody>
                    <a:bodyPr/>
                    <a:lstStyle/>
                    <a:p>
                      <a:r>
                        <a:rPr sz="1400" b="0" i="0">
                          <a:solidFill>
                            <a:srgbClr val="262626"/>
                          </a:solidFill>
                          <a:latin typeface="Calibri"/>
                        </a:rPr>
                        <a:t>&gt; 0.2 s for 5 min</a:t>
                      </a:r>
                    </a:p>
                  </a:txBody>
                  <a:tcPr marL="73152" marR="73152" marT="36576" marB="36576" anchor="ctr">
                    <a:solidFill>
                      <a:srgbClr val="FFFFFF"/>
                    </a:solidFill>
                  </a:tcPr>
                </a:tc>
                <a:tc>
                  <a:txBody>
                    <a:bodyPr/>
                    <a:lstStyle/>
                    <a:p>
                      <a:r>
                        <a:rPr sz="1400" b="0" i="0">
                          <a:solidFill>
                            <a:srgbClr val="262626"/>
                          </a:solidFill>
                          <a:latin typeface="Calibri"/>
                        </a:rPr>
                        <a:t>Direct measure of the latency budget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400" b="1" i="0">
                          <a:solidFill>
                            <a:srgbClr val="002060"/>
                          </a:solidFill>
                          <a:latin typeface="Calibri"/>
                        </a:rPr>
                        <a:t>ALB HTTPCode_Target_5XX_Count</a:t>
                      </a:r>
                    </a:p>
                  </a:txBody>
                  <a:tcPr marL="73152" marR="73152" marT="36576" marB="36576" anchor="ctr">
                    <a:solidFill>
                      <a:srgbClr val="F2F2F2"/>
                    </a:solidFill>
                  </a:tcPr>
                </a:tc>
                <a:tc>
                  <a:txBody>
                    <a:bodyPr/>
                    <a:lstStyle/>
                    <a:p>
                      <a:r>
                        <a:rPr sz="1400" b="0" i="0">
                          <a:solidFill>
                            <a:srgbClr val="262626"/>
                          </a:solidFill>
                          <a:latin typeface="Calibri"/>
                        </a:rPr>
                        <a:t>&gt; 1% of requests</a:t>
                      </a:r>
                    </a:p>
                  </a:txBody>
                  <a:tcPr marL="73152" marR="73152" marT="36576" marB="36576" anchor="ctr">
                    <a:solidFill>
                      <a:srgbClr val="F2F2F2"/>
                    </a:solidFill>
                  </a:tcPr>
                </a:tc>
                <a:tc>
                  <a:txBody>
                    <a:bodyPr/>
                    <a:lstStyle/>
                    <a:p>
                      <a:r>
                        <a:rPr sz="1400" b="0" i="0">
                          <a:solidFill>
                            <a:srgbClr val="262626"/>
                          </a:solidFill>
                          <a:latin typeface="Calibri"/>
                        </a:rPr>
                        <a:t>Application errors seen by readers</a:t>
                      </a:r>
                    </a:p>
                  </a:txBody>
                  <a:tcPr marL="73152" marR="73152" marT="36576" marB="36576" anchor="ctr">
                    <a:solidFill>
                      <a:srgbClr val="F2F2F2"/>
                    </a:solidFill>
                  </a:tcPr>
                </a:tc>
                <a:extLst>
                  <a:ext uri="{0D108BD9-81ED-4DB2-BD59-A6C34878D82A}">
                    <a16:rowId xmlns:a16="http://schemas.microsoft.com/office/drawing/2014/main" val="10002"/>
                  </a:ext>
                </a:extLst>
              </a:tr>
              <a:tr h="457200">
                <a:tc>
                  <a:txBody>
                    <a:bodyPr/>
                    <a:lstStyle/>
                    <a:p>
                      <a:r>
                        <a:rPr sz="1400" b="1" i="0">
                          <a:solidFill>
                            <a:srgbClr val="002060"/>
                          </a:solidFill>
                          <a:latin typeface="Calibri"/>
                        </a:rPr>
                        <a:t>ECS RunningTaskCount</a:t>
                      </a:r>
                    </a:p>
                  </a:txBody>
                  <a:tcPr marL="73152" marR="73152" marT="36576" marB="36576" anchor="ctr">
                    <a:solidFill>
                      <a:srgbClr val="FFFFFF"/>
                    </a:solidFill>
                  </a:tcPr>
                </a:tc>
                <a:tc>
                  <a:txBody>
                    <a:bodyPr/>
                    <a:lstStyle/>
                    <a:p>
                      <a:r>
                        <a:rPr sz="1400" b="0" i="0">
                          <a:solidFill>
                            <a:srgbClr val="262626"/>
                          </a:solidFill>
                          <a:latin typeface="Calibri"/>
                        </a:rPr>
                        <a:t>&lt; 2</a:t>
                      </a:r>
                    </a:p>
                  </a:txBody>
                  <a:tcPr marL="73152" marR="73152" marT="36576" marB="36576" anchor="ctr">
                    <a:solidFill>
                      <a:srgbClr val="FFFFFF"/>
                    </a:solidFill>
                  </a:tcPr>
                </a:tc>
                <a:tc>
                  <a:txBody>
                    <a:bodyPr/>
                    <a:lstStyle/>
                    <a:p>
                      <a:r>
                        <a:rPr sz="1400" b="0" i="0">
                          <a:solidFill>
                            <a:srgbClr val="262626"/>
                          </a:solidFill>
                          <a:latin typeface="Calibri"/>
                        </a:rPr>
                        <a:t>Loss of redundancy in the API tier</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400" b="1" i="0">
                          <a:solidFill>
                            <a:srgbClr val="002060"/>
                          </a:solidFill>
                          <a:latin typeface="Calibri"/>
                        </a:rPr>
                        <a:t>RDS FreeStorageSpace</a:t>
                      </a:r>
                    </a:p>
                  </a:txBody>
                  <a:tcPr marL="73152" marR="73152" marT="36576" marB="36576" anchor="ctr">
                    <a:solidFill>
                      <a:srgbClr val="F2F2F2"/>
                    </a:solidFill>
                  </a:tcPr>
                </a:tc>
                <a:tc>
                  <a:txBody>
                    <a:bodyPr/>
                    <a:lstStyle/>
                    <a:p>
                      <a:r>
                        <a:rPr sz="1400" b="0" i="0">
                          <a:solidFill>
                            <a:srgbClr val="262626"/>
                          </a:solidFill>
                          <a:latin typeface="Calibri"/>
                        </a:rPr>
                        <a:t>&lt; 20%</a:t>
                      </a:r>
                    </a:p>
                  </a:txBody>
                  <a:tcPr marL="73152" marR="73152" marT="36576" marB="36576" anchor="ctr">
                    <a:solidFill>
                      <a:srgbClr val="F2F2F2"/>
                    </a:solidFill>
                  </a:tcPr>
                </a:tc>
                <a:tc>
                  <a:txBody>
                    <a:bodyPr/>
                    <a:lstStyle/>
                    <a:p>
                      <a:r>
                        <a:rPr sz="1400" b="0" i="0">
                          <a:solidFill>
                            <a:srgbClr val="262626"/>
                          </a:solidFill>
                          <a:latin typeface="Calibri"/>
                        </a:rPr>
                        <a:t>Running out of disk stops writes</a:t>
                      </a:r>
                    </a:p>
                  </a:txBody>
                  <a:tcPr marL="73152" marR="73152" marT="36576" marB="36576" anchor="ctr">
                    <a:solidFill>
                      <a:srgbClr val="F2F2F2"/>
                    </a:solidFill>
                  </a:tcPr>
                </a:tc>
                <a:extLst>
                  <a:ext uri="{0D108BD9-81ED-4DB2-BD59-A6C34878D82A}">
                    <a16:rowId xmlns:a16="http://schemas.microsoft.com/office/drawing/2014/main" val="10004"/>
                  </a:ext>
                </a:extLst>
              </a:tr>
              <a:tr h="457200">
                <a:tc>
                  <a:txBody>
                    <a:bodyPr/>
                    <a:lstStyle/>
                    <a:p>
                      <a:r>
                        <a:rPr sz="1400" b="1" i="0">
                          <a:solidFill>
                            <a:srgbClr val="002060"/>
                          </a:solidFill>
                          <a:latin typeface="Calibri"/>
                        </a:rPr>
                        <a:t>SQS ApproximateAgeOfOldestMessage</a:t>
                      </a:r>
                    </a:p>
                  </a:txBody>
                  <a:tcPr marL="73152" marR="73152" marT="36576" marB="36576" anchor="ctr">
                    <a:solidFill>
                      <a:srgbClr val="FFFFFF"/>
                    </a:solidFill>
                  </a:tcPr>
                </a:tc>
                <a:tc>
                  <a:txBody>
                    <a:bodyPr/>
                    <a:lstStyle/>
                    <a:p>
                      <a:r>
                        <a:rPr sz="1400" b="0" i="0">
                          <a:solidFill>
                            <a:srgbClr val="262626"/>
                          </a:solidFill>
                          <a:latin typeface="Calibri"/>
                        </a:rPr>
                        <a:t>&gt; 300 s</a:t>
                      </a:r>
                    </a:p>
                  </a:txBody>
                  <a:tcPr marL="73152" marR="73152" marT="36576" marB="36576" anchor="ctr">
                    <a:solidFill>
                      <a:srgbClr val="FFFFFF"/>
                    </a:solidFill>
                  </a:tcPr>
                </a:tc>
                <a:tc>
                  <a:txBody>
                    <a:bodyPr/>
                    <a:lstStyle/>
                    <a:p>
                      <a:r>
                        <a:rPr sz="1400" b="0" i="0">
                          <a:solidFill>
                            <a:srgbClr val="262626"/>
                          </a:solidFill>
                          <a:latin typeface="Calibri"/>
                        </a:rPr>
                        <a:t>Worker is not keeping up with orders</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400" b="1" i="0">
                          <a:solidFill>
                            <a:srgbClr val="002060"/>
                          </a:solidFill>
                          <a:latin typeface="Calibri"/>
                        </a:rPr>
                        <a:t>ElastiCache CacheHitRate</a:t>
                      </a:r>
                    </a:p>
                  </a:txBody>
                  <a:tcPr marL="73152" marR="73152" marT="36576" marB="36576" anchor="ctr">
                    <a:solidFill>
                      <a:srgbClr val="F2F2F2"/>
                    </a:solidFill>
                  </a:tcPr>
                </a:tc>
                <a:tc>
                  <a:txBody>
                    <a:bodyPr/>
                    <a:lstStyle/>
                    <a:p>
                      <a:r>
                        <a:rPr sz="1400" b="0" i="0">
                          <a:solidFill>
                            <a:srgbClr val="262626"/>
                          </a:solidFill>
                          <a:latin typeface="Calibri"/>
                        </a:rPr>
                        <a:t>&lt; 80% for 15 min</a:t>
                      </a:r>
                    </a:p>
                  </a:txBody>
                  <a:tcPr marL="73152" marR="73152" marT="36576" marB="36576" anchor="ctr">
                    <a:solidFill>
                      <a:srgbClr val="F2F2F2"/>
                    </a:solidFill>
                  </a:tcPr>
                </a:tc>
                <a:tc>
                  <a:txBody>
                    <a:bodyPr/>
                    <a:lstStyle/>
                    <a:p>
                      <a:r>
                        <a:rPr sz="1400" b="0" i="0">
                          <a:solidFill>
                            <a:srgbClr val="262626"/>
                          </a:solidFill>
                          <a:latin typeface="Calibri"/>
                        </a:rPr>
                        <a:t>Cold cache or wrong keys; database load rises</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1.3</a:t>
            </a:r>
            <a:r>
              <a:rPr sz="2400" b="1" i="0">
                <a:solidFill>
                  <a:srgbClr val="FFFFFF"/>
                </a:solidFill>
                <a:latin typeface="Calibri"/>
              </a:rPr>
              <a:t> Cloud Service Models: the NIST Definition</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On-demand self-service"/>
          <p:cNvSpPr/>
          <p:nvPr/>
        </p:nvSpPr>
        <p:spPr>
          <a:xfrm>
            <a:off x="457200" y="1188720"/>
            <a:ext cx="2130552" cy="2743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243584" y="1371600"/>
            <a:ext cx="566928" cy="56692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000" b="1" i="0">
                <a:solidFill>
                  <a:srgbClr val="FFFFFF"/>
                </a:solidFill>
                <a:latin typeface="Calibri"/>
              </a:rPr>
              <a:t>1</a:t>
            </a:r>
          </a:p>
        </p:txBody>
      </p:sp>
      <p:sp>
        <p:nvSpPr>
          <p:cNvPr id="12" name="TextBox 11"/>
          <p:cNvSpPr txBox="1"/>
          <p:nvPr/>
        </p:nvSpPr>
        <p:spPr>
          <a:xfrm>
            <a:off x="530352" y="2057400"/>
            <a:ext cx="1984248" cy="777240"/>
          </a:xfrm>
          <a:prstGeom prst="rect">
            <a:avLst/>
          </a:prstGeom>
          <a:noFill/>
        </p:spPr>
        <p:txBody>
          <a:bodyPr wrap="square" anchor="ctr">
            <a:spAutoFit/>
          </a:bodyPr>
          <a:lstStyle/>
          <a:p>
            <a:pPr algn="ctr">
              <a:spcAft>
                <a:spcPts val="0"/>
              </a:spcAft>
            </a:pPr>
            <a:r>
              <a:rPr sz="1600" b="1" i="0">
                <a:solidFill>
                  <a:srgbClr val="002060"/>
                </a:solidFill>
                <a:latin typeface="Calibri"/>
              </a:rPr>
              <a:t>On-demand self-service</a:t>
            </a:r>
          </a:p>
        </p:txBody>
      </p:sp>
      <p:sp>
        <p:nvSpPr>
          <p:cNvPr id="13" name="TextBox 12"/>
          <p:cNvSpPr txBox="1"/>
          <p:nvPr/>
        </p:nvSpPr>
        <p:spPr>
          <a:xfrm>
            <a:off x="530352" y="2834640"/>
            <a:ext cx="1984248" cy="1051560"/>
          </a:xfrm>
          <a:prstGeom prst="rect">
            <a:avLst/>
          </a:prstGeom>
          <a:noFill/>
        </p:spPr>
        <p:txBody>
          <a:bodyPr wrap="square" anchor="t">
            <a:spAutoFit/>
          </a:bodyPr>
          <a:lstStyle/>
          <a:p>
            <a:pPr algn="ctr">
              <a:spcAft>
                <a:spcPts val="0"/>
              </a:spcAft>
            </a:pPr>
            <a:r>
              <a:rPr sz="1400" b="0" i="0">
                <a:solidFill>
                  <a:srgbClr val="262626"/>
                </a:solidFill>
                <a:latin typeface="Calibri"/>
              </a:rPr>
              <a:t>RDS created through the API in minutes</a:t>
            </a:r>
          </a:p>
        </p:txBody>
      </p:sp>
      <p:sp>
        <p:nvSpPr>
          <p:cNvPr id="14" name="Broad network access"/>
          <p:cNvSpPr/>
          <p:nvPr/>
        </p:nvSpPr>
        <p:spPr>
          <a:xfrm>
            <a:off x="2724912" y="1188720"/>
            <a:ext cx="2130552" cy="2743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511296" y="1371600"/>
            <a:ext cx="566928" cy="56692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000" b="1" i="0">
                <a:solidFill>
                  <a:srgbClr val="FFFFFF"/>
                </a:solidFill>
                <a:latin typeface="Calibri"/>
              </a:rPr>
              <a:t>2</a:t>
            </a:r>
          </a:p>
        </p:txBody>
      </p:sp>
      <p:sp>
        <p:nvSpPr>
          <p:cNvPr id="16" name="TextBox 15"/>
          <p:cNvSpPr txBox="1"/>
          <p:nvPr/>
        </p:nvSpPr>
        <p:spPr>
          <a:xfrm>
            <a:off x="2798064" y="2057400"/>
            <a:ext cx="1984248" cy="777240"/>
          </a:xfrm>
          <a:prstGeom prst="rect">
            <a:avLst/>
          </a:prstGeom>
          <a:noFill/>
        </p:spPr>
        <p:txBody>
          <a:bodyPr wrap="square" anchor="ctr">
            <a:spAutoFit/>
          </a:bodyPr>
          <a:lstStyle/>
          <a:p>
            <a:pPr algn="ctr">
              <a:spcAft>
                <a:spcPts val="0"/>
              </a:spcAft>
            </a:pPr>
            <a:r>
              <a:rPr sz="1600" b="1" i="0">
                <a:solidFill>
                  <a:srgbClr val="002060"/>
                </a:solidFill>
                <a:latin typeface="Calibri"/>
              </a:rPr>
              <a:t>Broad network access</a:t>
            </a:r>
          </a:p>
        </p:txBody>
      </p:sp>
      <p:sp>
        <p:nvSpPr>
          <p:cNvPr id="17" name="TextBox 16"/>
          <p:cNvSpPr txBox="1"/>
          <p:nvPr/>
        </p:nvSpPr>
        <p:spPr>
          <a:xfrm>
            <a:off x="2798064" y="2834640"/>
            <a:ext cx="1984248" cy="1051560"/>
          </a:xfrm>
          <a:prstGeom prst="rect">
            <a:avLst/>
          </a:prstGeom>
          <a:noFill/>
        </p:spPr>
        <p:txBody>
          <a:bodyPr wrap="square" anchor="t">
            <a:spAutoFit/>
          </a:bodyPr>
          <a:lstStyle/>
          <a:p>
            <a:pPr algn="ctr">
              <a:spcAft>
                <a:spcPts val="0"/>
              </a:spcAft>
            </a:pPr>
            <a:r>
              <a:rPr sz="1400" b="0" i="0">
                <a:solidFill>
                  <a:srgbClr val="262626"/>
                </a:solidFill>
                <a:latin typeface="Calibri"/>
              </a:rPr>
              <a:t>Readers use browsers and phones</a:t>
            </a:r>
          </a:p>
        </p:txBody>
      </p:sp>
      <p:sp>
        <p:nvSpPr>
          <p:cNvPr id="18" name="Resource pooling"/>
          <p:cNvSpPr/>
          <p:nvPr/>
        </p:nvSpPr>
        <p:spPr>
          <a:xfrm>
            <a:off x="4992624" y="1188720"/>
            <a:ext cx="2130552" cy="2743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779008" y="1371600"/>
            <a:ext cx="566928" cy="56692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000" b="1" i="0">
                <a:solidFill>
                  <a:srgbClr val="FFFFFF"/>
                </a:solidFill>
                <a:latin typeface="Calibri"/>
              </a:rPr>
              <a:t>3</a:t>
            </a:r>
          </a:p>
        </p:txBody>
      </p:sp>
      <p:sp>
        <p:nvSpPr>
          <p:cNvPr id="20" name="TextBox 19"/>
          <p:cNvSpPr txBox="1"/>
          <p:nvPr/>
        </p:nvSpPr>
        <p:spPr>
          <a:xfrm>
            <a:off x="5065776" y="2057400"/>
            <a:ext cx="1984248" cy="777240"/>
          </a:xfrm>
          <a:prstGeom prst="rect">
            <a:avLst/>
          </a:prstGeom>
          <a:noFill/>
        </p:spPr>
        <p:txBody>
          <a:bodyPr wrap="square" anchor="ctr">
            <a:spAutoFit/>
          </a:bodyPr>
          <a:lstStyle/>
          <a:p>
            <a:pPr algn="ctr">
              <a:spcAft>
                <a:spcPts val="0"/>
              </a:spcAft>
            </a:pPr>
            <a:r>
              <a:rPr sz="1600" b="1" i="0">
                <a:solidFill>
                  <a:srgbClr val="002060"/>
                </a:solidFill>
                <a:latin typeface="Calibri"/>
              </a:rPr>
              <a:t>Resource pooling</a:t>
            </a:r>
          </a:p>
        </p:txBody>
      </p:sp>
      <p:sp>
        <p:nvSpPr>
          <p:cNvPr id="21" name="TextBox 20"/>
          <p:cNvSpPr txBox="1"/>
          <p:nvPr/>
        </p:nvSpPr>
        <p:spPr>
          <a:xfrm>
            <a:off x="5065776" y="2834640"/>
            <a:ext cx="1984248" cy="1051560"/>
          </a:xfrm>
          <a:prstGeom prst="rect">
            <a:avLst/>
          </a:prstGeom>
          <a:noFill/>
        </p:spPr>
        <p:txBody>
          <a:bodyPr wrap="square" anchor="t">
            <a:spAutoFit/>
          </a:bodyPr>
          <a:lstStyle/>
          <a:p>
            <a:pPr algn="ctr">
              <a:spcAft>
                <a:spcPts val="0"/>
              </a:spcAft>
            </a:pPr>
            <a:r>
              <a:rPr sz="1400" b="0" i="0">
                <a:solidFill>
                  <a:srgbClr val="262626"/>
                </a:solidFill>
                <a:latin typeface="Calibri"/>
              </a:rPr>
              <a:t>Fargate tasks share hosts with other customers</a:t>
            </a:r>
          </a:p>
        </p:txBody>
      </p:sp>
      <p:sp>
        <p:nvSpPr>
          <p:cNvPr id="22" name="Rapid elasticity"/>
          <p:cNvSpPr/>
          <p:nvPr/>
        </p:nvSpPr>
        <p:spPr>
          <a:xfrm>
            <a:off x="7260336" y="1188720"/>
            <a:ext cx="2130552" cy="2743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046719" y="1371600"/>
            <a:ext cx="566928" cy="56692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000" b="1" i="0">
                <a:solidFill>
                  <a:srgbClr val="FFFFFF"/>
                </a:solidFill>
                <a:latin typeface="Calibri"/>
              </a:rPr>
              <a:t>4</a:t>
            </a:r>
          </a:p>
        </p:txBody>
      </p:sp>
      <p:sp>
        <p:nvSpPr>
          <p:cNvPr id="24" name="TextBox 23"/>
          <p:cNvSpPr txBox="1"/>
          <p:nvPr/>
        </p:nvSpPr>
        <p:spPr>
          <a:xfrm>
            <a:off x="7333488" y="2057400"/>
            <a:ext cx="1984248" cy="777240"/>
          </a:xfrm>
          <a:prstGeom prst="rect">
            <a:avLst/>
          </a:prstGeom>
          <a:noFill/>
        </p:spPr>
        <p:txBody>
          <a:bodyPr wrap="square" anchor="ctr">
            <a:spAutoFit/>
          </a:bodyPr>
          <a:lstStyle/>
          <a:p>
            <a:pPr algn="ctr">
              <a:spcAft>
                <a:spcPts val="0"/>
              </a:spcAft>
            </a:pPr>
            <a:r>
              <a:rPr sz="1600" b="1" i="0">
                <a:solidFill>
                  <a:srgbClr val="002060"/>
                </a:solidFill>
                <a:latin typeface="Calibri"/>
              </a:rPr>
              <a:t>Rapid elasticity</a:t>
            </a:r>
          </a:p>
        </p:txBody>
      </p:sp>
      <p:sp>
        <p:nvSpPr>
          <p:cNvPr id="25" name="TextBox 24"/>
          <p:cNvSpPr txBox="1"/>
          <p:nvPr/>
        </p:nvSpPr>
        <p:spPr>
          <a:xfrm>
            <a:off x="7333488" y="2834640"/>
            <a:ext cx="1984248" cy="1051560"/>
          </a:xfrm>
          <a:prstGeom prst="rect">
            <a:avLst/>
          </a:prstGeom>
          <a:noFill/>
        </p:spPr>
        <p:txBody>
          <a:bodyPr wrap="square" anchor="t">
            <a:spAutoFit/>
          </a:bodyPr>
          <a:lstStyle/>
          <a:p>
            <a:pPr algn="ctr">
              <a:spcAft>
                <a:spcPts val="0"/>
              </a:spcAft>
            </a:pPr>
            <a:r>
              <a:rPr sz="1400" b="0" i="0">
                <a:solidFill>
                  <a:srgbClr val="262626"/>
                </a:solidFill>
                <a:latin typeface="Calibri"/>
              </a:rPr>
              <a:t>ECS adds tasks above 60% CPU</a:t>
            </a:r>
          </a:p>
        </p:txBody>
      </p:sp>
      <p:sp>
        <p:nvSpPr>
          <p:cNvPr id="26" name="Measured service"/>
          <p:cNvSpPr/>
          <p:nvPr/>
        </p:nvSpPr>
        <p:spPr>
          <a:xfrm>
            <a:off x="9528048" y="1188720"/>
            <a:ext cx="2130552" cy="27432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314432" y="1371600"/>
            <a:ext cx="566928" cy="56692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000" b="1" i="0">
                <a:solidFill>
                  <a:srgbClr val="FFFFFF"/>
                </a:solidFill>
                <a:latin typeface="Calibri"/>
              </a:rPr>
              <a:t>5</a:t>
            </a:r>
          </a:p>
        </p:txBody>
      </p:sp>
      <p:sp>
        <p:nvSpPr>
          <p:cNvPr id="28" name="TextBox 27"/>
          <p:cNvSpPr txBox="1"/>
          <p:nvPr/>
        </p:nvSpPr>
        <p:spPr>
          <a:xfrm>
            <a:off x="9601200" y="2057400"/>
            <a:ext cx="1984248" cy="777240"/>
          </a:xfrm>
          <a:prstGeom prst="rect">
            <a:avLst/>
          </a:prstGeom>
          <a:noFill/>
        </p:spPr>
        <p:txBody>
          <a:bodyPr wrap="square" anchor="ctr">
            <a:spAutoFit/>
          </a:bodyPr>
          <a:lstStyle/>
          <a:p>
            <a:pPr algn="ctr">
              <a:spcAft>
                <a:spcPts val="0"/>
              </a:spcAft>
            </a:pPr>
            <a:r>
              <a:rPr sz="1600" b="1" i="0">
                <a:solidFill>
                  <a:srgbClr val="002060"/>
                </a:solidFill>
                <a:latin typeface="Calibri"/>
              </a:rPr>
              <a:t>Measured service</a:t>
            </a:r>
          </a:p>
        </p:txBody>
      </p:sp>
      <p:sp>
        <p:nvSpPr>
          <p:cNvPr id="29" name="TextBox 28"/>
          <p:cNvSpPr txBox="1"/>
          <p:nvPr/>
        </p:nvSpPr>
        <p:spPr>
          <a:xfrm>
            <a:off x="9601200" y="2834640"/>
            <a:ext cx="1984248" cy="1051560"/>
          </a:xfrm>
          <a:prstGeom prst="rect">
            <a:avLst/>
          </a:prstGeom>
          <a:noFill/>
        </p:spPr>
        <p:txBody>
          <a:bodyPr wrap="square" anchor="t">
            <a:spAutoFit/>
          </a:bodyPr>
          <a:lstStyle/>
          <a:p>
            <a:pPr algn="ctr">
              <a:spcAft>
                <a:spcPts val="0"/>
              </a:spcAft>
            </a:pPr>
            <a:r>
              <a:rPr sz="1400" b="0" i="0">
                <a:solidFill>
                  <a:srgbClr val="262626"/>
                </a:solidFill>
                <a:latin typeface="Calibri"/>
              </a:rPr>
              <a:t>Billed per vCPU-second and per request</a:t>
            </a:r>
          </a:p>
        </p:txBody>
      </p:sp>
      <p:sp>
        <p:nvSpPr>
          <p:cNvPr id="30" name="TextBox 29"/>
          <p:cNvSpPr txBox="1"/>
          <p:nvPr/>
        </p:nvSpPr>
        <p:spPr>
          <a:xfrm>
            <a:off x="457200" y="4160520"/>
            <a:ext cx="5486400" cy="411480"/>
          </a:xfrm>
          <a:prstGeom prst="rect">
            <a:avLst/>
          </a:prstGeom>
          <a:noFill/>
        </p:spPr>
        <p:txBody>
          <a:bodyPr wrap="square" anchor="t">
            <a:spAutoFit/>
          </a:bodyPr>
          <a:lstStyle/>
          <a:p>
            <a:pPr algn="l">
              <a:spcAft>
                <a:spcPts val="0"/>
              </a:spcAft>
            </a:pPr>
            <a:r>
              <a:rPr sz="1600" b="1" i="0">
                <a:solidFill>
                  <a:srgbClr val="002060"/>
                </a:solidFill>
                <a:latin typeface="Calibri"/>
              </a:rPr>
              <a:t>Service models (NIST, 2011)</a:t>
            </a:r>
          </a:p>
        </p:txBody>
      </p:sp>
      <p:sp>
        <p:nvSpPr>
          <p:cNvPr id="31" name="TextBox 30"/>
          <p:cNvSpPr txBox="1"/>
          <p:nvPr/>
        </p:nvSpPr>
        <p:spPr>
          <a:xfrm>
            <a:off x="6263640" y="4160520"/>
            <a:ext cx="5486400" cy="411480"/>
          </a:xfrm>
          <a:prstGeom prst="rect">
            <a:avLst/>
          </a:prstGeom>
          <a:noFill/>
        </p:spPr>
        <p:txBody>
          <a:bodyPr wrap="square" anchor="t">
            <a:spAutoFit/>
          </a:bodyPr>
          <a:lstStyle/>
          <a:p>
            <a:pPr algn="l">
              <a:spcAft>
                <a:spcPts val="0"/>
              </a:spcAft>
            </a:pPr>
            <a:r>
              <a:rPr sz="1600" b="1" i="0">
                <a:solidFill>
                  <a:srgbClr val="002060"/>
                </a:solidFill>
                <a:latin typeface="Calibri"/>
              </a:rPr>
              <a:t>Deployment models</a:t>
            </a:r>
          </a:p>
        </p:txBody>
      </p:sp>
      <p:sp>
        <p:nvSpPr>
          <p:cNvPr id="32" name="IaaS"/>
          <p:cNvSpPr/>
          <p:nvPr/>
        </p:nvSpPr>
        <p:spPr>
          <a:xfrm>
            <a:off x="457200" y="4663440"/>
            <a:ext cx="164592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IaaS</a:t>
            </a:r>
          </a:p>
        </p:txBody>
      </p:sp>
      <p:sp>
        <p:nvSpPr>
          <p:cNvPr id="33" name="PaaS"/>
          <p:cNvSpPr/>
          <p:nvPr/>
        </p:nvSpPr>
        <p:spPr>
          <a:xfrm>
            <a:off x="2240280" y="4663440"/>
            <a:ext cx="164592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PaaS</a:t>
            </a:r>
          </a:p>
        </p:txBody>
      </p:sp>
      <p:sp>
        <p:nvSpPr>
          <p:cNvPr id="34" name="SaaS"/>
          <p:cNvSpPr/>
          <p:nvPr/>
        </p:nvSpPr>
        <p:spPr>
          <a:xfrm>
            <a:off x="4023360" y="4663440"/>
            <a:ext cx="164592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SaaS</a:t>
            </a:r>
          </a:p>
        </p:txBody>
      </p:sp>
      <p:sp>
        <p:nvSpPr>
          <p:cNvPr id="35" name="FaaS"/>
          <p:cNvSpPr/>
          <p:nvPr/>
        </p:nvSpPr>
        <p:spPr>
          <a:xfrm>
            <a:off x="457200" y="5440680"/>
            <a:ext cx="1645920" cy="594360"/>
          </a:xfrm>
          <a:prstGeom prst="roundRect">
            <a:avLst>
              <a:gd name="adj" fmla="val 25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FaaS</a:t>
            </a:r>
          </a:p>
        </p:txBody>
      </p:sp>
      <p:sp>
        <p:nvSpPr>
          <p:cNvPr id="36" name="CaaS"/>
          <p:cNvSpPr/>
          <p:nvPr/>
        </p:nvSpPr>
        <p:spPr>
          <a:xfrm>
            <a:off x="2240280" y="5440680"/>
            <a:ext cx="1645920" cy="594360"/>
          </a:xfrm>
          <a:prstGeom prst="roundRect">
            <a:avLst>
              <a:gd name="adj" fmla="val 25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700" b="1" i="0">
                <a:solidFill>
                  <a:srgbClr val="FFFFFF"/>
                </a:solidFill>
                <a:latin typeface="Calibri"/>
              </a:rPr>
              <a:t>CaaS</a:t>
            </a:r>
          </a:p>
        </p:txBody>
      </p:sp>
      <p:sp>
        <p:nvSpPr>
          <p:cNvPr id="37" name="TextBox 36"/>
          <p:cNvSpPr txBox="1"/>
          <p:nvPr/>
        </p:nvSpPr>
        <p:spPr>
          <a:xfrm>
            <a:off x="4023360" y="5440680"/>
            <a:ext cx="2011680" cy="685800"/>
          </a:xfrm>
          <a:prstGeom prst="rect">
            <a:avLst/>
          </a:prstGeom>
          <a:noFill/>
        </p:spPr>
        <p:txBody>
          <a:bodyPr wrap="square" anchor="ctr">
            <a:spAutoFit/>
          </a:bodyPr>
          <a:lstStyle/>
          <a:p>
            <a:pPr algn="l">
              <a:spcAft>
                <a:spcPts val="0"/>
              </a:spcAft>
            </a:pPr>
            <a:r>
              <a:rPr sz="1300" b="0" i="1">
                <a:solidFill>
                  <a:srgbClr val="595959"/>
                </a:solidFill>
                <a:latin typeface="Calibri"/>
              </a:rPr>
              <a:t>added by industry since 2011</a:t>
            </a:r>
          </a:p>
        </p:txBody>
      </p:sp>
      <p:sp>
        <p:nvSpPr>
          <p:cNvPr id="38" name="Private"/>
          <p:cNvSpPr/>
          <p:nvPr/>
        </p:nvSpPr>
        <p:spPr>
          <a:xfrm>
            <a:off x="6263640" y="4663440"/>
            <a:ext cx="2606040" cy="594360"/>
          </a:xfrm>
          <a:prstGeom prst="roundRect">
            <a:avLst>
              <a:gd name="adj" fmla="val 25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002060"/>
                </a:solidFill>
                <a:latin typeface="Calibri"/>
              </a:rPr>
              <a:t>Private</a:t>
            </a:r>
          </a:p>
        </p:txBody>
      </p:sp>
      <p:sp>
        <p:nvSpPr>
          <p:cNvPr id="39" name="Community"/>
          <p:cNvSpPr/>
          <p:nvPr/>
        </p:nvSpPr>
        <p:spPr>
          <a:xfrm>
            <a:off x="9006840" y="4663440"/>
            <a:ext cx="2606040" cy="594360"/>
          </a:xfrm>
          <a:prstGeom prst="roundRect">
            <a:avLst>
              <a:gd name="adj" fmla="val 25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002060"/>
                </a:solidFill>
                <a:latin typeface="Calibri"/>
              </a:rPr>
              <a:t>Community</a:t>
            </a:r>
          </a:p>
        </p:txBody>
      </p:sp>
      <p:sp>
        <p:nvSpPr>
          <p:cNvPr id="40" name="Public"/>
          <p:cNvSpPr/>
          <p:nvPr/>
        </p:nvSpPr>
        <p:spPr>
          <a:xfrm>
            <a:off x="6263640" y="5440679"/>
            <a:ext cx="2606040" cy="59436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Public (BookStash)</a:t>
            </a:r>
          </a:p>
        </p:txBody>
      </p:sp>
      <p:sp>
        <p:nvSpPr>
          <p:cNvPr id="41" name="Hybrid"/>
          <p:cNvSpPr/>
          <p:nvPr/>
        </p:nvSpPr>
        <p:spPr>
          <a:xfrm>
            <a:off x="9006840" y="5440679"/>
            <a:ext cx="2606040" cy="594360"/>
          </a:xfrm>
          <a:prstGeom prst="roundRect">
            <a:avLst>
              <a:gd name="adj" fmla="val 25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002060"/>
                </a:solidFill>
                <a:latin typeface="Calibri"/>
              </a:rPr>
              <a:t>Hybrid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1.3</a:t>
            </a:r>
            <a:r>
              <a:rPr sz="2400" b="1" i="0">
                <a:solidFill>
                  <a:srgbClr val="FFFFFF"/>
                </a:solidFill>
                <a:latin typeface="Calibri"/>
              </a:rPr>
              <a:t> Who Manages What in Each Model</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7.png"/>
          <p:cNvPicPr>
            <a:picLocks noChangeAspect="1"/>
          </p:cNvPicPr>
          <p:nvPr/>
        </p:nvPicPr>
        <p:blipFill>
          <a:blip r:embed="rId4"/>
          <a:stretch>
            <a:fillRect/>
          </a:stretch>
        </p:blipFill>
        <p:spPr>
          <a:xfrm>
            <a:off x="457200" y="1143000"/>
            <a:ext cx="7223760" cy="4514850"/>
          </a:xfrm>
          <a:prstGeom prst="rect">
            <a:avLst/>
          </a:prstGeom>
          <a:ln w="9525">
            <a:solidFill>
              <a:srgbClr val="D9D9D9"/>
            </a:solidFill>
          </a:ln>
        </p:spPr>
      </p:pic>
      <p:sp>
        <p:nvSpPr>
          <p:cNvPr id="11" name="TextBox 10"/>
          <p:cNvSpPr txBox="1"/>
          <p:nvPr/>
        </p:nvSpPr>
        <p:spPr>
          <a:xfrm>
            <a:off x="8001000" y="1188720"/>
            <a:ext cx="3749039" cy="5029200"/>
          </a:xfrm>
          <a:prstGeom prst="rect">
            <a:avLst/>
          </a:prstGeom>
          <a:noFill/>
        </p:spPr>
        <p:txBody>
          <a:bodyPr wrap="square" anchor="t">
            <a:spAutoFit/>
          </a:bodyPr>
          <a:lstStyle/>
          <a:p>
            <a:pPr algn="l">
              <a:spcAft>
                <a:spcPts val="800"/>
              </a:spcAft>
            </a:pPr>
            <a:r>
              <a:rPr sz="1800" b="1" i="0">
                <a:solidFill>
                  <a:srgbClr val="002060"/>
                </a:solidFill>
                <a:latin typeface="Calibri"/>
              </a:rPr>
              <a:t>Reading the stack</a:t>
            </a:r>
          </a:p>
          <a:p>
            <a:pPr marL="228600" indent="-228600" algn="l">
              <a:spcAft>
                <a:spcPts val="800"/>
              </a:spcAft>
              <a:buClr>
                <a:srgbClr val="E97132"/>
              </a:buClr>
              <a:buFont typeface="Arial"/>
              <a:buChar char="•"/>
            </a:pPr>
            <a:r>
              <a:rPr sz="1500" b="0" i="0">
                <a:solidFill>
                  <a:srgbClr val="262626"/>
                </a:solidFill>
                <a:latin typeface="Calibri"/>
              </a:rPr>
              <a:t>IaaS (EC2): you patch the OS, install runtimes and scale machines</a:t>
            </a:r>
          </a:p>
          <a:p>
            <a:pPr marL="228600" indent="-228600" algn="l">
              <a:spcAft>
                <a:spcPts val="800"/>
              </a:spcAft>
              <a:buClr>
                <a:srgbClr val="E97132"/>
              </a:buClr>
              <a:buFont typeface="Arial"/>
              <a:buChar char="•"/>
            </a:pPr>
            <a:r>
              <a:rPr sz="1500" b="0" i="0">
                <a:solidFill>
                  <a:srgbClr val="262626"/>
                </a:solidFill>
                <a:latin typeface="Calibri"/>
              </a:rPr>
              <a:t>CaaS (Fargate): you own the image; AWS owns the hosts</a:t>
            </a:r>
          </a:p>
          <a:p>
            <a:pPr marL="228600" indent="-228600" algn="l">
              <a:spcAft>
                <a:spcPts val="800"/>
              </a:spcAft>
              <a:buClr>
                <a:srgbClr val="E97132"/>
              </a:buClr>
              <a:buFont typeface="Arial"/>
              <a:buChar char="•"/>
            </a:pPr>
            <a:r>
              <a:rPr sz="1500" b="0" i="0">
                <a:solidFill>
                  <a:srgbClr val="262626"/>
                </a:solidFill>
                <a:latin typeface="Calibri"/>
              </a:rPr>
              <a:t>PaaS (Beanstalk): you supply code and configuration</a:t>
            </a:r>
          </a:p>
          <a:p>
            <a:pPr marL="228600" indent="-228600" algn="l">
              <a:spcAft>
                <a:spcPts val="800"/>
              </a:spcAft>
              <a:buClr>
                <a:srgbClr val="E97132"/>
              </a:buClr>
              <a:buFont typeface="Arial"/>
              <a:buChar char="•"/>
            </a:pPr>
            <a:r>
              <a:rPr sz="1500" b="0" i="0">
                <a:solidFill>
                  <a:srgbClr val="262626"/>
                </a:solidFill>
                <a:latin typeface="Calibri"/>
              </a:rPr>
              <a:t>FaaS (Lambda): the function is the unit; scales to zero</a:t>
            </a:r>
          </a:p>
          <a:p>
            <a:pPr marL="228600" indent="-228600" algn="l">
              <a:spcAft>
                <a:spcPts val="0"/>
              </a:spcAft>
              <a:buClr>
                <a:srgbClr val="E97132"/>
              </a:buClr>
              <a:buFont typeface="Arial"/>
              <a:buChar char="•"/>
            </a:pPr>
            <a:r>
              <a:rPr sz="1500" b="0" i="0">
                <a:solidFill>
                  <a:srgbClr val="262626"/>
                </a:solidFill>
                <a:latin typeface="Calibri"/>
              </a:rPr>
              <a:t>SaaS: you configure users and data only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1.3</a:t>
            </a:r>
            <a:r>
              <a:rPr sz="2400" b="1" i="0">
                <a:solidFill>
                  <a:srgbClr val="FFFFFF"/>
                </a:solidFill>
                <a:latin typeface="Calibri"/>
              </a:rPr>
              <a:t> Five Service Models Side by Side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IaaS head"/>
          <p:cNvSpPr/>
          <p:nvPr/>
        </p:nvSpPr>
        <p:spPr>
          <a:xfrm>
            <a:off x="457200" y="1188720"/>
            <a:ext cx="2130552" cy="68580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2200" b="1" i="0">
                <a:solidFill>
                  <a:srgbClr val="FFFFFF"/>
                </a:solidFill>
                <a:latin typeface="Calibri"/>
              </a:rPr>
              <a:t>IaaS</a:t>
            </a:r>
          </a:p>
        </p:txBody>
      </p:sp>
      <p:sp>
        <p:nvSpPr>
          <p:cNvPr id="11" name="IaaS body"/>
          <p:cNvSpPr/>
          <p:nvPr/>
        </p:nvSpPr>
        <p:spPr>
          <a:xfrm>
            <a:off x="457200" y="1874519"/>
            <a:ext cx="2130552" cy="43434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96596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Provider runs</a:t>
            </a:r>
          </a:p>
          <a:p>
            <a:pPr algn="l">
              <a:spcAft>
                <a:spcPts val="0"/>
              </a:spcAft>
            </a:pPr>
            <a:r>
              <a:rPr sz="1600" b="0" i="0">
                <a:solidFill>
                  <a:srgbClr val="262626"/>
                </a:solidFill>
                <a:latin typeface="Calibri"/>
              </a:rPr>
              <a:t>VMs, disks, networks</a:t>
            </a:r>
          </a:p>
        </p:txBody>
      </p:sp>
      <p:sp>
        <p:nvSpPr>
          <p:cNvPr id="13" name="TextBox 12"/>
          <p:cNvSpPr txBox="1"/>
          <p:nvPr/>
        </p:nvSpPr>
        <p:spPr>
          <a:xfrm>
            <a:off x="530352" y="301752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You manage</a:t>
            </a:r>
          </a:p>
          <a:p>
            <a:pPr algn="l">
              <a:spcAft>
                <a:spcPts val="0"/>
              </a:spcAft>
            </a:pPr>
            <a:r>
              <a:rPr sz="1600" b="0" i="0">
                <a:solidFill>
                  <a:srgbClr val="262626"/>
                </a:solidFill>
                <a:latin typeface="Calibri"/>
              </a:rPr>
              <a:t>OS upwards</a:t>
            </a:r>
          </a:p>
        </p:txBody>
      </p:sp>
      <p:sp>
        <p:nvSpPr>
          <p:cNvPr id="14" name="TextBox 13"/>
          <p:cNvSpPr txBox="1"/>
          <p:nvPr/>
        </p:nvSpPr>
        <p:spPr>
          <a:xfrm>
            <a:off x="530352" y="4069079"/>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Example</a:t>
            </a:r>
          </a:p>
          <a:p>
            <a:pPr algn="l">
              <a:spcAft>
                <a:spcPts val="0"/>
              </a:spcAft>
            </a:pPr>
            <a:r>
              <a:rPr sz="1600" b="0" i="0">
                <a:solidFill>
                  <a:srgbClr val="262626"/>
                </a:solidFill>
                <a:latin typeface="Calibri"/>
              </a:rPr>
              <a:t>Amazon EC2</a:t>
            </a:r>
          </a:p>
        </p:txBody>
      </p:sp>
      <p:sp>
        <p:nvSpPr>
          <p:cNvPr id="15" name="TextBox 14"/>
          <p:cNvSpPr txBox="1"/>
          <p:nvPr/>
        </p:nvSpPr>
        <p:spPr>
          <a:xfrm>
            <a:off x="530352" y="512064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BookStash</a:t>
            </a:r>
          </a:p>
          <a:p>
            <a:pPr algn="l">
              <a:spcAft>
                <a:spcPts val="0"/>
              </a:spcAft>
            </a:pPr>
            <a:r>
              <a:rPr sz="1600" b="1" i="0">
                <a:solidFill>
                  <a:srgbClr val="002060"/>
                </a:solidFill>
                <a:latin typeface="Calibri"/>
              </a:rPr>
              <a:t>Not used</a:t>
            </a:r>
          </a:p>
        </p:txBody>
      </p:sp>
      <p:sp>
        <p:nvSpPr>
          <p:cNvPr id="16" name="CaaS head"/>
          <p:cNvSpPr/>
          <p:nvPr/>
        </p:nvSpPr>
        <p:spPr>
          <a:xfrm>
            <a:off x="2724912" y="1188720"/>
            <a:ext cx="2130552" cy="685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2200" b="1" i="0">
                <a:solidFill>
                  <a:srgbClr val="FFFFFF"/>
                </a:solidFill>
                <a:latin typeface="Calibri"/>
              </a:rPr>
              <a:t>CaaS</a:t>
            </a:r>
          </a:p>
        </p:txBody>
      </p:sp>
      <p:sp>
        <p:nvSpPr>
          <p:cNvPr id="17" name="CaaS body"/>
          <p:cNvSpPr/>
          <p:nvPr/>
        </p:nvSpPr>
        <p:spPr>
          <a:xfrm>
            <a:off x="2724912" y="1874519"/>
            <a:ext cx="2130552" cy="43434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98064" y="196596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Provider runs</a:t>
            </a:r>
          </a:p>
          <a:p>
            <a:pPr algn="l">
              <a:spcAft>
                <a:spcPts val="0"/>
              </a:spcAft>
            </a:pPr>
            <a:r>
              <a:rPr sz="1600" b="0" i="0">
                <a:solidFill>
                  <a:srgbClr val="262626"/>
                </a:solidFill>
                <a:latin typeface="Calibri"/>
              </a:rPr>
              <a:t>Orchestration and hosts</a:t>
            </a:r>
          </a:p>
        </p:txBody>
      </p:sp>
      <p:sp>
        <p:nvSpPr>
          <p:cNvPr id="19" name="TextBox 18"/>
          <p:cNvSpPr txBox="1"/>
          <p:nvPr/>
        </p:nvSpPr>
        <p:spPr>
          <a:xfrm>
            <a:off x="2798064" y="301752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You manage</a:t>
            </a:r>
          </a:p>
          <a:p>
            <a:pPr algn="l">
              <a:spcAft>
                <a:spcPts val="0"/>
              </a:spcAft>
            </a:pPr>
            <a:r>
              <a:rPr sz="1600" b="0" i="0">
                <a:solidFill>
                  <a:srgbClr val="262626"/>
                </a:solidFill>
                <a:latin typeface="Calibri"/>
              </a:rPr>
              <a:t>Container image</a:t>
            </a:r>
          </a:p>
        </p:txBody>
      </p:sp>
      <p:sp>
        <p:nvSpPr>
          <p:cNvPr id="20" name="TextBox 19"/>
          <p:cNvSpPr txBox="1"/>
          <p:nvPr/>
        </p:nvSpPr>
        <p:spPr>
          <a:xfrm>
            <a:off x="2798064" y="4069079"/>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Example</a:t>
            </a:r>
          </a:p>
          <a:p>
            <a:pPr algn="l">
              <a:spcAft>
                <a:spcPts val="0"/>
              </a:spcAft>
            </a:pPr>
            <a:r>
              <a:rPr sz="1600" b="0" i="0">
                <a:solidFill>
                  <a:srgbClr val="262626"/>
                </a:solidFill>
                <a:latin typeface="Calibri"/>
              </a:rPr>
              <a:t>ECS on Fargate</a:t>
            </a:r>
          </a:p>
        </p:txBody>
      </p:sp>
      <p:sp>
        <p:nvSpPr>
          <p:cNvPr id="21" name="TextBox 20"/>
          <p:cNvSpPr txBox="1"/>
          <p:nvPr/>
        </p:nvSpPr>
        <p:spPr>
          <a:xfrm>
            <a:off x="2798064" y="512064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BookStash</a:t>
            </a:r>
          </a:p>
          <a:p>
            <a:pPr algn="l">
              <a:spcAft>
                <a:spcPts val="0"/>
              </a:spcAft>
            </a:pPr>
            <a:r>
              <a:rPr sz="1600" b="1" i="0">
                <a:solidFill>
                  <a:srgbClr val="002060"/>
                </a:solidFill>
                <a:latin typeface="Calibri"/>
              </a:rPr>
              <a:t>API and worker</a:t>
            </a:r>
          </a:p>
        </p:txBody>
      </p:sp>
      <p:sp>
        <p:nvSpPr>
          <p:cNvPr id="22" name="PaaS head"/>
          <p:cNvSpPr/>
          <p:nvPr/>
        </p:nvSpPr>
        <p:spPr>
          <a:xfrm>
            <a:off x="4992624" y="1188720"/>
            <a:ext cx="2130552" cy="68580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2200" b="1" i="0">
                <a:solidFill>
                  <a:srgbClr val="FFFFFF"/>
                </a:solidFill>
                <a:latin typeface="Calibri"/>
              </a:rPr>
              <a:t>PaaS</a:t>
            </a:r>
          </a:p>
        </p:txBody>
      </p:sp>
      <p:sp>
        <p:nvSpPr>
          <p:cNvPr id="23" name="PaaS body"/>
          <p:cNvSpPr/>
          <p:nvPr/>
        </p:nvSpPr>
        <p:spPr>
          <a:xfrm>
            <a:off x="4992624" y="1874519"/>
            <a:ext cx="2130552" cy="43434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65776" y="196596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Provider runs</a:t>
            </a:r>
          </a:p>
          <a:p>
            <a:pPr algn="l">
              <a:spcAft>
                <a:spcPts val="0"/>
              </a:spcAft>
            </a:pPr>
            <a:r>
              <a:rPr sz="1600" b="0" i="0">
                <a:solidFill>
                  <a:srgbClr val="262626"/>
                </a:solidFill>
                <a:latin typeface="Calibri"/>
              </a:rPr>
              <a:t>OS, runtime, scaling</a:t>
            </a:r>
          </a:p>
        </p:txBody>
      </p:sp>
      <p:sp>
        <p:nvSpPr>
          <p:cNvPr id="25" name="TextBox 24"/>
          <p:cNvSpPr txBox="1"/>
          <p:nvPr/>
        </p:nvSpPr>
        <p:spPr>
          <a:xfrm>
            <a:off x="5065776" y="301752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You manage</a:t>
            </a:r>
          </a:p>
          <a:p>
            <a:pPr algn="l">
              <a:spcAft>
                <a:spcPts val="0"/>
              </a:spcAft>
            </a:pPr>
            <a:r>
              <a:rPr sz="1600" b="0" i="0">
                <a:solidFill>
                  <a:srgbClr val="262626"/>
                </a:solidFill>
                <a:latin typeface="Calibri"/>
              </a:rPr>
              <a:t>Code and config</a:t>
            </a:r>
          </a:p>
        </p:txBody>
      </p:sp>
      <p:sp>
        <p:nvSpPr>
          <p:cNvPr id="26" name="TextBox 25"/>
          <p:cNvSpPr txBox="1"/>
          <p:nvPr/>
        </p:nvSpPr>
        <p:spPr>
          <a:xfrm>
            <a:off x="5065776" y="4069079"/>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Example</a:t>
            </a:r>
          </a:p>
          <a:p>
            <a:pPr algn="l">
              <a:spcAft>
                <a:spcPts val="0"/>
              </a:spcAft>
            </a:pPr>
            <a:r>
              <a:rPr sz="1600" b="0" i="0">
                <a:solidFill>
                  <a:srgbClr val="262626"/>
                </a:solidFill>
                <a:latin typeface="Calibri"/>
              </a:rPr>
              <a:t>Elastic Beanstalk</a:t>
            </a:r>
          </a:p>
        </p:txBody>
      </p:sp>
      <p:sp>
        <p:nvSpPr>
          <p:cNvPr id="27" name="TextBox 26"/>
          <p:cNvSpPr txBox="1"/>
          <p:nvPr/>
        </p:nvSpPr>
        <p:spPr>
          <a:xfrm>
            <a:off x="5065776" y="512064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BookStash</a:t>
            </a:r>
          </a:p>
          <a:p>
            <a:pPr algn="l">
              <a:spcAft>
                <a:spcPts val="0"/>
              </a:spcAft>
            </a:pPr>
            <a:r>
              <a:rPr sz="1600" b="1" i="0">
                <a:solidFill>
                  <a:srgbClr val="002060"/>
                </a:solidFill>
                <a:latin typeface="Calibri"/>
              </a:rPr>
              <a:t>Not used</a:t>
            </a:r>
          </a:p>
        </p:txBody>
      </p:sp>
      <p:sp>
        <p:nvSpPr>
          <p:cNvPr id="28" name="FaaS head"/>
          <p:cNvSpPr/>
          <p:nvPr/>
        </p:nvSpPr>
        <p:spPr>
          <a:xfrm>
            <a:off x="7260336" y="1188720"/>
            <a:ext cx="2130552" cy="685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2200" b="1" i="0">
                <a:solidFill>
                  <a:srgbClr val="FFFFFF"/>
                </a:solidFill>
                <a:latin typeface="Calibri"/>
              </a:rPr>
              <a:t>FaaS</a:t>
            </a:r>
          </a:p>
        </p:txBody>
      </p:sp>
      <p:sp>
        <p:nvSpPr>
          <p:cNvPr id="29" name="FaaS body"/>
          <p:cNvSpPr/>
          <p:nvPr/>
        </p:nvSpPr>
        <p:spPr>
          <a:xfrm>
            <a:off x="7260336" y="1874519"/>
            <a:ext cx="2130552" cy="43434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33488" y="196596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Provider runs</a:t>
            </a:r>
          </a:p>
          <a:p>
            <a:pPr algn="l">
              <a:spcAft>
                <a:spcPts val="0"/>
              </a:spcAft>
            </a:pPr>
            <a:r>
              <a:rPr sz="1600" b="0" i="0">
                <a:solidFill>
                  <a:srgbClr val="262626"/>
                </a:solidFill>
                <a:latin typeface="Calibri"/>
              </a:rPr>
              <a:t>Everything but the function</a:t>
            </a:r>
          </a:p>
        </p:txBody>
      </p:sp>
      <p:sp>
        <p:nvSpPr>
          <p:cNvPr id="31" name="TextBox 30"/>
          <p:cNvSpPr txBox="1"/>
          <p:nvPr/>
        </p:nvSpPr>
        <p:spPr>
          <a:xfrm>
            <a:off x="7333488" y="301752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You manage</a:t>
            </a:r>
          </a:p>
          <a:p>
            <a:pPr algn="l">
              <a:spcAft>
                <a:spcPts val="0"/>
              </a:spcAft>
            </a:pPr>
            <a:r>
              <a:rPr sz="1600" b="0" i="0">
                <a:solidFill>
                  <a:srgbClr val="262626"/>
                </a:solidFill>
                <a:latin typeface="Calibri"/>
              </a:rPr>
              <a:t>Function code</a:t>
            </a:r>
          </a:p>
        </p:txBody>
      </p:sp>
      <p:sp>
        <p:nvSpPr>
          <p:cNvPr id="32" name="TextBox 31"/>
          <p:cNvSpPr txBox="1"/>
          <p:nvPr/>
        </p:nvSpPr>
        <p:spPr>
          <a:xfrm>
            <a:off x="7333488" y="4069079"/>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Example</a:t>
            </a:r>
          </a:p>
          <a:p>
            <a:pPr algn="l">
              <a:spcAft>
                <a:spcPts val="0"/>
              </a:spcAft>
            </a:pPr>
            <a:r>
              <a:rPr sz="1600" b="0" i="0">
                <a:solidFill>
                  <a:srgbClr val="262626"/>
                </a:solidFill>
                <a:latin typeface="Calibri"/>
              </a:rPr>
              <a:t>AWS Lambda</a:t>
            </a:r>
          </a:p>
        </p:txBody>
      </p:sp>
      <p:sp>
        <p:nvSpPr>
          <p:cNvPr id="33" name="TextBox 32"/>
          <p:cNvSpPr txBox="1"/>
          <p:nvPr/>
        </p:nvSpPr>
        <p:spPr>
          <a:xfrm>
            <a:off x="7333488" y="512064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BookStash</a:t>
            </a:r>
          </a:p>
          <a:p>
            <a:pPr algn="l">
              <a:spcAft>
                <a:spcPts val="0"/>
              </a:spcAft>
            </a:pPr>
            <a:r>
              <a:rPr sz="1600" b="1" i="0">
                <a:solidFill>
                  <a:srgbClr val="002060"/>
                </a:solidFill>
                <a:latin typeface="Calibri"/>
              </a:rPr>
              <a:t>Cover thumbnails</a:t>
            </a:r>
          </a:p>
        </p:txBody>
      </p:sp>
      <p:sp>
        <p:nvSpPr>
          <p:cNvPr id="34" name="SaaS head"/>
          <p:cNvSpPr/>
          <p:nvPr/>
        </p:nvSpPr>
        <p:spPr>
          <a:xfrm>
            <a:off x="9528048" y="1188720"/>
            <a:ext cx="2130552" cy="685800"/>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2200" b="1" i="0">
                <a:solidFill>
                  <a:srgbClr val="FFFFFF"/>
                </a:solidFill>
                <a:latin typeface="Calibri"/>
              </a:rPr>
              <a:t>SaaS</a:t>
            </a:r>
          </a:p>
        </p:txBody>
      </p:sp>
      <p:sp>
        <p:nvSpPr>
          <p:cNvPr id="35" name="SaaS body"/>
          <p:cNvSpPr/>
          <p:nvPr/>
        </p:nvSpPr>
        <p:spPr>
          <a:xfrm>
            <a:off x="9528048" y="1874519"/>
            <a:ext cx="2130552" cy="43434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601200" y="196596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Provider runs</a:t>
            </a:r>
          </a:p>
          <a:p>
            <a:pPr algn="l">
              <a:spcAft>
                <a:spcPts val="0"/>
              </a:spcAft>
            </a:pPr>
            <a:r>
              <a:rPr sz="1600" b="0" i="0">
                <a:solidFill>
                  <a:srgbClr val="262626"/>
                </a:solidFill>
                <a:latin typeface="Calibri"/>
              </a:rPr>
              <a:t>Whole application</a:t>
            </a:r>
          </a:p>
        </p:txBody>
      </p:sp>
      <p:sp>
        <p:nvSpPr>
          <p:cNvPr id="37" name="TextBox 36"/>
          <p:cNvSpPr txBox="1"/>
          <p:nvPr/>
        </p:nvSpPr>
        <p:spPr>
          <a:xfrm>
            <a:off x="9601200" y="301752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You manage</a:t>
            </a:r>
          </a:p>
          <a:p>
            <a:pPr algn="l">
              <a:spcAft>
                <a:spcPts val="0"/>
              </a:spcAft>
            </a:pPr>
            <a:r>
              <a:rPr sz="1600" b="0" i="0">
                <a:solidFill>
                  <a:srgbClr val="262626"/>
                </a:solidFill>
                <a:latin typeface="Calibri"/>
              </a:rPr>
              <a:t>Users and data</a:t>
            </a:r>
          </a:p>
        </p:txBody>
      </p:sp>
      <p:sp>
        <p:nvSpPr>
          <p:cNvPr id="38" name="TextBox 37"/>
          <p:cNvSpPr txBox="1"/>
          <p:nvPr/>
        </p:nvSpPr>
        <p:spPr>
          <a:xfrm>
            <a:off x="9601200" y="4069079"/>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Example</a:t>
            </a:r>
          </a:p>
          <a:p>
            <a:pPr algn="l">
              <a:spcAft>
                <a:spcPts val="0"/>
              </a:spcAft>
            </a:pPr>
            <a:r>
              <a:rPr sz="1600" b="0" i="0">
                <a:solidFill>
                  <a:srgbClr val="262626"/>
                </a:solidFill>
                <a:latin typeface="Calibri"/>
              </a:rPr>
              <a:t>Microsoft 365</a:t>
            </a:r>
          </a:p>
        </p:txBody>
      </p:sp>
      <p:sp>
        <p:nvSpPr>
          <p:cNvPr id="39" name="TextBox 38"/>
          <p:cNvSpPr txBox="1"/>
          <p:nvPr/>
        </p:nvSpPr>
        <p:spPr>
          <a:xfrm>
            <a:off x="9601200" y="5120640"/>
            <a:ext cx="1984248" cy="1005840"/>
          </a:xfrm>
          <a:prstGeom prst="rect">
            <a:avLst/>
          </a:prstGeom>
          <a:noFill/>
        </p:spPr>
        <p:txBody>
          <a:bodyPr wrap="square" anchor="t">
            <a:spAutoFit/>
          </a:bodyPr>
          <a:lstStyle/>
          <a:p>
            <a:pPr algn="l">
              <a:spcAft>
                <a:spcPts val="200"/>
              </a:spcAft>
            </a:pPr>
            <a:r>
              <a:rPr sz="1300" b="1" i="0">
                <a:solidFill>
                  <a:srgbClr val="595959"/>
                </a:solidFill>
                <a:latin typeface="Calibri"/>
              </a:rPr>
              <a:t>BookStash</a:t>
            </a:r>
          </a:p>
          <a:p>
            <a:pPr algn="l">
              <a:spcAft>
                <a:spcPts val="0"/>
              </a:spcAft>
            </a:pPr>
            <a:r>
              <a:rPr sz="1600" b="1" i="0">
                <a:solidFill>
                  <a:srgbClr val="002060"/>
                </a:solidFill>
                <a:latin typeface="Calibri"/>
              </a:rPr>
              <a:t>Staff email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1.3</a:t>
            </a:r>
            <a:r>
              <a:rPr sz="2400" b="1" i="0">
                <a:solidFill>
                  <a:srgbClr val="FFFFFF"/>
                </a:solidFill>
                <a:latin typeface="Calibri"/>
              </a:rPr>
              <a:t> Abstraction Versus Control</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8.png"/>
          <p:cNvPicPr>
            <a:picLocks noChangeAspect="1"/>
          </p:cNvPicPr>
          <p:nvPr/>
        </p:nvPicPr>
        <p:blipFill>
          <a:blip r:embed="rId4"/>
          <a:stretch>
            <a:fillRect/>
          </a:stretch>
        </p:blipFill>
        <p:spPr>
          <a:xfrm>
            <a:off x="1828800" y="1097280"/>
            <a:ext cx="8503920" cy="3056096"/>
          </a:xfrm>
          <a:prstGeom prst="rect">
            <a:avLst/>
          </a:prstGeom>
        </p:spPr>
      </p:pic>
      <p:graphicFrame>
        <p:nvGraphicFramePr>
          <p:cNvPr id="11" name="Table 10"/>
          <p:cNvGraphicFramePr>
            <a:graphicFrameLocks noGrp="1"/>
          </p:cNvGraphicFramePr>
          <p:nvPr/>
        </p:nvGraphicFramePr>
        <p:xfrm>
          <a:off x="457200" y="4297680"/>
          <a:ext cx="11274549" cy="1920240"/>
        </p:xfrm>
        <a:graphic>
          <a:graphicData uri="http://schemas.openxmlformats.org/drawingml/2006/table">
            <a:tbl>
              <a:tblPr firstRow="1">
                <a:tableStyleId>{5940675A-B579-460E-94D1-54222C63F5DA}</a:tableStyleId>
              </a:tblPr>
              <a:tblGrid>
                <a:gridCol w="2108249">
                  <a:extLst>
                    <a:ext uri="{9D8B030D-6E8A-4147-A177-3AD203B41FA5}">
                      <a16:colId xmlns:a16="http://schemas.microsoft.com/office/drawing/2014/main" val="20000"/>
                    </a:ext>
                  </a:extLst>
                </a:gridCol>
                <a:gridCol w="1833260">
                  <a:extLst>
                    <a:ext uri="{9D8B030D-6E8A-4147-A177-3AD203B41FA5}">
                      <a16:colId xmlns:a16="http://schemas.microsoft.com/office/drawing/2014/main" val="20001"/>
                    </a:ext>
                  </a:extLst>
                </a:gridCol>
                <a:gridCol w="1833260">
                  <a:extLst>
                    <a:ext uri="{9D8B030D-6E8A-4147-A177-3AD203B41FA5}">
                      <a16:colId xmlns:a16="http://schemas.microsoft.com/office/drawing/2014/main" val="20002"/>
                    </a:ext>
                  </a:extLst>
                </a:gridCol>
                <a:gridCol w="1833260">
                  <a:extLst>
                    <a:ext uri="{9D8B030D-6E8A-4147-A177-3AD203B41FA5}">
                      <a16:colId xmlns:a16="http://schemas.microsoft.com/office/drawing/2014/main" val="20003"/>
                    </a:ext>
                  </a:extLst>
                </a:gridCol>
                <a:gridCol w="1833260">
                  <a:extLst>
                    <a:ext uri="{9D8B030D-6E8A-4147-A177-3AD203B41FA5}">
                      <a16:colId xmlns:a16="http://schemas.microsoft.com/office/drawing/2014/main" val="20004"/>
                    </a:ext>
                  </a:extLst>
                </a:gridCol>
                <a:gridCol w="1833260">
                  <a:extLst>
                    <a:ext uri="{9D8B030D-6E8A-4147-A177-3AD203B41FA5}">
                      <a16:colId xmlns:a16="http://schemas.microsoft.com/office/drawing/2014/main" val="20005"/>
                    </a:ext>
                  </a:extLst>
                </a:gridCol>
              </a:tblGrid>
              <a:tr h="384048">
                <a:tc>
                  <a:txBody>
                    <a:bodyPr/>
                    <a:lstStyle/>
                    <a:p>
                      <a:r>
                        <a:rPr sz="1400" b="1" i="0">
                          <a:solidFill>
                            <a:srgbClr val="FFFFFF"/>
                          </a:solidFill>
                          <a:latin typeface="Calibri"/>
                        </a:rPr>
                        <a:t>Aspect</a:t>
                      </a:r>
                    </a:p>
                  </a:txBody>
                  <a:tcPr marL="73152" marR="73152" marT="36576" marB="36576" anchor="ctr">
                    <a:solidFill>
                      <a:srgbClr val="156082"/>
                    </a:solidFill>
                  </a:tcPr>
                </a:tc>
                <a:tc>
                  <a:txBody>
                    <a:bodyPr/>
                    <a:lstStyle/>
                    <a:p>
                      <a:r>
                        <a:rPr sz="1400" b="1" i="0">
                          <a:solidFill>
                            <a:srgbClr val="FFFFFF"/>
                          </a:solidFill>
                          <a:latin typeface="Calibri"/>
                        </a:rPr>
                        <a:t>IaaS</a:t>
                      </a:r>
                    </a:p>
                  </a:txBody>
                  <a:tcPr marL="73152" marR="73152" marT="36576" marB="36576" anchor="ctr">
                    <a:solidFill>
                      <a:srgbClr val="156082"/>
                    </a:solidFill>
                  </a:tcPr>
                </a:tc>
                <a:tc>
                  <a:txBody>
                    <a:bodyPr/>
                    <a:lstStyle/>
                    <a:p>
                      <a:r>
                        <a:rPr sz="1400" b="1" i="0">
                          <a:solidFill>
                            <a:srgbClr val="FFFFFF"/>
                          </a:solidFill>
                          <a:latin typeface="Calibri"/>
                        </a:rPr>
                        <a:t>CaaS</a:t>
                      </a:r>
                    </a:p>
                  </a:txBody>
                  <a:tcPr marL="73152" marR="73152" marT="36576" marB="36576" anchor="ctr">
                    <a:solidFill>
                      <a:srgbClr val="156082"/>
                    </a:solidFill>
                  </a:tcPr>
                </a:tc>
                <a:tc>
                  <a:txBody>
                    <a:bodyPr/>
                    <a:lstStyle/>
                    <a:p>
                      <a:r>
                        <a:rPr sz="1400" b="1" i="0">
                          <a:solidFill>
                            <a:srgbClr val="FFFFFF"/>
                          </a:solidFill>
                          <a:latin typeface="Calibri"/>
                        </a:rPr>
                        <a:t>PaaS</a:t>
                      </a:r>
                    </a:p>
                  </a:txBody>
                  <a:tcPr marL="73152" marR="73152" marT="36576" marB="36576" anchor="ctr">
                    <a:solidFill>
                      <a:srgbClr val="156082"/>
                    </a:solidFill>
                  </a:tcPr>
                </a:tc>
                <a:tc>
                  <a:txBody>
                    <a:bodyPr/>
                    <a:lstStyle/>
                    <a:p>
                      <a:r>
                        <a:rPr sz="1400" b="1" i="0">
                          <a:solidFill>
                            <a:srgbClr val="FFFFFF"/>
                          </a:solidFill>
                          <a:latin typeface="Calibri"/>
                        </a:rPr>
                        <a:t>FaaS</a:t>
                      </a:r>
                    </a:p>
                  </a:txBody>
                  <a:tcPr marL="73152" marR="73152" marT="36576" marB="36576" anchor="ctr">
                    <a:solidFill>
                      <a:srgbClr val="156082"/>
                    </a:solidFill>
                  </a:tcPr>
                </a:tc>
                <a:tc>
                  <a:txBody>
                    <a:bodyPr/>
                    <a:lstStyle/>
                    <a:p>
                      <a:r>
                        <a:rPr sz="1400" b="1" i="0">
                          <a:solidFill>
                            <a:srgbClr val="FFFFFF"/>
                          </a:solidFill>
                          <a:latin typeface="Calibri"/>
                        </a:rPr>
                        <a:t>SaaS</a:t>
                      </a:r>
                    </a:p>
                  </a:txBody>
                  <a:tcPr marL="73152" marR="73152" marT="36576" marB="36576" anchor="ctr">
                    <a:solidFill>
                      <a:srgbClr val="156082"/>
                    </a:solidFill>
                  </a:tcPr>
                </a:tc>
                <a:extLst>
                  <a:ext uri="{0D108BD9-81ED-4DB2-BD59-A6C34878D82A}">
                    <a16:rowId xmlns:a16="http://schemas.microsoft.com/office/drawing/2014/main" val="10000"/>
                  </a:ext>
                </a:extLst>
              </a:tr>
              <a:tr h="384048">
                <a:tc>
                  <a:txBody>
                    <a:bodyPr/>
                    <a:lstStyle/>
                    <a:p>
                      <a:r>
                        <a:rPr sz="1400" b="1" i="0">
                          <a:solidFill>
                            <a:srgbClr val="002060"/>
                          </a:solidFill>
                          <a:latin typeface="Calibri"/>
                        </a:rPr>
                        <a:t>Unit you deploy</a:t>
                      </a:r>
                    </a:p>
                  </a:txBody>
                  <a:tcPr marL="73152" marR="73152" marT="36576" marB="36576" anchor="ctr">
                    <a:solidFill>
                      <a:srgbClr val="FFFFFF"/>
                    </a:solidFill>
                  </a:tcPr>
                </a:tc>
                <a:tc>
                  <a:txBody>
                    <a:bodyPr/>
                    <a:lstStyle/>
                    <a:p>
                      <a:r>
                        <a:rPr sz="1400" b="0" i="0">
                          <a:solidFill>
                            <a:srgbClr val="262626"/>
                          </a:solidFill>
                          <a:latin typeface="Calibri"/>
                        </a:rPr>
                        <a:t>VM image</a:t>
                      </a:r>
                    </a:p>
                  </a:txBody>
                  <a:tcPr marL="73152" marR="73152" marT="36576" marB="36576" anchor="ctr">
                    <a:solidFill>
                      <a:srgbClr val="FFFFFF"/>
                    </a:solidFill>
                  </a:tcPr>
                </a:tc>
                <a:tc>
                  <a:txBody>
                    <a:bodyPr/>
                    <a:lstStyle/>
                    <a:p>
                      <a:r>
                        <a:rPr sz="1400" b="0" i="0">
                          <a:solidFill>
                            <a:srgbClr val="262626"/>
                          </a:solidFill>
                          <a:latin typeface="Calibri"/>
                        </a:rPr>
                        <a:t>Container image</a:t>
                      </a:r>
                    </a:p>
                  </a:txBody>
                  <a:tcPr marL="73152" marR="73152" marT="36576" marB="36576" anchor="ctr">
                    <a:solidFill>
                      <a:srgbClr val="FFFFFF"/>
                    </a:solidFill>
                  </a:tcPr>
                </a:tc>
                <a:tc>
                  <a:txBody>
                    <a:bodyPr/>
                    <a:lstStyle/>
                    <a:p>
                      <a:r>
                        <a:rPr sz="1400" b="0" i="0">
                          <a:solidFill>
                            <a:srgbClr val="262626"/>
                          </a:solidFill>
                          <a:latin typeface="Calibri"/>
                        </a:rPr>
                        <a:t>App code</a:t>
                      </a:r>
                    </a:p>
                  </a:txBody>
                  <a:tcPr marL="73152" marR="73152" marT="36576" marB="36576" anchor="ctr">
                    <a:solidFill>
                      <a:srgbClr val="FFFFFF"/>
                    </a:solidFill>
                  </a:tcPr>
                </a:tc>
                <a:tc>
                  <a:txBody>
                    <a:bodyPr/>
                    <a:lstStyle/>
                    <a:p>
                      <a:r>
                        <a:rPr sz="1400" b="0" i="0">
                          <a:solidFill>
                            <a:srgbClr val="262626"/>
                          </a:solidFill>
                          <a:latin typeface="Calibri"/>
                        </a:rPr>
                        <a:t>Function</a:t>
                      </a:r>
                    </a:p>
                  </a:txBody>
                  <a:tcPr marL="73152" marR="73152" marT="36576" marB="36576" anchor="ctr">
                    <a:solidFill>
                      <a:srgbClr val="FFFFFF"/>
                    </a:solidFill>
                  </a:tcPr>
                </a:tc>
                <a:tc>
                  <a:txBody>
                    <a:bodyPr/>
                    <a:lstStyle/>
                    <a:p>
                      <a:r>
                        <a:rPr sz="1400" b="0" i="0">
                          <a:solidFill>
                            <a:srgbClr val="262626"/>
                          </a:solidFill>
                          <a:latin typeface="Calibri"/>
                        </a:rPr>
                        <a:t>Config only</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r>
                        <a:rPr sz="1400" b="1" i="0">
                          <a:solidFill>
                            <a:srgbClr val="002060"/>
                          </a:solidFill>
                          <a:latin typeface="Calibri"/>
                        </a:rPr>
                        <a:t>Billing basis</a:t>
                      </a:r>
                    </a:p>
                  </a:txBody>
                  <a:tcPr marL="73152" marR="73152" marT="36576" marB="36576" anchor="ctr">
                    <a:solidFill>
                      <a:srgbClr val="F2F2F2"/>
                    </a:solidFill>
                  </a:tcPr>
                </a:tc>
                <a:tc>
                  <a:txBody>
                    <a:bodyPr/>
                    <a:lstStyle/>
                    <a:p>
                      <a:r>
                        <a:rPr sz="1400" b="0" i="0">
                          <a:solidFill>
                            <a:srgbClr val="262626"/>
                          </a:solidFill>
                          <a:latin typeface="Calibri"/>
                        </a:rPr>
                        <a:t>Instance-hours</a:t>
                      </a:r>
                    </a:p>
                  </a:txBody>
                  <a:tcPr marL="73152" marR="73152" marT="36576" marB="36576" anchor="ctr">
                    <a:solidFill>
                      <a:srgbClr val="F2F2F2"/>
                    </a:solidFill>
                  </a:tcPr>
                </a:tc>
                <a:tc>
                  <a:txBody>
                    <a:bodyPr/>
                    <a:lstStyle/>
                    <a:p>
                      <a:r>
                        <a:rPr sz="1400" b="0" i="0">
                          <a:solidFill>
                            <a:srgbClr val="262626"/>
                          </a:solidFill>
                          <a:latin typeface="Calibri"/>
                        </a:rPr>
                        <a:t>vCPU, memory/s</a:t>
                      </a:r>
                    </a:p>
                  </a:txBody>
                  <a:tcPr marL="73152" marR="73152" marT="36576" marB="36576" anchor="ctr">
                    <a:solidFill>
                      <a:srgbClr val="F2F2F2"/>
                    </a:solidFill>
                  </a:tcPr>
                </a:tc>
                <a:tc>
                  <a:txBody>
                    <a:bodyPr/>
                    <a:lstStyle/>
                    <a:p>
                      <a:r>
                        <a:rPr sz="1400" b="0" i="0">
                          <a:solidFill>
                            <a:srgbClr val="262626"/>
                          </a:solidFill>
                          <a:latin typeface="Calibri"/>
                        </a:rPr>
                        <a:t>Instances or plan</a:t>
                      </a:r>
                    </a:p>
                  </a:txBody>
                  <a:tcPr marL="73152" marR="73152" marT="36576" marB="36576" anchor="ctr">
                    <a:solidFill>
                      <a:srgbClr val="F2F2F2"/>
                    </a:solidFill>
                  </a:tcPr>
                </a:tc>
                <a:tc>
                  <a:txBody>
                    <a:bodyPr/>
                    <a:lstStyle/>
                    <a:p>
                      <a:r>
                        <a:rPr sz="1400" b="0" i="0">
                          <a:solidFill>
                            <a:srgbClr val="262626"/>
                          </a:solidFill>
                          <a:latin typeface="Calibri"/>
                        </a:rPr>
                        <a:t>Requests, duration</a:t>
                      </a:r>
                    </a:p>
                  </a:txBody>
                  <a:tcPr marL="73152" marR="73152" marT="36576" marB="36576" anchor="ctr">
                    <a:solidFill>
                      <a:srgbClr val="F2F2F2"/>
                    </a:solidFill>
                  </a:tcPr>
                </a:tc>
                <a:tc>
                  <a:txBody>
                    <a:bodyPr/>
                    <a:lstStyle/>
                    <a:p>
                      <a:r>
                        <a:rPr sz="1400" b="0" i="0">
                          <a:solidFill>
                            <a:srgbClr val="262626"/>
                          </a:solidFill>
                          <a:latin typeface="Calibri"/>
                        </a:rPr>
                        <a:t>Per user</a:t>
                      </a:r>
                    </a:p>
                  </a:txBody>
                  <a:tcPr marL="73152" marR="73152" marT="36576" marB="36576" anchor="ctr">
                    <a:solidFill>
                      <a:srgbClr val="F2F2F2"/>
                    </a:solidFill>
                  </a:tcPr>
                </a:tc>
                <a:extLst>
                  <a:ext uri="{0D108BD9-81ED-4DB2-BD59-A6C34878D82A}">
                    <a16:rowId xmlns:a16="http://schemas.microsoft.com/office/drawing/2014/main" val="10002"/>
                  </a:ext>
                </a:extLst>
              </a:tr>
              <a:tr h="384048">
                <a:tc>
                  <a:txBody>
                    <a:bodyPr/>
                    <a:lstStyle/>
                    <a:p>
                      <a:r>
                        <a:rPr sz="1400" b="1" i="0">
                          <a:solidFill>
                            <a:srgbClr val="002060"/>
                          </a:solidFill>
                          <a:latin typeface="Calibri"/>
                        </a:rPr>
                        <a:t>Startup time</a:t>
                      </a:r>
                    </a:p>
                  </a:txBody>
                  <a:tcPr marL="73152" marR="73152" marT="36576" marB="36576" anchor="ctr">
                    <a:solidFill>
                      <a:srgbClr val="FFFFFF"/>
                    </a:solidFill>
                  </a:tcPr>
                </a:tc>
                <a:tc>
                  <a:txBody>
                    <a:bodyPr/>
                    <a:lstStyle/>
                    <a:p>
                      <a:r>
                        <a:rPr sz="1400" b="0" i="0">
                          <a:solidFill>
                            <a:srgbClr val="262626"/>
                          </a:solidFill>
                          <a:latin typeface="Calibri"/>
                        </a:rPr>
                        <a:t>Minutes</a:t>
                      </a:r>
                    </a:p>
                  </a:txBody>
                  <a:tcPr marL="73152" marR="73152" marT="36576" marB="36576" anchor="ctr">
                    <a:solidFill>
                      <a:srgbClr val="FFFFFF"/>
                    </a:solidFill>
                  </a:tcPr>
                </a:tc>
                <a:tc>
                  <a:txBody>
                    <a:bodyPr/>
                    <a:lstStyle/>
                    <a:p>
                      <a:r>
                        <a:rPr sz="1400" b="0" i="0">
                          <a:solidFill>
                            <a:srgbClr val="262626"/>
                          </a:solidFill>
                          <a:latin typeface="Calibri"/>
                        </a:rPr>
                        <a:t>Seconds</a:t>
                      </a:r>
                    </a:p>
                  </a:txBody>
                  <a:tcPr marL="73152" marR="73152" marT="36576" marB="36576" anchor="ctr">
                    <a:solidFill>
                      <a:srgbClr val="FFFFFF"/>
                    </a:solidFill>
                  </a:tcPr>
                </a:tc>
                <a:tc>
                  <a:txBody>
                    <a:bodyPr/>
                    <a:lstStyle/>
                    <a:p>
                      <a:r>
                        <a:rPr sz="1400" b="0" i="0">
                          <a:solidFill>
                            <a:srgbClr val="262626"/>
                          </a:solidFill>
                          <a:latin typeface="Calibri"/>
                        </a:rPr>
                        <a:t>Seconds to minutes</a:t>
                      </a:r>
                    </a:p>
                  </a:txBody>
                  <a:tcPr marL="73152" marR="73152" marT="36576" marB="36576" anchor="ctr">
                    <a:solidFill>
                      <a:srgbClr val="FFFFFF"/>
                    </a:solidFill>
                  </a:tcPr>
                </a:tc>
                <a:tc>
                  <a:txBody>
                    <a:bodyPr/>
                    <a:lstStyle/>
                    <a:p>
                      <a:r>
                        <a:rPr sz="1400" b="0" i="0">
                          <a:solidFill>
                            <a:srgbClr val="262626"/>
                          </a:solidFill>
                          <a:latin typeface="Calibri"/>
                        </a:rPr>
                        <a:t>Milliseconds</a:t>
                      </a:r>
                    </a:p>
                  </a:txBody>
                  <a:tcPr marL="73152" marR="73152" marT="36576" marB="36576" anchor="ctr">
                    <a:solidFill>
                      <a:srgbClr val="FFFFFF"/>
                    </a:solidFill>
                  </a:tcPr>
                </a:tc>
                <a:tc>
                  <a:txBody>
                    <a:bodyPr/>
                    <a:lstStyle/>
                    <a:p>
                      <a:r>
                        <a:rPr sz="1400" b="0" i="0">
                          <a:solidFill>
                            <a:srgbClr val="262626"/>
                          </a:solidFill>
                          <a:latin typeface="Calibri"/>
                        </a:rPr>
                        <a:t>None</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r>
                        <a:rPr sz="1400" b="1" i="0">
                          <a:solidFill>
                            <a:srgbClr val="002060"/>
                          </a:solidFill>
                          <a:latin typeface="Calibri"/>
                        </a:rPr>
                        <a:t>Portability</a:t>
                      </a:r>
                    </a:p>
                  </a:txBody>
                  <a:tcPr marL="73152" marR="73152" marT="36576" marB="36576" anchor="ctr">
                    <a:solidFill>
                      <a:srgbClr val="F2F2F2"/>
                    </a:solidFill>
                  </a:tcPr>
                </a:tc>
                <a:tc>
                  <a:txBody>
                    <a:bodyPr/>
                    <a:lstStyle/>
                    <a:p>
                      <a:r>
                        <a:rPr sz="1400" b="0" i="0">
                          <a:solidFill>
                            <a:srgbClr val="262626"/>
                          </a:solidFill>
                          <a:latin typeface="Calibri"/>
                        </a:rPr>
                        <a:t>High</a:t>
                      </a:r>
                    </a:p>
                  </a:txBody>
                  <a:tcPr marL="73152" marR="73152" marT="36576" marB="36576" anchor="ctr">
                    <a:solidFill>
                      <a:srgbClr val="F2F2F2"/>
                    </a:solidFill>
                  </a:tcPr>
                </a:tc>
                <a:tc>
                  <a:txBody>
                    <a:bodyPr/>
                    <a:lstStyle/>
                    <a:p>
                      <a:r>
                        <a:rPr sz="1400" b="0" i="0">
                          <a:solidFill>
                            <a:srgbClr val="262626"/>
                          </a:solidFill>
                          <a:latin typeface="Calibri"/>
                        </a:rPr>
                        <a:t>High</a:t>
                      </a:r>
                    </a:p>
                  </a:txBody>
                  <a:tcPr marL="73152" marR="73152" marT="36576" marB="36576" anchor="ctr">
                    <a:solidFill>
                      <a:srgbClr val="F2F2F2"/>
                    </a:solidFill>
                  </a:tcPr>
                </a:tc>
                <a:tc>
                  <a:txBody>
                    <a:bodyPr/>
                    <a:lstStyle/>
                    <a:p>
                      <a:r>
                        <a:rPr sz="1400" b="0" i="0">
                          <a:solidFill>
                            <a:srgbClr val="262626"/>
                          </a:solidFill>
                          <a:latin typeface="Calibri"/>
                        </a:rPr>
                        <a:t>Medium</a:t>
                      </a:r>
                    </a:p>
                  </a:txBody>
                  <a:tcPr marL="73152" marR="73152" marT="36576" marB="36576" anchor="ctr">
                    <a:solidFill>
                      <a:srgbClr val="F2F2F2"/>
                    </a:solidFill>
                  </a:tcPr>
                </a:tc>
                <a:tc>
                  <a:txBody>
                    <a:bodyPr/>
                    <a:lstStyle/>
                    <a:p>
                      <a:r>
                        <a:rPr sz="1400" b="0" i="0">
                          <a:solidFill>
                            <a:srgbClr val="262626"/>
                          </a:solidFill>
                          <a:latin typeface="Calibri"/>
                        </a:rPr>
                        <a:t>Low to medium</a:t>
                      </a:r>
                    </a:p>
                  </a:txBody>
                  <a:tcPr marL="73152" marR="73152" marT="36576" marB="36576" anchor="ctr">
                    <a:solidFill>
                      <a:srgbClr val="F2F2F2"/>
                    </a:solidFill>
                  </a:tcPr>
                </a:tc>
                <a:tc>
                  <a:txBody>
                    <a:bodyPr/>
                    <a:lstStyle/>
                    <a:p>
                      <a:r>
                        <a:rPr sz="1400" b="0" i="0">
                          <a:solidFill>
                            <a:srgbClr val="262626"/>
                          </a:solidFill>
                          <a:latin typeface="Calibri"/>
                        </a:rPr>
                        <a:t>Low</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Example 1.5</a:t>
            </a:r>
            <a:r>
              <a:rPr sz="2400" b="1" i="0">
                <a:solidFill>
                  <a:srgbClr val="FFFFFF"/>
                </a:solidFill>
                <a:latin typeface="Calibri"/>
              </a:rPr>
              <a:t> Choosing a Service Model</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Question 1"/>
          <p:cNvSpPr/>
          <p:nvPr/>
        </p:nvSpPr>
        <p:spPr>
          <a:xfrm>
            <a:off x="457200" y="1188720"/>
            <a:ext cx="3611880" cy="77724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Continuous or only on events?</a:t>
            </a:r>
          </a:p>
        </p:txBody>
      </p:sp>
      <p:sp>
        <p:nvSpPr>
          <p:cNvPr id="11" name="Question 2"/>
          <p:cNvSpPr/>
          <p:nvPr/>
        </p:nvSpPr>
        <p:spPr>
          <a:xfrm>
            <a:off x="4251960" y="1188720"/>
            <a:ext cx="3611880" cy="77724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Custom runtime needed?</a:t>
            </a:r>
          </a:p>
        </p:txBody>
      </p:sp>
      <p:sp>
        <p:nvSpPr>
          <p:cNvPr id="12" name="Question 3"/>
          <p:cNvSpPr/>
          <p:nvPr/>
        </p:nvSpPr>
        <p:spPr>
          <a:xfrm>
            <a:off x="8046720" y="1188720"/>
            <a:ext cx="3611880" cy="77724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1600" b="1" i="0">
                <a:solidFill>
                  <a:srgbClr val="FFFFFF"/>
                </a:solidFill>
                <a:latin typeface="Calibri"/>
              </a:rPr>
              <a:t>How much ops effort can we spare?</a:t>
            </a:r>
          </a:p>
        </p:txBody>
      </p:sp>
      <p:graphicFrame>
        <p:nvGraphicFramePr>
          <p:cNvPr id="13" name="Table 12"/>
          <p:cNvGraphicFramePr>
            <a:graphicFrameLocks noGrp="1"/>
          </p:cNvGraphicFramePr>
          <p:nvPr/>
        </p:nvGraphicFramePr>
        <p:xfrm>
          <a:off x="457200" y="2240280"/>
          <a:ext cx="11274550" cy="2560320"/>
        </p:xfrm>
        <a:graphic>
          <a:graphicData uri="http://schemas.openxmlformats.org/drawingml/2006/table">
            <a:tbl>
              <a:tblPr firstRow="1">
                <a:tableStyleId>{5940675A-B579-460E-94D1-54222C63F5DA}</a:tableStyleId>
              </a:tblPr>
              <a:tblGrid>
                <a:gridCol w="2108249">
                  <a:extLst>
                    <a:ext uri="{9D8B030D-6E8A-4147-A177-3AD203B41FA5}">
                      <a16:colId xmlns:a16="http://schemas.microsoft.com/office/drawing/2014/main" val="20000"/>
                    </a:ext>
                  </a:extLst>
                </a:gridCol>
                <a:gridCol w="2658227">
                  <a:extLst>
                    <a:ext uri="{9D8B030D-6E8A-4147-A177-3AD203B41FA5}">
                      <a16:colId xmlns:a16="http://schemas.microsoft.com/office/drawing/2014/main" val="20001"/>
                    </a:ext>
                  </a:extLst>
                </a:gridCol>
                <a:gridCol w="2474901">
                  <a:extLst>
                    <a:ext uri="{9D8B030D-6E8A-4147-A177-3AD203B41FA5}">
                      <a16:colId xmlns:a16="http://schemas.microsoft.com/office/drawing/2014/main" val="20002"/>
                    </a:ext>
                  </a:extLst>
                </a:gridCol>
                <a:gridCol w="4033173">
                  <a:extLst>
                    <a:ext uri="{9D8B030D-6E8A-4147-A177-3AD203B41FA5}">
                      <a16:colId xmlns:a16="http://schemas.microsoft.com/office/drawing/2014/main" val="20003"/>
                    </a:ext>
                  </a:extLst>
                </a:gridCol>
              </a:tblGrid>
              <a:tr h="640080">
                <a:tc>
                  <a:txBody>
                    <a:bodyPr/>
                    <a:lstStyle/>
                    <a:p>
                      <a:r>
                        <a:rPr sz="1500" b="1" i="0">
                          <a:solidFill>
                            <a:srgbClr val="FFFFFF"/>
                          </a:solidFill>
                          <a:latin typeface="Calibri"/>
                        </a:rPr>
                        <a:t>Feature</a:t>
                      </a:r>
                    </a:p>
                  </a:txBody>
                  <a:tcPr marL="73152" marR="73152" marT="36576" marB="36576" anchor="ctr">
                    <a:solidFill>
                      <a:srgbClr val="156082"/>
                    </a:solidFill>
                  </a:tcPr>
                </a:tc>
                <a:tc>
                  <a:txBody>
                    <a:bodyPr/>
                    <a:lstStyle/>
                    <a:p>
                      <a:r>
                        <a:rPr sz="1500" b="1" i="0">
                          <a:solidFill>
                            <a:srgbClr val="FFFFFF"/>
                          </a:solidFill>
                          <a:latin typeface="Calibri"/>
                        </a:rPr>
                        <a:t>Load pattern</a:t>
                      </a:r>
                    </a:p>
                  </a:txBody>
                  <a:tcPr marL="73152" marR="73152" marT="36576" marB="36576" anchor="ctr">
                    <a:solidFill>
                      <a:srgbClr val="156082"/>
                    </a:solidFill>
                  </a:tcPr>
                </a:tc>
                <a:tc>
                  <a:txBody>
                    <a:bodyPr/>
                    <a:lstStyle/>
                    <a:p>
                      <a:r>
                        <a:rPr sz="1500" b="1" i="0">
                          <a:solidFill>
                            <a:srgbClr val="FFFFFF"/>
                          </a:solidFill>
                          <a:latin typeface="Calibri"/>
                        </a:rPr>
                        <a:t>Choice</a:t>
                      </a:r>
                    </a:p>
                  </a:txBody>
                  <a:tcPr marL="73152" marR="73152" marT="36576" marB="36576" anchor="ctr">
                    <a:solidFill>
                      <a:srgbClr val="156082"/>
                    </a:solidFill>
                  </a:tcPr>
                </a:tc>
                <a:tc>
                  <a:txBody>
                    <a:bodyPr/>
                    <a:lstStyle/>
                    <a:p>
                      <a:r>
                        <a:rPr sz="1500" b="1" i="0">
                          <a:solidFill>
                            <a:srgbClr val="FFFFFF"/>
                          </a:solidFill>
                          <a:latin typeface="Calibri"/>
                        </a:rPr>
                        <a:t>Reason</a:t>
                      </a:r>
                    </a:p>
                  </a:txBody>
                  <a:tcPr marL="73152" marR="73152" marT="36576" marB="36576" anchor="ctr">
                    <a:solidFill>
                      <a:srgbClr val="156082"/>
                    </a:solidFill>
                  </a:tcPr>
                </a:tc>
                <a:extLst>
                  <a:ext uri="{0D108BD9-81ED-4DB2-BD59-A6C34878D82A}">
                    <a16:rowId xmlns:a16="http://schemas.microsoft.com/office/drawing/2014/main" val="10000"/>
                  </a:ext>
                </a:extLst>
              </a:tr>
              <a:tr h="640080">
                <a:tc>
                  <a:txBody>
                    <a:bodyPr/>
                    <a:lstStyle/>
                    <a:p>
                      <a:r>
                        <a:rPr sz="1500" b="1" i="0">
                          <a:solidFill>
                            <a:srgbClr val="002060"/>
                          </a:solidFill>
                          <a:latin typeface="Calibri"/>
                        </a:rPr>
                        <a:t>Book API</a:t>
                      </a:r>
                    </a:p>
                  </a:txBody>
                  <a:tcPr marL="73152" marR="73152" marT="36576" marB="36576" anchor="ctr">
                    <a:solidFill>
                      <a:srgbClr val="FFFFFF"/>
                    </a:solidFill>
                  </a:tcPr>
                </a:tc>
                <a:tc>
                  <a:txBody>
                    <a:bodyPr/>
                    <a:lstStyle/>
                    <a:p>
                      <a:r>
                        <a:rPr sz="1500" b="0" i="0">
                          <a:solidFill>
                            <a:srgbClr val="262626"/>
                          </a:solidFill>
                          <a:latin typeface="Calibri"/>
                        </a:rPr>
                        <a:t>Continuous, daily peaks</a:t>
                      </a:r>
                    </a:p>
                  </a:txBody>
                  <a:tcPr marL="73152" marR="73152" marT="36576" marB="36576" anchor="ctr">
                    <a:solidFill>
                      <a:srgbClr val="FFFFFF"/>
                    </a:solidFill>
                  </a:tcPr>
                </a:tc>
                <a:tc>
                  <a:txBody>
                    <a:bodyPr/>
                    <a:lstStyle/>
                    <a:p>
                      <a:r>
                        <a:rPr sz="1500" b="0" i="0">
                          <a:solidFill>
                            <a:srgbClr val="262626"/>
                          </a:solidFill>
                          <a:latin typeface="Calibri"/>
                        </a:rPr>
                        <a:t>CaaS: ECS on Fargate</a:t>
                      </a:r>
                    </a:p>
                  </a:txBody>
                  <a:tcPr marL="73152" marR="73152" marT="36576" marB="36576" anchor="ctr">
                    <a:solidFill>
                      <a:srgbClr val="FFFFFF"/>
                    </a:solidFill>
                  </a:tcPr>
                </a:tc>
                <a:tc>
                  <a:txBody>
                    <a:bodyPr/>
                    <a:lstStyle/>
                    <a:p>
                      <a:r>
                        <a:rPr sz="1500" b="0" i="0">
                          <a:solidFill>
                            <a:srgbClr val="262626"/>
                          </a:solidFill>
                          <a:latin typeface="Calibri"/>
                        </a:rPr>
                        <a:t>Long-running, connection pools, custom libraries</a:t>
                      </a:r>
                    </a:p>
                  </a:txBody>
                  <a:tcPr marL="73152" marR="73152" marT="36576" marB="36576" anchor="ctr">
                    <a:solidFill>
                      <a:srgbClr val="FFFFFF"/>
                    </a:solidFill>
                  </a:tcPr>
                </a:tc>
                <a:extLst>
                  <a:ext uri="{0D108BD9-81ED-4DB2-BD59-A6C34878D82A}">
                    <a16:rowId xmlns:a16="http://schemas.microsoft.com/office/drawing/2014/main" val="10001"/>
                  </a:ext>
                </a:extLst>
              </a:tr>
              <a:tr h="640080">
                <a:tc>
                  <a:txBody>
                    <a:bodyPr/>
                    <a:lstStyle/>
                    <a:p>
                      <a:r>
                        <a:rPr sz="1500" b="1" i="0">
                          <a:solidFill>
                            <a:srgbClr val="002060"/>
                          </a:solidFill>
                          <a:latin typeface="Calibri"/>
                        </a:rPr>
                        <a:t>Cover thumbnails</a:t>
                      </a:r>
                    </a:p>
                  </a:txBody>
                  <a:tcPr marL="73152" marR="73152" marT="36576" marB="36576" anchor="ctr">
                    <a:solidFill>
                      <a:srgbClr val="F2F2F2"/>
                    </a:solidFill>
                  </a:tcPr>
                </a:tc>
                <a:tc>
                  <a:txBody>
                    <a:bodyPr/>
                    <a:lstStyle/>
                    <a:p>
                      <a:r>
                        <a:rPr sz="1500" b="0" i="0">
                          <a:solidFill>
                            <a:srgbClr val="262626"/>
                          </a:solidFill>
                          <a:latin typeface="Calibri"/>
                        </a:rPr>
                        <a:t>Bursts when staff upload</a:t>
                      </a:r>
                    </a:p>
                  </a:txBody>
                  <a:tcPr marL="73152" marR="73152" marT="36576" marB="36576" anchor="ctr">
                    <a:solidFill>
                      <a:srgbClr val="F2F2F2"/>
                    </a:solidFill>
                  </a:tcPr>
                </a:tc>
                <a:tc>
                  <a:txBody>
                    <a:bodyPr/>
                    <a:lstStyle/>
                    <a:p>
                      <a:r>
                        <a:rPr sz="1500" b="0" i="0">
                          <a:solidFill>
                            <a:srgbClr val="262626"/>
                          </a:solidFill>
                          <a:latin typeface="Calibri"/>
                        </a:rPr>
                        <a:t>FaaS: Lambda</a:t>
                      </a:r>
                    </a:p>
                  </a:txBody>
                  <a:tcPr marL="73152" marR="73152" marT="36576" marB="36576" anchor="ctr">
                    <a:solidFill>
                      <a:srgbClr val="F2F2F2"/>
                    </a:solidFill>
                  </a:tcPr>
                </a:tc>
                <a:tc>
                  <a:txBody>
                    <a:bodyPr/>
                    <a:lstStyle/>
                    <a:p>
                      <a:r>
                        <a:rPr sz="1500" b="0" i="0">
                          <a:solidFill>
                            <a:srgbClr val="262626"/>
                          </a:solidFill>
                          <a:latin typeface="Calibri"/>
                        </a:rPr>
                        <a:t>Short, event-driven, idle most of the day</a:t>
                      </a:r>
                    </a:p>
                  </a:txBody>
                  <a:tcPr marL="73152" marR="73152" marT="36576" marB="36576" anchor="ctr">
                    <a:solidFill>
                      <a:srgbClr val="F2F2F2"/>
                    </a:solidFill>
                  </a:tcPr>
                </a:tc>
                <a:extLst>
                  <a:ext uri="{0D108BD9-81ED-4DB2-BD59-A6C34878D82A}">
                    <a16:rowId xmlns:a16="http://schemas.microsoft.com/office/drawing/2014/main" val="10002"/>
                  </a:ext>
                </a:extLst>
              </a:tr>
              <a:tr h="640080">
                <a:tc>
                  <a:txBody>
                    <a:bodyPr/>
                    <a:lstStyle/>
                    <a:p>
                      <a:r>
                        <a:rPr sz="1500" b="1" i="0">
                          <a:solidFill>
                            <a:srgbClr val="002060"/>
                          </a:solidFill>
                          <a:latin typeface="Calibri"/>
                        </a:rPr>
                        <a:t>Monthly sales report</a:t>
                      </a:r>
                    </a:p>
                  </a:txBody>
                  <a:tcPr marL="73152" marR="73152" marT="36576" marB="36576" anchor="ctr">
                    <a:solidFill>
                      <a:srgbClr val="FFFFFF"/>
                    </a:solidFill>
                  </a:tcPr>
                </a:tc>
                <a:tc>
                  <a:txBody>
                    <a:bodyPr/>
                    <a:lstStyle/>
                    <a:p>
                      <a:r>
                        <a:rPr sz="1500" b="0" i="0">
                          <a:solidFill>
                            <a:srgbClr val="262626"/>
                          </a:solidFill>
                          <a:latin typeface="Calibri"/>
                        </a:rPr>
                        <a:t>Once a month, 20 minutes</a:t>
                      </a:r>
                    </a:p>
                  </a:txBody>
                  <a:tcPr marL="73152" marR="73152" marT="36576" marB="36576" anchor="ctr">
                    <a:solidFill>
                      <a:srgbClr val="FFFFFF"/>
                    </a:solidFill>
                  </a:tcPr>
                </a:tc>
                <a:tc>
                  <a:txBody>
                    <a:bodyPr/>
                    <a:lstStyle/>
                    <a:p>
                      <a:r>
                        <a:rPr sz="1500" b="0" i="0">
                          <a:solidFill>
                            <a:srgbClr val="262626"/>
                          </a:solidFill>
                          <a:latin typeface="Calibri"/>
                        </a:rPr>
                        <a:t>FaaS or scheduled task</a:t>
                      </a:r>
                    </a:p>
                  </a:txBody>
                  <a:tcPr marL="73152" marR="73152" marT="36576" marB="36576" anchor="ctr">
                    <a:solidFill>
                      <a:srgbClr val="FFFFFF"/>
                    </a:solidFill>
                  </a:tcPr>
                </a:tc>
                <a:tc>
                  <a:txBody>
                    <a:bodyPr/>
                    <a:lstStyle/>
                    <a:p>
                      <a:r>
                        <a:rPr sz="1500" b="0" i="0">
                          <a:solidFill>
                            <a:srgbClr val="262626"/>
                          </a:solidFill>
                          <a:latin typeface="Calibri"/>
                        </a:rPr>
                        <a:t>Lambda if under 15 min; else a scheduled task</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14" name="FaaS limits"/>
          <p:cNvSpPr/>
          <p:nvPr/>
        </p:nvSpPr>
        <p:spPr>
          <a:xfrm>
            <a:off x="457200" y="5074920"/>
            <a:ext cx="11274552" cy="1143000"/>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156082"/>
                </a:solidFill>
                <a:latin typeface="Calibri"/>
              </a:rPr>
              <a:t>When FaaS is not the right fit: </a:t>
            </a:r>
            <a:r>
              <a:rPr sz="1600" b="0" i="0">
                <a:solidFill>
                  <a:srgbClr val="262626"/>
                </a:solidFill>
                <a:latin typeface="Calibri"/>
              </a:rPr>
              <a:t>15-minute maximum run, cold starts on new environments and no local state between invocations. Steady high load is usually cheaper on containers.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1.4</a:t>
            </a:r>
            <a:r>
              <a:rPr sz="2400" b="1" i="0">
                <a:solidFill>
                  <a:srgbClr val="FFFFFF"/>
                </a:solidFill>
                <a:latin typeface="Calibri"/>
              </a:rPr>
              <a:t> The Shared Responsibility Model</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9.png"/>
          <p:cNvPicPr>
            <a:picLocks noChangeAspect="1"/>
          </p:cNvPicPr>
          <p:nvPr/>
        </p:nvPicPr>
        <p:blipFill>
          <a:blip r:embed="rId4"/>
          <a:stretch>
            <a:fillRect/>
          </a:stretch>
        </p:blipFill>
        <p:spPr>
          <a:xfrm>
            <a:off x="457200" y="1143000"/>
            <a:ext cx="6858000" cy="4071937"/>
          </a:xfrm>
          <a:prstGeom prst="rect">
            <a:avLst/>
          </a:prstGeom>
          <a:ln w="9525">
            <a:solidFill>
              <a:srgbClr val="D9D9D9"/>
            </a:solidFill>
          </a:ln>
        </p:spPr>
      </p:pic>
      <p:sp>
        <p:nvSpPr>
          <p:cNvPr id="11" name="Ownership test"/>
          <p:cNvSpPr/>
          <p:nvPr/>
        </p:nvSpPr>
        <p:spPr>
          <a:xfrm>
            <a:off x="7635240" y="1188720"/>
            <a:ext cx="4096512" cy="2057400"/>
          </a:xfrm>
          <a:prstGeom prst="roundRect">
            <a:avLst>
              <a:gd name="adj" fmla="val 6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Ins="182880" bIns="54864" rtlCol="0" anchor="t"/>
          <a:lstStyle/>
          <a:p>
            <a:pPr algn="l">
              <a:spcAft>
                <a:spcPts val="600"/>
              </a:spcAft>
            </a:pPr>
            <a:r>
              <a:rPr sz="1700" b="1" i="0">
                <a:solidFill>
                  <a:srgbClr val="FFFFFF"/>
                </a:solidFill>
                <a:latin typeface="Calibri"/>
              </a:rPr>
              <a:t>A simple test for ownership</a:t>
            </a:r>
          </a:p>
          <a:p>
            <a:pPr algn="l">
              <a:spcAft>
                <a:spcPts val="0"/>
              </a:spcAft>
            </a:pPr>
            <a:r>
              <a:rPr sz="1600" b="0" i="0">
                <a:solidFill>
                  <a:srgbClr val="FFFFFF"/>
                </a:solidFill>
                <a:latin typeface="Calibri"/>
              </a:rPr>
              <a:t>If a setting can be changed from our AWS account, its consequences are our responsibility.</a:t>
            </a:r>
          </a:p>
        </p:txBody>
      </p:sp>
      <p:sp>
        <p:nvSpPr>
          <p:cNvPr id="12" name="How AWS shows its side body"/>
          <p:cNvSpPr/>
          <p:nvPr/>
        </p:nvSpPr>
        <p:spPr>
          <a:xfrm>
            <a:off x="7635240" y="3474720"/>
            <a:ext cx="4096512" cy="27432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How AWS shows its side head"/>
          <p:cNvSpPr/>
          <p:nvPr/>
        </p:nvSpPr>
        <p:spPr>
          <a:xfrm>
            <a:off x="7635240" y="3474720"/>
            <a:ext cx="4096512"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How AWS shows its side</a:t>
            </a:r>
          </a:p>
        </p:txBody>
      </p:sp>
      <p:sp>
        <p:nvSpPr>
          <p:cNvPr id="14" name="TextBox 13"/>
          <p:cNvSpPr txBox="1"/>
          <p:nvPr/>
        </p:nvSpPr>
        <p:spPr>
          <a:xfrm>
            <a:off x="7680960" y="3977639"/>
            <a:ext cx="4005072" cy="2194560"/>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SOC 1, 2 and 3 reports</a:t>
            </a:r>
          </a:p>
          <a:p>
            <a:pPr marL="228600" indent="-228600" algn="l">
              <a:spcAft>
                <a:spcPts val="400"/>
              </a:spcAft>
              <a:buClr>
                <a:srgbClr val="E97132"/>
              </a:buClr>
              <a:buFont typeface="Arial"/>
              <a:buChar char="•"/>
            </a:pPr>
            <a:r>
              <a:rPr sz="1500" b="0" i="0">
                <a:solidFill>
                  <a:srgbClr val="262626"/>
                </a:solidFill>
                <a:latin typeface="Calibri"/>
              </a:rPr>
              <a:t>ISO/IEC 27001, PCI DSS</a:t>
            </a:r>
          </a:p>
          <a:p>
            <a:pPr marL="228600" indent="-228600" algn="l">
              <a:spcAft>
                <a:spcPts val="400"/>
              </a:spcAft>
              <a:buClr>
                <a:srgbClr val="E97132"/>
              </a:buClr>
              <a:buFont typeface="Arial"/>
              <a:buChar char="•"/>
            </a:pPr>
            <a:r>
              <a:rPr sz="1500" b="0" i="0">
                <a:solidFill>
                  <a:srgbClr val="262626"/>
                </a:solidFill>
                <a:latin typeface="Calibri"/>
              </a:rPr>
              <a:t>Reports in AWS Artifact</a:t>
            </a:r>
          </a:p>
          <a:p>
            <a:pPr marL="228600" indent="-228600" algn="l">
              <a:spcAft>
                <a:spcPts val="400"/>
              </a:spcAft>
              <a:buClr>
                <a:srgbClr val="E97132"/>
              </a:buClr>
              <a:buFont typeface="Arial"/>
              <a:buChar char="•"/>
            </a:pPr>
            <a:r>
              <a:rPr sz="1500" b="0" i="0">
                <a:solidFill>
                  <a:srgbClr val="262626"/>
                </a:solidFill>
                <a:latin typeface="Calibri"/>
              </a:rPr>
              <a:t>SLAs give credits, not guarantees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1.4</a:t>
            </a:r>
            <a:r>
              <a:rPr sz="2400" b="1" i="0">
                <a:solidFill>
                  <a:srgbClr val="FFFFFF"/>
                </a:solidFill>
                <a:latin typeface="Calibri"/>
              </a:rPr>
              <a:t> How the Boundary Moves with the Service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0.png"/>
          <p:cNvPicPr>
            <a:picLocks noChangeAspect="1"/>
          </p:cNvPicPr>
          <p:nvPr/>
        </p:nvPicPr>
        <p:blipFill>
          <a:blip r:embed="rId4"/>
          <a:stretch>
            <a:fillRect/>
          </a:stretch>
        </p:blipFill>
        <p:spPr>
          <a:xfrm>
            <a:off x="457200" y="1143000"/>
            <a:ext cx="6949440" cy="4234815"/>
          </a:xfrm>
          <a:prstGeom prst="rect">
            <a:avLst/>
          </a:prstGeom>
          <a:ln w="9525">
            <a:solidFill>
              <a:srgbClr val="D9D9D9"/>
            </a:solidFill>
          </a:ln>
        </p:spPr>
      </p:pic>
      <p:sp>
        <p:nvSpPr>
          <p:cNvPr id="11" name="Always AWS body"/>
          <p:cNvSpPr/>
          <p:nvPr/>
        </p:nvSpPr>
        <p:spPr>
          <a:xfrm>
            <a:off x="7726679" y="1188720"/>
            <a:ext cx="400507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lways AWS head"/>
          <p:cNvSpPr/>
          <p:nvPr/>
        </p:nvSpPr>
        <p:spPr>
          <a:xfrm>
            <a:off x="7726679" y="1188720"/>
            <a:ext cx="4005072" cy="42062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Always AWS</a:t>
            </a:r>
          </a:p>
        </p:txBody>
      </p:sp>
      <p:sp>
        <p:nvSpPr>
          <p:cNvPr id="13" name="TextBox 12"/>
          <p:cNvSpPr txBox="1"/>
          <p:nvPr/>
        </p:nvSpPr>
        <p:spPr>
          <a:xfrm>
            <a:off x="7772400" y="1655064"/>
            <a:ext cx="3913632" cy="1024127"/>
          </a:xfrm>
          <a:prstGeom prst="rect">
            <a:avLst/>
          </a:prstGeom>
          <a:noFill/>
        </p:spPr>
        <p:txBody>
          <a:bodyPr wrap="square" anchor="t">
            <a:spAutoFit/>
          </a:bodyPr>
          <a:lstStyle/>
          <a:p>
            <a:pPr algn="l">
              <a:spcAft>
                <a:spcPts val="0"/>
              </a:spcAft>
            </a:pPr>
            <a:r>
              <a:rPr sz="1500" b="0" i="0">
                <a:solidFill>
                  <a:srgbClr val="262626"/>
                </a:solidFill>
                <a:latin typeface="Calibri"/>
              </a:rPr>
              <a:t>Physical security, hypervisor and hosts</a:t>
            </a:r>
          </a:p>
        </p:txBody>
      </p:sp>
      <p:sp>
        <p:nvSpPr>
          <p:cNvPr id="14" name="Always the customer body"/>
          <p:cNvSpPr/>
          <p:nvPr/>
        </p:nvSpPr>
        <p:spPr>
          <a:xfrm>
            <a:off x="7726679" y="2880360"/>
            <a:ext cx="400507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lways the customer head"/>
          <p:cNvSpPr/>
          <p:nvPr/>
        </p:nvSpPr>
        <p:spPr>
          <a:xfrm>
            <a:off x="7726679" y="2880360"/>
            <a:ext cx="4005072" cy="420624"/>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Always the customer</a:t>
            </a:r>
          </a:p>
        </p:txBody>
      </p:sp>
      <p:sp>
        <p:nvSpPr>
          <p:cNvPr id="16" name="TextBox 15"/>
          <p:cNvSpPr txBox="1"/>
          <p:nvPr/>
        </p:nvSpPr>
        <p:spPr>
          <a:xfrm>
            <a:off x="7772400" y="3346704"/>
            <a:ext cx="3913632" cy="1024127"/>
          </a:xfrm>
          <a:prstGeom prst="rect">
            <a:avLst/>
          </a:prstGeom>
          <a:noFill/>
        </p:spPr>
        <p:txBody>
          <a:bodyPr wrap="square" anchor="t">
            <a:spAutoFit/>
          </a:bodyPr>
          <a:lstStyle/>
          <a:p>
            <a:pPr algn="l">
              <a:spcAft>
                <a:spcPts val="0"/>
              </a:spcAft>
            </a:pPr>
            <a:r>
              <a:rPr sz="1500" b="0" i="0">
                <a:solidFill>
                  <a:srgbClr val="262626"/>
                </a:solidFill>
                <a:latin typeface="Calibri"/>
              </a:rPr>
              <a:t>IAM permissions, data classification, encryption choice</a:t>
            </a:r>
          </a:p>
        </p:txBody>
      </p:sp>
      <p:sp>
        <p:nvSpPr>
          <p:cNvPr id="17" name="Depends on the service body"/>
          <p:cNvSpPr/>
          <p:nvPr/>
        </p:nvSpPr>
        <p:spPr>
          <a:xfrm>
            <a:off x="7726679" y="4572000"/>
            <a:ext cx="400507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epends on the service head"/>
          <p:cNvSpPr/>
          <p:nvPr/>
        </p:nvSpPr>
        <p:spPr>
          <a:xfrm>
            <a:off x="7726679" y="4572000"/>
            <a:ext cx="4005072" cy="4206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Depends on the service</a:t>
            </a:r>
          </a:p>
        </p:txBody>
      </p:sp>
      <p:sp>
        <p:nvSpPr>
          <p:cNvPr id="19" name="TextBox 18"/>
          <p:cNvSpPr txBox="1"/>
          <p:nvPr/>
        </p:nvSpPr>
        <p:spPr>
          <a:xfrm>
            <a:off x="7772400" y="5038344"/>
            <a:ext cx="3913632" cy="1024127"/>
          </a:xfrm>
          <a:prstGeom prst="rect">
            <a:avLst/>
          </a:prstGeom>
          <a:noFill/>
        </p:spPr>
        <p:txBody>
          <a:bodyPr wrap="square" anchor="t">
            <a:spAutoFit/>
          </a:bodyPr>
          <a:lstStyle/>
          <a:p>
            <a:pPr algn="l">
              <a:spcAft>
                <a:spcPts val="0"/>
              </a:spcAft>
            </a:pPr>
            <a:r>
              <a:rPr sz="1500" b="0" i="0">
                <a:solidFill>
                  <a:srgbClr val="262626"/>
                </a:solidFill>
                <a:latin typeface="Calibri"/>
              </a:rPr>
              <a:t>OS and engine patching, backups, network rules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1.4</a:t>
            </a:r>
            <a:r>
              <a:rPr sz="2400" b="1" i="0">
                <a:solidFill>
                  <a:srgbClr val="FFFFFF"/>
                </a:solidFill>
                <a:latin typeface="Calibri"/>
              </a:rPr>
              <a:t> Security Implications for BookStash</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graphicFrame>
        <p:nvGraphicFramePr>
          <p:cNvPr id="10" name="Table 9"/>
          <p:cNvGraphicFramePr>
            <a:graphicFrameLocks noGrp="1"/>
          </p:cNvGraphicFramePr>
          <p:nvPr/>
        </p:nvGraphicFramePr>
        <p:xfrm>
          <a:off x="457200" y="1188720"/>
          <a:ext cx="7315200" cy="4608576"/>
        </p:xfrm>
        <a:graphic>
          <a:graphicData uri="http://schemas.openxmlformats.org/drawingml/2006/table">
            <a:tbl>
              <a:tblPr firstRow="1">
                <a:tableStyleId>{5940675A-B579-460E-94D1-54222C63F5DA}</a:tableStyleId>
              </a:tblPr>
              <a:tblGrid>
                <a:gridCol w="3931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658368">
                <a:tc>
                  <a:txBody>
                    <a:bodyPr/>
                    <a:lstStyle/>
                    <a:p>
                      <a:r>
                        <a:rPr sz="1500" b="1" i="0">
                          <a:solidFill>
                            <a:srgbClr val="FFFFFF"/>
                          </a:solidFill>
                          <a:latin typeface="Calibri"/>
                        </a:rPr>
                        <a:t>Baseline rule</a:t>
                      </a:r>
                    </a:p>
                  </a:txBody>
                  <a:tcPr marL="73152" marR="73152" marT="36576" marB="36576" anchor="ctr">
                    <a:solidFill>
                      <a:srgbClr val="156082"/>
                    </a:solidFill>
                  </a:tcPr>
                </a:tc>
                <a:tc>
                  <a:txBody>
                    <a:bodyPr/>
                    <a:lstStyle/>
                    <a:p>
                      <a:r>
                        <a:rPr sz="1500" b="1" i="0">
                          <a:solidFill>
                            <a:srgbClr val="FFFFFF"/>
                          </a:solidFill>
                          <a:latin typeface="Calibri"/>
                        </a:rPr>
                        <a:t>Risk addressed</a:t>
                      </a:r>
                    </a:p>
                  </a:txBody>
                  <a:tcPr marL="73152" marR="73152" marT="36576" marB="36576" anchor="ctr">
                    <a:solidFill>
                      <a:srgbClr val="156082"/>
                    </a:solidFill>
                  </a:tcPr>
                </a:tc>
                <a:extLst>
                  <a:ext uri="{0D108BD9-81ED-4DB2-BD59-A6C34878D82A}">
                    <a16:rowId xmlns:a16="http://schemas.microsoft.com/office/drawing/2014/main" val="10000"/>
                  </a:ext>
                </a:extLst>
              </a:tr>
              <a:tr h="658368">
                <a:tc>
                  <a:txBody>
                    <a:bodyPr/>
                    <a:lstStyle/>
                    <a:p>
                      <a:r>
                        <a:rPr sz="1500" b="1" i="0">
                          <a:solidFill>
                            <a:srgbClr val="002060"/>
                          </a:solidFill>
                          <a:latin typeface="Calibri"/>
                        </a:rPr>
                        <a:t>Tasks use IAM roles, no long-lived keys</a:t>
                      </a:r>
                    </a:p>
                  </a:txBody>
                  <a:tcPr marL="73152" marR="73152" marT="36576" marB="36576" anchor="ctr">
                    <a:solidFill>
                      <a:srgbClr val="FFFFFF"/>
                    </a:solidFill>
                  </a:tcPr>
                </a:tc>
                <a:tc>
                  <a:txBody>
                    <a:bodyPr/>
                    <a:lstStyle/>
                    <a:p>
                      <a:r>
                        <a:rPr sz="1500" b="0" i="0">
                          <a:solidFill>
                            <a:srgbClr val="262626"/>
                          </a:solidFill>
                          <a:latin typeface="Calibri"/>
                        </a:rPr>
                        <a:t>Leaked keys giving permanent access</a:t>
                      </a:r>
                    </a:p>
                  </a:txBody>
                  <a:tcPr marL="73152" marR="73152" marT="36576" marB="36576" anchor="ctr">
                    <a:solidFill>
                      <a:srgbClr val="FFFFFF"/>
                    </a:solidFill>
                  </a:tcPr>
                </a:tc>
                <a:extLst>
                  <a:ext uri="{0D108BD9-81ED-4DB2-BD59-A6C34878D82A}">
                    <a16:rowId xmlns:a16="http://schemas.microsoft.com/office/drawing/2014/main" val="10001"/>
                  </a:ext>
                </a:extLst>
              </a:tr>
              <a:tr h="658368">
                <a:tc>
                  <a:txBody>
                    <a:bodyPr/>
                    <a:lstStyle/>
                    <a:p>
                      <a:r>
                        <a:rPr sz="1500" b="1" i="0">
                          <a:solidFill>
                            <a:srgbClr val="002060"/>
                          </a:solidFill>
                          <a:latin typeface="Calibri"/>
                        </a:rPr>
                        <a:t>Least-privilege task roles</a:t>
                      </a:r>
                    </a:p>
                  </a:txBody>
                  <a:tcPr marL="73152" marR="73152" marT="36576" marB="36576" anchor="ctr">
                    <a:solidFill>
                      <a:srgbClr val="F2F2F2"/>
                    </a:solidFill>
                  </a:tcPr>
                </a:tc>
                <a:tc>
                  <a:txBody>
                    <a:bodyPr/>
                    <a:lstStyle/>
                    <a:p>
                      <a:r>
                        <a:rPr sz="1500" b="0" i="0">
                          <a:solidFill>
                            <a:srgbClr val="262626"/>
                          </a:solidFill>
                          <a:latin typeface="Calibri"/>
                        </a:rPr>
                        <a:t>One compromised task reaching everything</a:t>
                      </a:r>
                    </a:p>
                  </a:txBody>
                  <a:tcPr marL="73152" marR="73152" marT="36576" marB="36576" anchor="ctr">
                    <a:solidFill>
                      <a:srgbClr val="F2F2F2"/>
                    </a:solidFill>
                  </a:tcPr>
                </a:tc>
                <a:extLst>
                  <a:ext uri="{0D108BD9-81ED-4DB2-BD59-A6C34878D82A}">
                    <a16:rowId xmlns:a16="http://schemas.microsoft.com/office/drawing/2014/main" val="10002"/>
                  </a:ext>
                </a:extLst>
              </a:tr>
              <a:tr h="658368">
                <a:tc>
                  <a:txBody>
                    <a:bodyPr/>
                    <a:lstStyle/>
                    <a:p>
                      <a:r>
                        <a:rPr sz="1500" b="1" i="0">
                          <a:solidFill>
                            <a:srgbClr val="002060"/>
                          </a:solidFill>
                          <a:latin typeface="Calibri"/>
                        </a:rPr>
                        <a:t>Data stores in private subnets</a:t>
                      </a:r>
                    </a:p>
                  </a:txBody>
                  <a:tcPr marL="73152" marR="73152" marT="36576" marB="36576" anchor="ctr">
                    <a:solidFill>
                      <a:srgbClr val="FFFFFF"/>
                    </a:solidFill>
                  </a:tcPr>
                </a:tc>
                <a:tc>
                  <a:txBody>
                    <a:bodyPr/>
                    <a:lstStyle/>
                    <a:p>
                      <a:r>
                        <a:rPr sz="1500" b="0" i="0">
                          <a:solidFill>
                            <a:srgbClr val="262626"/>
                          </a:solidFill>
                          <a:latin typeface="Calibri"/>
                        </a:rPr>
                        <a:t>Direct internet access to databases</a:t>
                      </a:r>
                    </a:p>
                  </a:txBody>
                  <a:tcPr marL="73152" marR="73152" marT="36576" marB="36576" anchor="ctr">
                    <a:solidFill>
                      <a:srgbClr val="FFFFFF"/>
                    </a:solidFill>
                  </a:tcPr>
                </a:tc>
                <a:extLst>
                  <a:ext uri="{0D108BD9-81ED-4DB2-BD59-A6C34878D82A}">
                    <a16:rowId xmlns:a16="http://schemas.microsoft.com/office/drawing/2014/main" val="10003"/>
                  </a:ext>
                </a:extLst>
              </a:tr>
              <a:tr h="658368">
                <a:tc>
                  <a:txBody>
                    <a:bodyPr/>
                    <a:lstStyle/>
                    <a:p>
                      <a:r>
                        <a:rPr sz="1500" b="1" i="0">
                          <a:solidFill>
                            <a:srgbClr val="002060"/>
                          </a:solidFill>
                          <a:latin typeface="Calibri"/>
                        </a:rPr>
                        <a:t>KMS encryption at rest everywhere</a:t>
                      </a:r>
                    </a:p>
                  </a:txBody>
                  <a:tcPr marL="73152" marR="73152" marT="36576" marB="36576" anchor="ctr">
                    <a:solidFill>
                      <a:srgbClr val="F2F2F2"/>
                    </a:solidFill>
                  </a:tcPr>
                </a:tc>
                <a:tc>
                  <a:txBody>
                    <a:bodyPr/>
                    <a:lstStyle/>
                    <a:p>
                      <a:r>
                        <a:rPr sz="1500" b="0" i="0">
                          <a:solidFill>
                            <a:srgbClr val="262626"/>
                          </a:solidFill>
                          <a:latin typeface="Calibri"/>
                        </a:rPr>
                        <a:t>Exposure of snapshots or media</a:t>
                      </a:r>
                    </a:p>
                  </a:txBody>
                  <a:tcPr marL="73152" marR="73152" marT="36576" marB="36576" anchor="ctr">
                    <a:solidFill>
                      <a:srgbClr val="F2F2F2"/>
                    </a:solidFill>
                  </a:tcPr>
                </a:tc>
                <a:extLst>
                  <a:ext uri="{0D108BD9-81ED-4DB2-BD59-A6C34878D82A}">
                    <a16:rowId xmlns:a16="http://schemas.microsoft.com/office/drawing/2014/main" val="10004"/>
                  </a:ext>
                </a:extLst>
              </a:tr>
              <a:tr h="658368">
                <a:tc>
                  <a:txBody>
                    <a:bodyPr/>
                    <a:lstStyle/>
                    <a:p>
                      <a:r>
                        <a:rPr sz="1500" b="1" i="0">
                          <a:solidFill>
                            <a:srgbClr val="002060"/>
                          </a:solidFill>
                          <a:latin typeface="Calibri"/>
                        </a:rPr>
                        <a:t>TLS on every hop</a:t>
                      </a:r>
                    </a:p>
                  </a:txBody>
                  <a:tcPr marL="73152" marR="73152" marT="36576" marB="36576" anchor="ctr">
                    <a:solidFill>
                      <a:srgbClr val="FFFFFF"/>
                    </a:solidFill>
                  </a:tcPr>
                </a:tc>
                <a:tc>
                  <a:txBody>
                    <a:bodyPr/>
                    <a:lstStyle/>
                    <a:p>
                      <a:r>
                        <a:rPr sz="1500" b="0" i="0">
                          <a:solidFill>
                            <a:srgbClr val="262626"/>
                          </a:solidFill>
                          <a:latin typeface="Calibri"/>
                        </a:rPr>
                        <a:t>Interception of data in transit</a:t>
                      </a:r>
                    </a:p>
                  </a:txBody>
                  <a:tcPr marL="73152" marR="73152" marT="36576" marB="36576" anchor="ctr">
                    <a:solidFill>
                      <a:srgbClr val="FFFFFF"/>
                    </a:solidFill>
                  </a:tcPr>
                </a:tc>
                <a:extLst>
                  <a:ext uri="{0D108BD9-81ED-4DB2-BD59-A6C34878D82A}">
                    <a16:rowId xmlns:a16="http://schemas.microsoft.com/office/drawing/2014/main" val="10005"/>
                  </a:ext>
                </a:extLst>
              </a:tr>
              <a:tr h="658368">
                <a:tc>
                  <a:txBody>
                    <a:bodyPr/>
                    <a:lstStyle/>
                    <a:p>
                      <a:r>
                        <a:rPr sz="1500" b="1" i="0">
                          <a:solidFill>
                            <a:srgbClr val="002060"/>
                          </a:solidFill>
                          <a:latin typeface="Calibri"/>
                        </a:rPr>
                        <a:t>CloudTrail in all Regions, separate account</a:t>
                      </a:r>
                    </a:p>
                  </a:txBody>
                  <a:tcPr marL="73152" marR="73152" marT="36576" marB="36576" anchor="ctr">
                    <a:solidFill>
                      <a:srgbClr val="F2F2F2"/>
                    </a:solidFill>
                  </a:tcPr>
                </a:tc>
                <a:tc>
                  <a:txBody>
                    <a:bodyPr/>
                    <a:lstStyle/>
                    <a:p>
                      <a:r>
                        <a:rPr sz="1500" b="0" i="0">
                          <a:solidFill>
                            <a:srgbClr val="262626"/>
                          </a:solidFill>
                          <a:latin typeface="Calibri"/>
                        </a:rPr>
                        <a:t>Missing or deleted audit evidence</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11" name="Typical customer-side errors body"/>
          <p:cNvSpPr/>
          <p:nvPr/>
        </p:nvSpPr>
        <p:spPr>
          <a:xfrm>
            <a:off x="8092440" y="1188720"/>
            <a:ext cx="3639312" cy="50292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ypical customer-side errors head"/>
          <p:cNvSpPr/>
          <p:nvPr/>
        </p:nvSpPr>
        <p:spPr>
          <a:xfrm>
            <a:off x="8092440" y="1188720"/>
            <a:ext cx="3639312"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Typical customer-side errors</a:t>
            </a:r>
          </a:p>
        </p:txBody>
      </p:sp>
      <p:sp>
        <p:nvSpPr>
          <p:cNvPr id="13" name="TextBox 12"/>
          <p:cNvSpPr txBox="1"/>
          <p:nvPr/>
        </p:nvSpPr>
        <p:spPr>
          <a:xfrm>
            <a:off x="8138160" y="1691640"/>
            <a:ext cx="3547872" cy="4480560"/>
          </a:xfrm>
          <a:prstGeom prst="rect">
            <a:avLst/>
          </a:prstGeom>
          <a:noFill/>
        </p:spPr>
        <p:txBody>
          <a:bodyPr wrap="square" anchor="t">
            <a:spAutoFit/>
          </a:bodyPr>
          <a:lstStyle/>
          <a:p>
            <a:pPr marL="228600" indent="-228600" algn="l">
              <a:spcAft>
                <a:spcPts val="400"/>
              </a:spcAft>
              <a:buClr>
                <a:srgbClr val="E97132"/>
              </a:buClr>
              <a:buFont typeface="Arial"/>
              <a:buChar char="•"/>
            </a:pPr>
            <a:r>
              <a:rPr sz="1600" b="0" i="0">
                <a:solidFill>
                  <a:srgbClr val="262626"/>
                </a:solidFill>
                <a:latin typeface="Calibri"/>
              </a:rPr>
              <a:t>Storage bucket open to the internet</a:t>
            </a:r>
          </a:p>
          <a:p>
            <a:pPr marL="228600" indent="-228600" algn="l">
              <a:spcAft>
                <a:spcPts val="400"/>
              </a:spcAft>
              <a:buClr>
                <a:srgbClr val="E97132"/>
              </a:buClr>
              <a:buFont typeface="Arial"/>
              <a:buChar char="•"/>
            </a:pPr>
            <a:r>
              <a:rPr sz="1600" b="0" i="0">
                <a:solidFill>
                  <a:srgbClr val="262626"/>
                </a:solidFill>
                <a:latin typeface="Calibri"/>
              </a:rPr>
              <a:t>Access keys in a public repository</a:t>
            </a:r>
          </a:p>
          <a:p>
            <a:pPr marL="228600" indent="-228600" algn="l">
              <a:spcAft>
                <a:spcPts val="400"/>
              </a:spcAft>
              <a:buClr>
                <a:srgbClr val="E97132"/>
              </a:buClr>
              <a:buFont typeface="Arial"/>
              <a:buChar char="•"/>
            </a:pPr>
            <a:r>
              <a:rPr sz="1600" b="0" i="0">
                <a:solidFill>
                  <a:srgbClr val="262626"/>
                </a:solidFill>
                <a:latin typeface="Calibri"/>
              </a:rPr>
              <a:t>Database security group allowing 0.0.0.0/0</a:t>
            </a:r>
          </a:p>
          <a:p>
            <a:pPr marL="228600" indent="-228600" algn="l">
              <a:spcAft>
                <a:spcPts val="400"/>
              </a:spcAft>
              <a:buClr>
                <a:srgbClr val="E97132"/>
              </a:buClr>
              <a:buFont typeface="Arial"/>
              <a:buChar char="•"/>
            </a:pPr>
            <a:r>
              <a:rPr sz="1600" b="0" i="0">
                <a:solidFill>
                  <a:srgbClr val="262626"/>
                </a:solidFill>
                <a:latin typeface="Calibri"/>
              </a:rPr>
              <a:t>IAM policy far broader than needed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1.4</a:t>
            </a:r>
            <a:r>
              <a:rPr sz="2400" b="1" i="0">
                <a:solidFill>
                  <a:srgbClr val="FFFFFF"/>
                </a:solidFill>
                <a:latin typeface="Calibri"/>
              </a:rPr>
              <a:t> Reliability: Availability of a Chain</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ALB"/>
          <p:cNvSpPr/>
          <p:nvPr/>
        </p:nvSpPr>
        <p:spPr>
          <a:xfrm>
            <a:off x="457200" y="1280160"/>
            <a:ext cx="1600200" cy="1097280"/>
          </a:xfrm>
          <a:prstGeom prst="roundRect">
            <a:avLst>
              <a:gd name="adj" fmla="val 1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54864" rIns="36576" bIns="54864" rtlCol="0" anchor="ctr"/>
          <a:lstStyle/>
          <a:p>
            <a:pPr algn="ctr">
              <a:spcAft>
                <a:spcPts val="200"/>
              </a:spcAft>
            </a:pPr>
            <a:r>
              <a:rPr sz="1600" b="1" i="0">
                <a:solidFill>
                  <a:srgbClr val="FFFFFF"/>
                </a:solidFill>
                <a:latin typeface="Calibri"/>
              </a:rPr>
              <a:t>ALB</a:t>
            </a:r>
          </a:p>
          <a:p>
            <a:pPr algn="ctr">
              <a:spcAft>
                <a:spcPts val="0"/>
              </a:spcAft>
            </a:pPr>
            <a:r>
              <a:rPr sz="1500" b="0" i="0">
                <a:solidFill>
                  <a:srgbClr val="FFFFFF"/>
                </a:solidFill>
                <a:latin typeface="Calibri"/>
              </a:rPr>
              <a:t>99.99%</a:t>
            </a:r>
          </a:p>
        </p:txBody>
      </p:sp>
      <p:cxnSp>
        <p:nvCxnSpPr>
          <p:cNvPr id="11" name="Connector 10"/>
          <p:cNvCxnSpPr/>
          <p:nvPr/>
        </p:nvCxnSpPr>
        <p:spPr>
          <a:xfrm>
            <a:off x="2057400" y="1828800"/>
            <a:ext cx="274320"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sp>
        <p:nvSpPr>
          <p:cNvPr id="12" name="API tier"/>
          <p:cNvSpPr/>
          <p:nvPr/>
        </p:nvSpPr>
        <p:spPr>
          <a:xfrm>
            <a:off x="2331720" y="1280160"/>
            <a:ext cx="1600200" cy="1097280"/>
          </a:xfrm>
          <a:prstGeom prst="roundRect">
            <a:avLst>
              <a:gd name="adj" fmla="val 1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54864" rIns="36576" bIns="54864" rtlCol="0" anchor="ctr"/>
          <a:lstStyle/>
          <a:p>
            <a:pPr algn="ctr">
              <a:spcAft>
                <a:spcPts val="200"/>
              </a:spcAft>
            </a:pPr>
            <a:r>
              <a:rPr sz="1600" b="1" i="0">
                <a:solidFill>
                  <a:srgbClr val="FFFFFF"/>
                </a:solidFill>
                <a:latin typeface="Calibri"/>
              </a:rPr>
              <a:t>API tier</a:t>
            </a:r>
          </a:p>
          <a:p>
            <a:pPr algn="ctr">
              <a:spcAft>
                <a:spcPts val="0"/>
              </a:spcAft>
            </a:pPr>
            <a:r>
              <a:rPr sz="1500" b="0" i="0">
                <a:solidFill>
                  <a:srgbClr val="FFFFFF"/>
                </a:solidFill>
                <a:latin typeface="Calibri"/>
              </a:rPr>
              <a:t>99.95%</a:t>
            </a:r>
          </a:p>
        </p:txBody>
      </p:sp>
      <p:cxnSp>
        <p:nvCxnSpPr>
          <p:cNvPr id="13" name="Connector 12"/>
          <p:cNvCxnSpPr/>
          <p:nvPr/>
        </p:nvCxnSpPr>
        <p:spPr>
          <a:xfrm>
            <a:off x="3931920" y="1828800"/>
            <a:ext cx="274320"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sp>
        <p:nvSpPr>
          <p:cNvPr id="14" name="ElastiCache"/>
          <p:cNvSpPr/>
          <p:nvPr/>
        </p:nvSpPr>
        <p:spPr>
          <a:xfrm>
            <a:off x="4206240" y="1280160"/>
            <a:ext cx="1600200" cy="109728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54864" rIns="36576" bIns="54864" rtlCol="0" anchor="ctr"/>
          <a:lstStyle/>
          <a:p>
            <a:pPr algn="ctr">
              <a:spcAft>
                <a:spcPts val="200"/>
              </a:spcAft>
            </a:pPr>
            <a:r>
              <a:rPr sz="1600" b="1" i="0">
                <a:solidFill>
                  <a:srgbClr val="FFFFFF"/>
                </a:solidFill>
                <a:latin typeface="Calibri"/>
              </a:rPr>
              <a:t>ElastiCache</a:t>
            </a:r>
          </a:p>
          <a:p>
            <a:pPr algn="ctr">
              <a:spcAft>
                <a:spcPts val="0"/>
              </a:spcAft>
            </a:pPr>
            <a:r>
              <a:rPr sz="1500" b="0" i="0">
                <a:solidFill>
                  <a:srgbClr val="FFFFFF"/>
                </a:solidFill>
                <a:latin typeface="Calibri"/>
              </a:rPr>
              <a:t>99.9%</a:t>
            </a:r>
          </a:p>
        </p:txBody>
      </p:sp>
      <p:cxnSp>
        <p:nvCxnSpPr>
          <p:cNvPr id="15" name="Connector 14"/>
          <p:cNvCxnSpPr/>
          <p:nvPr/>
        </p:nvCxnSpPr>
        <p:spPr>
          <a:xfrm>
            <a:off x="5806440" y="1828800"/>
            <a:ext cx="274319"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sp>
        <p:nvSpPr>
          <p:cNvPr id="16" name="RDS"/>
          <p:cNvSpPr/>
          <p:nvPr/>
        </p:nvSpPr>
        <p:spPr>
          <a:xfrm>
            <a:off x="6080759" y="1280160"/>
            <a:ext cx="1600200" cy="1097280"/>
          </a:xfrm>
          <a:prstGeom prst="roundRect">
            <a:avLst>
              <a:gd name="adj" fmla="val 1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54864" rIns="36576" bIns="54864" rtlCol="0" anchor="ctr"/>
          <a:lstStyle/>
          <a:p>
            <a:pPr algn="ctr">
              <a:spcAft>
                <a:spcPts val="200"/>
              </a:spcAft>
            </a:pPr>
            <a:r>
              <a:rPr sz="1600" b="1" i="0">
                <a:solidFill>
                  <a:srgbClr val="FFFFFF"/>
                </a:solidFill>
                <a:latin typeface="Calibri"/>
              </a:rPr>
              <a:t>RDS</a:t>
            </a:r>
          </a:p>
          <a:p>
            <a:pPr algn="ctr">
              <a:spcAft>
                <a:spcPts val="0"/>
              </a:spcAft>
            </a:pPr>
            <a:r>
              <a:rPr sz="1500" b="0" i="0">
                <a:solidFill>
                  <a:srgbClr val="FFFFFF"/>
                </a:solidFill>
                <a:latin typeface="Calibri"/>
              </a:rPr>
              <a:t>99.95%</a:t>
            </a:r>
          </a:p>
        </p:txBody>
      </p:sp>
      <p:sp>
        <p:nvSpPr>
          <p:cNvPr id="17" name="Code block"/>
          <p:cNvSpPr/>
          <p:nvPr/>
        </p:nvSpPr>
        <p:spPr>
          <a:xfrm>
            <a:off x="457200" y="2697480"/>
            <a:ext cx="7269480" cy="1143000"/>
          </a:xfrm>
          <a:prstGeom prst="rect">
            <a:avLst/>
          </a:prstGeom>
          <a:solidFill>
            <a:srgbClr val="F5F5F5"/>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37160" tIns="91440" bIns="91440" rtlCol="0" anchor="t"/>
          <a:lstStyle/>
          <a:p>
            <a:pPr algn="l">
              <a:spcAft>
                <a:spcPts val="0"/>
              </a:spcAft>
            </a:pPr>
            <a:r>
              <a:rPr sz="1400" b="0" i="0">
                <a:solidFill>
                  <a:srgbClr val="1A1A1A"/>
                </a:solidFill>
                <a:latin typeface="Courier New"/>
              </a:rPr>
              <a:t>A = 0.9999 x 0.9995 x 0.999 x 0.9995 = 0.9979</a:t>
            </a:r>
          </a:p>
          <a:p>
            <a:pPr algn="l">
              <a:spcAft>
                <a:spcPts val="0"/>
              </a:spcAft>
            </a:pPr>
            <a:r>
              <a:rPr sz="1400" b="0" i="0">
                <a:solidFill>
                  <a:srgbClr val="1A1A1A"/>
                </a:solidFill>
                <a:latin typeface="Courier New"/>
              </a:rPr>
              <a:t>Downtime = (1 - 0.9979) x 30 x 24 x 60 = about 91 min/month</a:t>
            </a:r>
          </a:p>
        </p:txBody>
      </p:sp>
      <p:sp>
        <p:nvSpPr>
          <p:cNvPr id="18" name="TextBox 17"/>
          <p:cNvSpPr txBox="1"/>
          <p:nvPr/>
        </p:nvSpPr>
        <p:spPr>
          <a:xfrm>
            <a:off x="457200" y="4069080"/>
            <a:ext cx="7269480" cy="2194560"/>
          </a:xfrm>
          <a:prstGeom prst="rect">
            <a:avLst/>
          </a:prstGeom>
          <a:noFill/>
        </p:spPr>
        <p:txBody>
          <a:bodyPr wrap="square" anchor="t">
            <a:spAutoFit/>
          </a:bodyPr>
          <a:lstStyle/>
          <a:p>
            <a:pPr algn="l">
              <a:spcAft>
                <a:spcPts val="600"/>
              </a:spcAft>
            </a:pPr>
            <a:r>
              <a:rPr sz="1700" b="1" i="0">
                <a:solidFill>
                  <a:srgbClr val="002060"/>
                </a:solidFill>
                <a:latin typeface="Calibri"/>
              </a:rPr>
              <a:t>Two design choices that help</a:t>
            </a:r>
          </a:p>
          <a:p>
            <a:pPr marL="228600" indent="-228600" algn="l">
              <a:spcAft>
                <a:spcPts val="600"/>
              </a:spcAft>
              <a:buClr>
                <a:srgbClr val="E97132"/>
              </a:buClr>
              <a:buFont typeface="Arial"/>
              <a:buChar char="•"/>
            </a:pPr>
            <a:r>
              <a:rPr sz="1500" b="0" i="0">
                <a:solidFill>
                  <a:srgbClr val="262626"/>
                </a:solidFill>
                <a:latin typeface="Calibri"/>
              </a:rPr>
              <a:t>Cache failure only slows reads, so it leaves the chain: A rises to about 99.89%</a:t>
            </a:r>
          </a:p>
          <a:p>
            <a:pPr marL="228600" indent="-228600" algn="l">
              <a:spcAft>
                <a:spcPts val="0"/>
              </a:spcAft>
              <a:buClr>
                <a:srgbClr val="E97132"/>
              </a:buClr>
              <a:buFont typeface="Arial"/>
              <a:buChar char="•"/>
            </a:pPr>
            <a:r>
              <a:rPr sz="1500" b="0" i="0">
                <a:solidFill>
                  <a:srgbClr val="262626"/>
                </a:solidFill>
                <a:latin typeface="Calibri"/>
              </a:rPr>
              <a:t>Two API tasks in two AZs: tier availability = 1 - (1 - 0.9995)^2, close to 1</a:t>
            </a:r>
          </a:p>
        </p:txBody>
      </p:sp>
      <p:sp>
        <p:nvSpPr>
          <p:cNvPr id="19" name="Rounded Rectangle 18"/>
          <p:cNvSpPr/>
          <p:nvPr/>
        </p:nvSpPr>
        <p:spPr>
          <a:xfrm>
            <a:off x="8092440" y="1280160"/>
            <a:ext cx="3639312" cy="146304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600" b="1" i="0">
                <a:solidFill>
                  <a:srgbClr val="FFFFFF"/>
                </a:solidFill>
                <a:latin typeface="Calibri"/>
              </a:rPr>
              <a:t>99.79%</a:t>
            </a:r>
          </a:p>
          <a:p>
            <a:pPr algn="ctr">
              <a:spcAft>
                <a:spcPts val="0"/>
              </a:spcAft>
            </a:pPr>
            <a:r>
              <a:rPr sz="1400" b="0" i="0">
                <a:solidFill>
                  <a:srgbClr val="FFFFFF"/>
                </a:solidFill>
                <a:latin typeface="Calibri"/>
              </a:rPr>
              <a:t>all four in series (about 91 min/month down)</a:t>
            </a:r>
          </a:p>
        </p:txBody>
      </p:sp>
      <p:sp>
        <p:nvSpPr>
          <p:cNvPr id="20" name="Rounded Rectangle 19"/>
          <p:cNvSpPr/>
          <p:nvPr/>
        </p:nvSpPr>
        <p:spPr>
          <a:xfrm>
            <a:off x="8092440" y="2926080"/>
            <a:ext cx="3639312" cy="146304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600" b="1" i="0">
                <a:solidFill>
                  <a:srgbClr val="FFFFFF"/>
                </a:solidFill>
                <a:latin typeface="Calibri"/>
              </a:rPr>
              <a:t>99.89%</a:t>
            </a:r>
          </a:p>
          <a:p>
            <a:pPr algn="ctr">
              <a:spcAft>
                <a:spcPts val="0"/>
              </a:spcAft>
            </a:pPr>
            <a:r>
              <a:rPr sz="1400" b="0" i="0">
                <a:solidFill>
                  <a:srgbClr val="FFFFFF"/>
                </a:solidFill>
                <a:latin typeface="Calibri"/>
              </a:rPr>
              <a:t>cache optional for correctness</a:t>
            </a:r>
          </a:p>
        </p:txBody>
      </p:sp>
      <p:sp>
        <p:nvSpPr>
          <p:cNvPr id="21" name="Rounded Rectangle 20"/>
          <p:cNvSpPr/>
          <p:nvPr/>
        </p:nvSpPr>
        <p:spPr>
          <a:xfrm>
            <a:off x="8092440" y="4572000"/>
            <a:ext cx="3639312" cy="1463040"/>
          </a:xfrm>
          <a:prstGeom prst="roundRect">
            <a:avLst>
              <a:gd name="adj" fmla="val 8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600" b="1" i="0">
                <a:solidFill>
                  <a:srgbClr val="FFFFFF"/>
                </a:solidFill>
                <a:latin typeface="Calibri"/>
              </a:rPr>
              <a:t>~100%</a:t>
            </a:r>
          </a:p>
          <a:p>
            <a:pPr algn="ctr">
              <a:spcAft>
                <a:spcPts val="0"/>
              </a:spcAft>
            </a:pPr>
            <a:r>
              <a:rPr sz="1400" b="0" i="0">
                <a:solidFill>
                  <a:srgbClr val="FFFFFF"/>
                </a:solidFill>
                <a:latin typeface="Calibri"/>
              </a:rPr>
              <a:t>API tier with two independent tasks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1.5</a:t>
            </a:r>
            <a:r>
              <a:rPr sz="2400" b="1" i="0">
                <a:solidFill>
                  <a:srgbClr val="FFFFFF"/>
                </a:solidFill>
                <a:latin typeface="Calibri"/>
              </a:rPr>
              <a:t> AWS, Azure and GCP Compared</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1.png"/>
          <p:cNvPicPr>
            <a:picLocks noChangeAspect="1"/>
          </p:cNvPicPr>
          <p:nvPr/>
        </p:nvPicPr>
        <p:blipFill>
          <a:blip r:embed="rId4"/>
          <a:stretch>
            <a:fillRect/>
          </a:stretch>
        </p:blipFill>
        <p:spPr>
          <a:xfrm>
            <a:off x="1892807" y="1097280"/>
            <a:ext cx="8412480" cy="3696392"/>
          </a:xfrm>
          <a:prstGeom prst="rect">
            <a:avLst/>
          </a:prstGeom>
        </p:spPr>
      </p:pic>
      <p:sp>
        <p:nvSpPr>
          <p:cNvPr id="11" name="Edge and LB body"/>
          <p:cNvSpPr/>
          <p:nvPr/>
        </p:nvSpPr>
        <p:spPr>
          <a:xfrm>
            <a:off x="457200" y="4892040"/>
            <a:ext cx="269748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dge and LB head"/>
          <p:cNvSpPr/>
          <p:nvPr/>
        </p:nvSpPr>
        <p:spPr>
          <a:xfrm>
            <a:off x="457200" y="4892040"/>
            <a:ext cx="2697480" cy="38404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Edge and LB</a:t>
            </a:r>
          </a:p>
        </p:txBody>
      </p:sp>
      <p:sp>
        <p:nvSpPr>
          <p:cNvPr id="13" name="TextBox 12"/>
          <p:cNvSpPr txBox="1"/>
          <p:nvPr/>
        </p:nvSpPr>
        <p:spPr>
          <a:xfrm>
            <a:off x="502920" y="5321807"/>
            <a:ext cx="2606040" cy="896112"/>
          </a:xfrm>
          <a:prstGeom prst="rect">
            <a:avLst/>
          </a:prstGeom>
          <a:noFill/>
        </p:spPr>
        <p:txBody>
          <a:bodyPr wrap="square" anchor="t">
            <a:spAutoFit/>
          </a:bodyPr>
          <a:lstStyle/>
          <a:p>
            <a:pPr algn="l">
              <a:spcAft>
                <a:spcPts val="0"/>
              </a:spcAft>
            </a:pPr>
            <a:r>
              <a:rPr sz="1400" b="0" i="0">
                <a:solidFill>
                  <a:srgbClr val="262626"/>
                </a:solidFill>
                <a:latin typeface="Calibri"/>
              </a:rPr>
              <a:t>Azure Front Door is both CDN and global L7 balancer</a:t>
            </a:r>
          </a:p>
        </p:txBody>
      </p:sp>
      <p:sp>
        <p:nvSpPr>
          <p:cNvPr id="14" name="Serverless containers body"/>
          <p:cNvSpPr/>
          <p:nvPr/>
        </p:nvSpPr>
        <p:spPr>
          <a:xfrm>
            <a:off x="3291840" y="4892040"/>
            <a:ext cx="269748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erverless containers head"/>
          <p:cNvSpPr/>
          <p:nvPr/>
        </p:nvSpPr>
        <p:spPr>
          <a:xfrm>
            <a:off x="3291840" y="4892040"/>
            <a:ext cx="269748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Serverless containers</a:t>
            </a:r>
          </a:p>
        </p:txBody>
      </p:sp>
      <p:sp>
        <p:nvSpPr>
          <p:cNvPr id="16" name="TextBox 15"/>
          <p:cNvSpPr txBox="1"/>
          <p:nvPr/>
        </p:nvSpPr>
        <p:spPr>
          <a:xfrm>
            <a:off x="3337560" y="5321807"/>
            <a:ext cx="2606040" cy="896112"/>
          </a:xfrm>
          <a:prstGeom prst="rect">
            <a:avLst/>
          </a:prstGeom>
          <a:noFill/>
        </p:spPr>
        <p:txBody>
          <a:bodyPr wrap="square" anchor="t">
            <a:spAutoFit/>
          </a:bodyPr>
          <a:lstStyle/>
          <a:p>
            <a:pPr algn="l">
              <a:spcAft>
                <a:spcPts val="0"/>
              </a:spcAft>
            </a:pPr>
            <a:r>
              <a:rPr sz="1400" b="0" i="0">
                <a:solidFill>
                  <a:srgbClr val="262626"/>
                </a:solidFill>
                <a:latin typeface="Calibri"/>
              </a:rPr>
              <a:t>Cloud Run and Container Apps scale to zero</a:t>
            </a:r>
          </a:p>
        </p:txBody>
      </p:sp>
      <p:sp>
        <p:nvSpPr>
          <p:cNvPr id="17" name="Network scope body"/>
          <p:cNvSpPr/>
          <p:nvPr/>
        </p:nvSpPr>
        <p:spPr>
          <a:xfrm>
            <a:off x="6126480" y="4892040"/>
            <a:ext cx="269748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Network scope head"/>
          <p:cNvSpPr/>
          <p:nvPr/>
        </p:nvSpPr>
        <p:spPr>
          <a:xfrm>
            <a:off x="6126480" y="4892040"/>
            <a:ext cx="2697480" cy="384048"/>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Network scope</a:t>
            </a:r>
          </a:p>
        </p:txBody>
      </p:sp>
      <p:sp>
        <p:nvSpPr>
          <p:cNvPr id="19" name="TextBox 18"/>
          <p:cNvSpPr txBox="1"/>
          <p:nvPr/>
        </p:nvSpPr>
        <p:spPr>
          <a:xfrm>
            <a:off x="6172200" y="5321807"/>
            <a:ext cx="2606040" cy="896112"/>
          </a:xfrm>
          <a:prstGeom prst="rect">
            <a:avLst/>
          </a:prstGeom>
          <a:noFill/>
        </p:spPr>
        <p:txBody>
          <a:bodyPr wrap="square" anchor="t">
            <a:spAutoFit/>
          </a:bodyPr>
          <a:lstStyle/>
          <a:p>
            <a:pPr algn="l">
              <a:spcAft>
                <a:spcPts val="0"/>
              </a:spcAft>
            </a:pPr>
            <a:r>
              <a:rPr sz="1400" b="0" i="0">
                <a:solidFill>
                  <a:srgbClr val="262626"/>
                </a:solidFill>
                <a:latin typeface="Calibri"/>
              </a:rPr>
              <a:t>A GCP VPC is global; AWS and Azure are regional</a:t>
            </a:r>
          </a:p>
        </p:txBody>
      </p:sp>
      <p:sp>
        <p:nvSpPr>
          <p:cNvPr id="20" name="Queues body"/>
          <p:cNvSpPr/>
          <p:nvPr/>
        </p:nvSpPr>
        <p:spPr>
          <a:xfrm>
            <a:off x="8961120" y="4892040"/>
            <a:ext cx="2697480" cy="137160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Queues head"/>
          <p:cNvSpPr/>
          <p:nvPr/>
        </p:nvSpPr>
        <p:spPr>
          <a:xfrm>
            <a:off x="8961120" y="4892040"/>
            <a:ext cx="2697480" cy="38404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Queues</a:t>
            </a:r>
          </a:p>
        </p:txBody>
      </p:sp>
      <p:sp>
        <p:nvSpPr>
          <p:cNvPr id="22" name="TextBox 21"/>
          <p:cNvSpPr txBox="1"/>
          <p:nvPr/>
        </p:nvSpPr>
        <p:spPr>
          <a:xfrm>
            <a:off x="9006840" y="5321807"/>
            <a:ext cx="2606040" cy="896112"/>
          </a:xfrm>
          <a:prstGeom prst="rect">
            <a:avLst/>
          </a:prstGeom>
          <a:noFill/>
        </p:spPr>
        <p:txBody>
          <a:bodyPr wrap="square" anchor="t">
            <a:spAutoFit/>
          </a:bodyPr>
          <a:lstStyle/>
          <a:p>
            <a:pPr algn="l">
              <a:spcAft>
                <a:spcPts val="0"/>
              </a:spcAft>
            </a:pPr>
            <a:r>
              <a:rPr sz="1400" b="0" i="0">
                <a:solidFill>
                  <a:srgbClr val="262626"/>
                </a:solidFill>
                <a:latin typeface="Calibri"/>
              </a:rPr>
              <a:t>Pub/Sub fans out; Cloud Tasks pushes to HTTP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1.5</a:t>
            </a:r>
            <a:r>
              <a:rPr sz="2400" b="1" i="0">
                <a:solidFill>
                  <a:srgbClr val="FFFFFF"/>
                </a:solidFill>
                <a:latin typeface="Calibri"/>
              </a:rPr>
              <a:t> Equivalents: Edge, Network and Compute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graphicFrame>
        <p:nvGraphicFramePr>
          <p:cNvPr id="10" name="Table 9"/>
          <p:cNvGraphicFramePr>
            <a:graphicFrameLocks noGrp="1"/>
          </p:cNvGraphicFramePr>
          <p:nvPr/>
        </p:nvGraphicFramePr>
        <p:xfrm>
          <a:off x="457200" y="1143000"/>
          <a:ext cx="11274552" cy="5029200"/>
        </p:xfrm>
        <a:graphic>
          <a:graphicData uri="http://schemas.openxmlformats.org/drawingml/2006/table">
            <a:tbl>
              <a:tblPr firstRow="1">
                <a:tableStyleId>{5940675A-B579-460E-94D1-54222C63F5DA}</a:tableStyleId>
              </a:tblPr>
              <a:tblGrid>
                <a:gridCol w="2743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457200">
                <a:tc>
                  <a:txBody>
                    <a:bodyPr/>
                    <a:lstStyle/>
                    <a:p>
                      <a:r>
                        <a:rPr sz="1500" b="1" i="0">
                          <a:solidFill>
                            <a:srgbClr val="FFFFFF"/>
                          </a:solidFill>
                          <a:latin typeface="Calibri"/>
                        </a:rPr>
                        <a:t>Capability</a:t>
                      </a:r>
                    </a:p>
                  </a:txBody>
                  <a:tcPr marL="73152" marR="73152" marT="36576" marB="36576" anchor="ctr">
                    <a:solidFill>
                      <a:srgbClr val="156082"/>
                    </a:solidFill>
                  </a:tcPr>
                </a:tc>
                <a:tc>
                  <a:txBody>
                    <a:bodyPr/>
                    <a:lstStyle/>
                    <a:p>
                      <a:r>
                        <a:rPr sz="1500" b="1" i="0">
                          <a:solidFill>
                            <a:srgbClr val="FFFFFF"/>
                          </a:solidFill>
                          <a:latin typeface="Calibri"/>
                        </a:rPr>
                        <a:t>AWS</a:t>
                      </a:r>
                    </a:p>
                  </a:txBody>
                  <a:tcPr marL="73152" marR="73152" marT="36576" marB="36576" anchor="ctr">
                    <a:solidFill>
                      <a:srgbClr val="156082"/>
                    </a:solidFill>
                  </a:tcPr>
                </a:tc>
                <a:tc>
                  <a:txBody>
                    <a:bodyPr/>
                    <a:lstStyle/>
                    <a:p>
                      <a:r>
                        <a:rPr sz="1500" b="1" i="0">
                          <a:solidFill>
                            <a:srgbClr val="FFFFFF"/>
                          </a:solidFill>
                          <a:latin typeface="Calibri"/>
                        </a:rPr>
                        <a:t>Microsoft Azure</a:t>
                      </a:r>
                    </a:p>
                  </a:txBody>
                  <a:tcPr marL="73152" marR="73152" marT="36576" marB="36576" anchor="ctr">
                    <a:solidFill>
                      <a:srgbClr val="156082"/>
                    </a:solidFill>
                  </a:tcPr>
                </a:tc>
                <a:tc>
                  <a:txBody>
                    <a:bodyPr/>
                    <a:lstStyle/>
                    <a:p>
                      <a:r>
                        <a:rPr sz="1500" b="1" i="0">
                          <a:solidFill>
                            <a:srgbClr val="FFFFFF"/>
                          </a:solidFill>
                          <a:latin typeface="Calibri"/>
                        </a:rPr>
                        <a:t>Google Cloud</a:t>
                      </a:r>
                    </a:p>
                  </a:txBody>
                  <a:tcPr marL="73152" marR="73152" marT="36576" marB="36576" anchor="ctr">
                    <a:solidFill>
                      <a:srgbClr val="156082"/>
                    </a:solidFill>
                  </a:tcPr>
                </a:tc>
                <a:extLst>
                  <a:ext uri="{0D108BD9-81ED-4DB2-BD59-A6C34878D82A}">
                    <a16:rowId xmlns:a16="http://schemas.microsoft.com/office/drawing/2014/main" val="10000"/>
                  </a:ext>
                </a:extLst>
              </a:tr>
              <a:tr h="457200">
                <a:tc>
                  <a:txBody>
                    <a:bodyPr/>
                    <a:lstStyle/>
                    <a:p>
                      <a:r>
                        <a:rPr sz="1500" b="1" i="0">
                          <a:solidFill>
                            <a:srgbClr val="002060"/>
                          </a:solidFill>
                          <a:latin typeface="Calibri"/>
                        </a:rPr>
                        <a:t>Authoritative DNS</a:t>
                      </a:r>
                    </a:p>
                  </a:txBody>
                  <a:tcPr marL="73152" marR="73152" marT="36576" marB="36576" anchor="ctr">
                    <a:solidFill>
                      <a:srgbClr val="FFFFFF"/>
                    </a:solidFill>
                  </a:tcPr>
                </a:tc>
                <a:tc>
                  <a:txBody>
                    <a:bodyPr/>
                    <a:lstStyle/>
                    <a:p>
                      <a:r>
                        <a:rPr sz="1500" b="0" i="0">
                          <a:solidFill>
                            <a:srgbClr val="262626"/>
                          </a:solidFill>
                          <a:latin typeface="Calibri"/>
                        </a:rPr>
                        <a:t>Route 53</a:t>
                      </a:r>
                    </a:p>
                  </a:txBody>
                  <a:tcPr marL="73152" marR="73152" marT="36576" marB="36576" anchor="ctr">
                    <a:solidFill>
                      <a:srgbClr val="FFFFFF"/>
                    </a:solidFill>
                  </a:tcPr>
                </a:tc>
                <a:tc>
                  <a:txBody>
                    <a:bodyPr/>
                    <a:lstStyle/>
                    <a:p>
                      <a:r>
                        <a:rPr sz="1500" b="0" i="0">
                          <a:solidFill>
                            <a:srgbClr val="262626"/>
                          </a:solidFill>
                          <a:latin typeface="Calibri"/>
                        </a:rPr>
                        <a:t>Azure DNS</a:t>
                      </a:r>
                    </a:p>
                  </a:txBody>
                  <a:tcPr marL="73152" marR="73152" marT="36576" marB="36576" anchor="ctr">
                    <a:solidFill>
                      <a:srgbClr val="FFFFFF"/>
                    </a:solidFill>
                  </a:tcPr>
                </a:tc>
                <a:tc>
                  <a:txBody>
                    <a:bodyPr/>
                    <a:lstStyle/>
                    <a:p>
                      <a:r>
                        <a:rPr sz="1500" b="0" i="0">
                          <a:solidFill>
                            <a:srgbClr val="262626"/>
                          </a:solidFill>
                          <a:latin typeface="Calibri"/>
                        </a:rPr>
                        <a:t>Cloud DNS</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500" b="1" i="0">
                          <a:solidFill>
                            <a:srgbClr val="002060"/>
                          </a:solidFill>
                          <a:latin typeface="Calibri"/>
                        </a:rPr>
                        <a:t>Content delivery</a:t>
                      </a:r>
                    </a:p>
                  </a:txBody>
                  <a:tcPr marL="73152" marR="73152" marT="36576" marB="36576" anchor="ctr">
                    <a:solidFill>
                      <a:srgbClr val="F2F2F2"/>
                    </a:solidFill>
                  </a:tcPr>
                </a:tc>
                <a:tc>
                  <a:txBody>
                    <a:bodyPr/>
                    <a:lstStyle/>
                    <a:p>
                      <a:r>
                        <a:rPr sz="1500" b="0" i="0">
                          <a:solidFill>
                            <a:srgbClr val="262626"/>
                          </a:solidFill>
                          <a:latin typeface="Calibri"/>
                        </a:rPr>
                        <a:t>CloudFront</a:t>
                      </a:r>
                    </a:p>
                  </a:txBody>
                  <a:tcPr marL="73152" marR="73152" marT="36576" marB="36576" anchor="ctr">
                    <a:solidFill>
                      <a:srgbClr val="F2F2F2"/>
                    </a:solidFill>
                  </a:tcPr>
                </a:tc>
                <a:tc>
                  <a:txBody>
                    <a:bodyPr/>
                    <a:lstStyle/>
                    <a:p>
                      <a:r>
                        <a:rPr sz="1500" b="0" i="0">
                          <a:solidFill>
                            <a:srgbClr val="262626"/>
                          </a:solidFill>
                          <a:latin typeface="Calibri"/>
                        </a:rPr>
                        <a:t>Azure Front Door</a:t>
                      </a:r>
                    </a:p>
                  </a:txBody>
                  <a:tcPr marL="73152" marR="73152" marT="36576" marB="36576" anchor="ctr">
                    <a:solidFill>
                      <a:srgbClr val="F2F2F2"/>
                    </a:solidFill>
                  </a:tcPr>
                </a:tc>
                <a:tc>
                  <a:txBody>
                    <a:bodyPr/>
                    <a:lstStyle/>
                    <a:p>
                      <a:r>
                        <a:rPr sz="1500" b="0" i="0">
                          <a:solidFill>
                            <a:srgbClr val="262626"/>
                          </a:solidFill>
                          <a:latin typeface="Calibri"/>
                        </a:rPr>
                        <a:t>Cloud CDN</a:t>
                      </a:r>
                    </a:p>
                  </a:txBody>
                  <a:tcPr marL="73152" marR="73152" marT="36576" marB="36576" anchor="ctr">
                    <a:solidFill>
                      <a:srgbClr val="F2F2F2"/>
                    </a:solidFill>
                  </a:tcPr>
                </a:tc>
                <a:extLst>
                  <a:ext uri="{0D108BD9-81ED-4DB2-BD59-A6C34878D82A}">
                    <a16:rowId xmlns:a16="http://schemas.microsoft.com/office/drawing/2014/main" val="10002"/>
                  </a:ext>
                </a:extLst>
              </a:tr>
              <a:tr h="457200">
                <a:tc>
                  <a:txBody>
                    <a:bodyPr/>
                    <a:lstStyle/>
                    <a:p>
                      <a:r>
                        <a:rPr sz="1500" b="1" i="0">
                          <a:solidFill>
                            <a:srgbClr val="002060"/>
                          </a:solidFill>
                          <a:latin typeface="Calibri"/>
                        </a:rPr>
                        <a:t>Layer-7 load balancer</a:t>
                      </a:r>
                    </a:p>
                  </a:txBody>
                  <a:tcPr marL="73152" marR="73152" marT="36576" marB="36576" anchor="ctr">
                    <a:solidFill>
                      <a:srgbClr val="FFFFFF"/>
                    </a:solidFill>
                  </a:tcPr>
                </a:tc>
                <a:tc>
                  <a:txBody>
                    <a:bodyPr/>
                    <a:lstStyle/>
                    <a:p>
                      <a:r>
                        <a:rPr sz="1500" b="0" i="0">
                          <a:solidFill>
                            <a:srgbClr val="262626"/>
                          </a:solidFill>
                          <a:latin typeface="Calibri"/>
                        </a:rPr>
                        <a:t>Application Load Balancer</a:t>
                      </a:r>
                    </a:p>
                  </a:txBody>
                  <a:tcPr marL="73152" marR="73152" marT="36576" marB="36576" anchor="ctr">
                    <a:solidFill>
                      <a:srgbClr val="FFFFFF"/>
                    </a:solidFill>
                  </a:tcPr>
                </a:tc>
                <a:tc>
                  <a:txBody>
                    <a:bodyPr/>
                    <a:lstStyle/>
                    <a:p>
                      <a:r>
                        <a:rPr sz="1500" b="0" i="0">
                          <a:solidFill>
                            <a:srgbClr val="262626"/>
                          </a:solidFill>
                          <a:latin typeface="Calibri"/>
                        </a:rPr>
                        <a:t>Application Gateway</a:t>
                      </a:r>
                    </a:p>
                  </a:txBody>
                  <a:tcPr marL="73152" marR="73152" marT="36576" marB="36576" anchor="ctr">
                    <a:solidFill>
                      <a:srgbClr val="FFFFFF"/>
                    </a:solidFill>
                  </a:tcPr>
                </a:tc>
                <a:tc>
                  <a:txBody>
                    <a:bodyPr/>
                    <a:lstStyle/>
                    <a:p>
                      <a:r>
                        <a:rPr sz="1500" b="0" i="0">
                          <a:solidFill>
                            <a:srgbClr val="262626"/>
                          </a:solidFill>
                          <a:latin typeface="Calibri"/>
                        </a:rPr>
                        <a:t>Application Load Balancer</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500" b="1" i="0">
                          <a:solidFill>
                            <a:srgbClr val="002060"/>
                          </a:solidFill>
                          <a:latin typeface="Calibri"/>
                        </a:rPr>
                        <a:t>Private network</a:t>
                      </a:r>
                    </a:p>
                  </a:txBody>
                  <a:tcPr marL="73152" marR="73152" marT="36576" marB="36576" anchor="ctr">
                    <a:solidFill>
                      <a:srgbClr val="F2F2F2"/>
                    </a:solidFill>
                  </a:tcPr>
                </a:tc>
                <a:tc>
                  <a:txBody>
                    <a:bodyPr/>
                    <a:lstStyle/>
                    <a:p>
                      <a:r>
                        <a:rPr sz="1500" b="0" i="0">
                          <a:solidFill>
                            <a:srgbClr val="262626"/>
                          </a:solidFill>
                          <a:latin typeface="Calibri"/>
                        </a:rPr>
                        <a:t>Amazon VPC (regional)</a:t>
                      </a:r>
                    </a:p>
                  </a:txBody>
                  <a:tcPr marL="73152" marR="73152" marT="36576" marB="36576" anchor="ctr">
                    <a:solidFill>
                      <a:srgbClr val="F2F2F2"/>
                    </a:solidFill>
                  </a:tcPr>
                </a:tc>
                <a:tc>
                  <a:txBody>
                    <a:bodyPr/>
                    <a:lstStyle/>
                    <a:p>
                      <a:r>
                        <a:rPr sz="1500" b="0" i="0">
                          <a:solidFill>
                            <a:srgbClr val="262626"/>
                          </a:solidFill>
                          <a:latin typeface="Calibri"/>
                        </a:rPr>
                        <a:t>Virtual Network (regional)</a:t>
                      </a:r>
                    </a:p>
                  </a:txBody>
                  <a:tcPr marL="73152" marR="73152" marT="36576" marB="36576" anchor="ctr">
                    <a:solidFill>
                      <a:srgbClr val="F2F2F2"/>
                    </a:solidFill>
                  </a:tcPr>
                </a:tc>
                <a:tc>
                  <a:txBody>
                    <a:bodyPr/>
                    <a:lstStyle/>
                    <a:p>
                      <a:r>
                        <a:rPr sz="1500" b="0" i="0">
                          <a:solidFill>
                            <a:srgbClr val="262626"/>
                          </a:solidFill>
                          <a:latin typeface="Calibri"/>
                        </a:rPr>
                        <a:t>VPC network (global)</a:t>
                      </a:r>
                    </a:p>
                  </a:txBody>
                  <a:tcPr marL="73152" marR="73152" marT="36576" marB="36576" anchor="ctr">
                    <a:solidFill>
                      <a:srgbClr val="F2F2F2"/>
                    </a:solidFill>
                  </a:tcPr>
                </a:tc>
                <a:extLst>
                  <a:ext uri="{0D108BD9-81ED-4DB2-BD59-A6C34878D82A}">
                    <a16:rowId xmlns:a16="http://schemas.microsoft.com/office/drawing/2014/main" val="10004"/>
                  </a:ext>
                </a:extLst>
              </a:tr>
              <a:tr h="457200">
                <a:tc>
                  <a:txBody>
                    <a:bodyPr/>
                    <a:lstStyle/>
                    <a:p>
                      <a:r>
                        <a:rPr sz="1500" b="1" i="0">
                          <a:solidFill>
                            <a:srgbClr val="002060"/>
                          </a:solidFill>
                          <a:latin typeface="Calibri"/>
                        </a:rPr>
                        <a:t>Virtual machines</a:t>
                      </a:r>
                    </a:p>
                  </a:txBody>
                  <a:tcPr marL="73152" marR="73152" marT="36576" marB="36576" anchor="ctr">
                    <a:solidFill>
                      <a:srgbClr val="FFFFFF"/>
                    </a:solidFill>
                  </a:tcPr>
                </a:tc>
                <a:tc>
                  <a:txBody>
                    <a:bodyPr/>
                    <a:lstStyle/>
                    <a:p>
                      <a:r>
                        <a:rPr sz="1500" b="0" i="0">
                          <a:solidFill>
                            <a:srgbClr val="262626"/>
                          </a:solidFill>
                          <a:latin typeface="Calibri"/>
                        </a:rPr>
                        <a:t>Amazon EC2</a:t>
                      </a:r>
                    </a:p>
                  </a:txBody>
                  <a:tcPr marL="73152" marR="73152" marT="36576" marB="36576" anchor="ctr">
                    <a:solidFill>
                      <a:srgbClr val="FFFFFF"/>
                    </a:solidFill>
                  </a:tcPr>
                </a:tc>
                <a:tc>
                  <a:txBody>
                    <a:bodyPr/>
                    <a:lstStyle/>
                    <a:p>
                      <a:r>
                        <a:rPr sz="1500" b="0" i="0">
                          <a:solidFill>
                            <a:srgbClr val="262626"/>
                          </a:solidFill>
                          <a:latin typeface="Calibri"/>
                        </a:rPr>
                        <a:t>Virtual Machines</a:t>
                      </a:r>
                    </a:p>
                  </a:txBody>
                  <a:tcPr marL="73152" marR="73152" marT="36576" marB="36576" anchor="ctr">
                    <a:solidFill>
                      <a:srgbClr val="FFFFFF"/>
                    </a:solidFill>
                  </a:tcPr>
                </a:tc>
                <a:tc>
                  <a:txBody>
                    <a:bodyPr/>
                    <a:lstStyle/>
                    <a:p>
                      <a:r>
                        <a:rPr sz="1500" b="0" i="0">
                          <a:solidFill>
                            <a:srgbClr val="262626"/>
                          </a:solidFill>
                          <a:latin typeface="Calibri"/>
                        </a:rPr>
                        <a:t>Compute Engine</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500" b="1" i="0">
                          <a:solidFill>
                            <a:srgbClr val="002060"/>
                          </a:solidFill>
                          <a:latin typeface="Calibri"/>
                        </a:rPr>
                        <a:t>Serverless containers</a:t>
                      </a:r>
                    </a:p>
                  </a:txBody>
                  <a:tcPr marL="73152" marR="73152" marT="36576" marB="36576" anchor="ctr">
                    <a:solidFill>
                      <a:srgbClr val="F2F2F2"/>
                    </a:solidFill>
                  </a:tcPr>
                </a:tc>
                <a:tc>
                  <a:txBody>
                    <a:bodyPr/>
                    <a:lstStyle/>
                    <a:p>
                      <a:r>
                        <a:rPr sz="1500" b="0" i="0">
                          <a:solidFill>
                            <a:srgbClr val="262626"/>
                          </a:solidFill>
                          <a:latin typeface="Calibri"/>
                        </a:rPr>
                        <a:t>ECS on Fargate</a:t>
                      </a:r>
                    </a:p>
                  </a:txBody>
                  <a:tcPr marL="73152" marR="73152" marT="36576" marB="36576" anchor="ctr">
                    <a:solidFill>
                      <a:srgbClr val="F2F2F2"/>
                    </a:solidFill>
                  </a:tcPr>
                </a:tc>
                <a:tc>
                  <a:txBody>
                    <a:bodyPr/>
                    <a:lstStyle/>
                    <a:p>
                      <a:r>
                        <a:rPr sz="1500" b="0" i="0">
                          <a:solidFill>
                            <a:srgbClr val="262626"/>
                          </a:solidFill>
                          <a:latin typeface="Calibri"/>
                        </a:rPr>
                        <a:t>Azure Container Apps</a:t>
                      </a:r>
                    </a:p>
                  </a:txBody>
                  <a:tcPr marL="73152" marR="73152" marT="36576" marB="36576" anchor="ctr">
                    <a:solidFill>
                      <a:srgbClr val="F2F2F2"/>
                    </a:solidFill>
                  </a:tcPr>
                </a:tc>
                <a:tc>
                  <a:txBody>
                    <a:bodyPr/>
                    <a:lstStyle/>
                    <a:p>
                      <a:r>
                        <a:rPr sz="1500" b="0" i="0">
                          <a:solidFill>
                            <a:srgbClr val="262626"/>
                          </a:solidFill>
                          <a:latin typeface="Calibri"/>
                        </a:rPr>
                        <a:t>Cloud Run</a:t>
                      </a:r>
                    </a:p>
                  </a:txBody>
                  <a:tcPr marL="73152" marR="73152" marT="36576" marB="36576" anchor="ctr">
                    <a:solidFill>
                      <a:srgbClr val="F2F2F2"/>
                    </a:solidFill>
                  </a:tcPr>
                </a:tc>
                <a:extLst>
                  <a:ext uri="{0D108BD9-81ED-4DB2-BD59-A6C34878D82A}">
                    <a16:rowId xmlns:a16="http://schemas.microsoft.com/office/drawing/2014/main" val="10006"/>
                  </a:ext>
                </a:extLst>
              </a:tr>
              <a:tr h="457200">
                <a:tc>
                  <a:txBody>
                    <a:bodyPr/>
                    <a:lstStyle/>
                    <a:p>
                      <a:r>
                        <a:rPr sz="1500" b="1" i="0">
                          <a:solidFill>
                            <a:srgbClr val="002060"/>
                          </a:solidFill>
                          <a:latin typeface="Calibri"/>
                        </a:rPr>
                        <a:t>Managed Kubernetes</a:t>
                      </a:r>
                    </a:p>
                  </a:txBody>
                  <a:tcPr marL="73152" marR="73152" marT="36576" marB="36576" anchor="ctr">
                    <a:solidFill>
                      <a:srgbClr val="FFFFFF"/>
                    </a:solidFill>
                  </a:tcPr>
                </a:tc>
                <a:tc>
                  <a:txBody>
                    <a:bodyPr/>
                    <a:lstStyle/>
                    <a:p>
                      <a:r>
                        <a:rPr sz="1500" b="0" i="0">
                          <a:solidFill>
                            <a:srgbClr val="262626"/>
                          </a:solidFill>
                          <a:latin typeface="Calibri"/>
                        </a:rPr>
                        <a:t>Amazon EKS</a:t>
                      </a:r>
                    </a:p>
                  </a:txBody>
                  <a:tcPr marL="73152" marR="73152" marT="36576" marB="36576" anchor="ctr">
                    <a:solidFill>
                      <a:srgbClr val="FFFFFF"/>
                    </a:solidFill>
                  </a:tcPr>
                </a:tc>
                <a:tc>
                  <a:txBody>
                    <a:bodyPr/>
                    <a:lstStyle/>
                    <a:p>
                      <a:r>
                        <a:rPr sz="1500" b="0" i="0">
                          <a:solidFill>
                            <a:srgbClr val="262626"/>
                          </a:solidFill>
                          <a:latin typeface="Calibri"/>
                        </a:rPr>
                        <a:t>AKS</a:t>
                      </a:r>
                    </a:p>
                  </a:txBody>
                  <a:tcPr marL="73152" marR="73152" marT="36576" marB="36576" anchor="ctr">
                    <a:solidFill>
                      <a:srgbClr val="FFFFFF"/>
                    </a:solidFill>
                  </a:tcPr>
                </a:tc>
                <a:tc>
                  <a:txBody>
                    <a:bodyPr/>
                    <a:lstStyle/>
                    <a:p>
                      <a:r>
                        <a:rPr sz="1500" b="0" i="0">
                          <a:solidFill>
                            <a:srgbClr val="262626"/>
                          </a:solidFill>
                          <a:latin typeface="Calibri"/>
                        </a:rPr>
                        <a:t>GKE</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500" b="1" i="0">
                          <a:solidFill>
                            <a:srgbClr val="002060"/>
                          </a:solidFill>
                          <a:latin typeface="Calibri"/>
                        </a:rPr>
                        <a:t>Functions</a:t>
                      </a:r>
                    </a:p>
                  </a:txBody>
                  <a:tcPr marL="73152" marR="73152" marT="36576" marB="36576" anchor="ctr">
                    <a:solidFill>
                      <a:srgbClr val="F2F2F2"/>
                    </a:solidFill>
                  </a:tcPr>
                </a:tc>
                <a:tc>
                  <a:txBody>
                    <a:bodyPr/>
                    <a:lstStyle/>
                    <a:p>
                      <a:r>
                        <a:rPr sz="1500" b="0" i="0">
                          <a:solidFill>
                            <a:srgbClr val="262626"/>
                          </a:solidFill>
                          <a:latin typeface="Calibri"/>
                        </a:rPr>
                        <a:t>AWS Lambda</a:t>
                      </a:r>
                    </a:p>
                  </a:txBody>
                  <a:tcPr marL="73152" marR="73152" marT="36576" marB="36576" anchor="ctr">
                    <a:solidFill>
                      <a:srgbClr val="F2F2F2"/>
                    </a:solidFill>
                  </a:tcPr>
                </a:tc>
                <a:tc>
                  <a:txBody>
                    <a:bodyPr/>
                    <a:lstStyle/>
                    <a:p>
                      <a:r>
                        <a:rPr sz="1500" b="0" i="0">
                          <a:solidFill>
                            <a:srgbClr val="262626"/>
                          </a:solidFill>
                          <a:latin typeface="Calibri"/>
                        </a:rPr>
                        <a:t>Azure Functions</a:t>
                      </a:r>
                    </a:p>
                  </a:txBody>
                  <a:tcPr marL="73152" marR="73152" marT="36576" marB="36576" anchor="ctr">
                    <a:solidFill>
                      <a:srgbClr val="F2F2F2"/>
                    </a:solidFill>
                  </a:tcPr>
                </a:tc>
                <a:tc>
                  <a:txBody>
                    <a:bodyPr/>
                    <a:lstStyle/>
                    <a:p>
                      <a:r>
                        <a:rPr sz="1500" b="0" i="0">
                          <a:solidFill>
                            <a:srgbClr val="262626"/>
                          </a:solidFill>
                          <a:latin typeface="Calibri"/>
                        </a:rPr>
                        <a:t>Cloud Run functions</a:t>
                      </a:r>
                    </a:p>
                  </a:txBody>
                  <a:tcPr marL="73152" marR="73152" marT="36576" marB="36576" anchor="ctr">
                    <a:solidFill>
                      <a:srgbClr val="F2F2F2"/>
                    </a:solidFill>
                  </a:tcPr>
                </a:tc>
                <a:extLst>
                  <a:ext uri="{0D108BD9-81ED-4DB2-BD59-A6C34878D82A}">
                    <a16:rowId xmlns:a16="http://schemas.microsoft.com/office/drawing/2014/main" val="10008"/>
                  </a:ext>
                </a:extLst>
              </a:tr>
              <a:tr h="457200">
                <a:tc>
                  <a:txBody>
                    <a:bodyPr/>
                    <a:lstStyle/>
                    <a:p>
                      <a:r>
                        <a:rPr sz="1500" b="1" i="0">
                          <a:solidFill>
                            <a:srgbClr val="002060"/>
                          </a:solidFill>
                          <a:latin typeface="Calibri"/>
                        </a:rPr>
                        <a:t>Platform as a Service</a:t>
                      </a:r>
                    </a:p>
                  </a:txBody>
                  <a:tcPr marL="73152" marR="73152" marT="36576" marB="36576" anchor="ctr">
                    <a:solidFill>
                      <a:srgbClr val="FFFFFF"/>
                    </a:solidFill>
                  </a:tcPr>
                </a:tc>
                <a:tc>
                  <a:txBody>
                    <a:bodyPr/>
                    <a:lstStyle/>
                    <a:p>
                      <a:r>
                        <a:rPr sz="1500" b="0" i="0">
                          <a:solidFill>
                            <a:srgbClr val="262626"/>
                          </a:solidFill>
                          <a:latin typeface="Calibri"/>
                        </a:rPr>
                        <a:t>Elastic Beanstalk</a:t>
                      </a:r>
                    </a:p>
                  </a:txBody>
                  <a:tcPr marL="73152" marR="73152" marT="36576" marB="36576" anchor="ctr">
                    <a:solidFill>
                      <a:srgbClr val="FFFFFF"/>
                    </a:solidFill>
                  </a:tcPr>
                </a:tc>
                <a:tc>
                  <a:txBody>
                    <a:bodyPr/>
                    <a:lstStyle/>
                    <a:p>
                      <a:r>
                        <a:rPr sz="1500" b="0" i="0">
                          <a:solidFill>
                            <a:srgbClr val="262626"/>
                          </a:solidFill>
                          <a:latin typeface="Calibri"/>
                        </a:rPr>
                        <a:t>Azure App Service</a:t>
                      </a:r>
                    </a:p>
                  </a:txBody>
                  <a:tcPr marL="73152" marR="73152" marT="36576" marB="36576" anchor="ctr">
                    <a:solidFill>
                      <a:srgbClr val="FFFFFF"/>
                    </a:solidFill>
                  </a:tcPr>
                </a:tc>
                <a:tc>
                  <a:txBody>
                    <a:bodyPr/>
                    <a:lstStyle/>
                    <a:p>
                      <a:r>
                        <a:rPr sz="1500" b="0" i="0">
                          <a:solidFill>
                            <a:srgbClr val="262626"/>
                          </a:solidFill>
                          <a:latin typeface="Calibri"/>
                        </a:rPr>
                        <a:t>App Engine</a:t>
                      </a:r>
                    </a:p>
                  </a:txBody>
                  <a:tcPr marL="73152" marR="73152" marT="36576" marB="36576" anchor="ctr">
                    <a:solidFill>
                      <a:srgbClr val="FFFFFF"/>
                    </a:solidFill>
                  </a:tcPr>
                </a:tc>
                <a:extLst>
                  <a:ext uri="{0D108BD9-81ED-4DB2-BD59-A6C34878D82A}">
                    <a16:rowId xmlns:a16="http://schemas.microsoft.com/office/drawing/2014/main" val="10009"/>
                  </a:ext>
                </a:extLst>
              </a:tr>
              <a:tr h="457200">
                <a:tc>
                  <a:txBody>
                    <a:bodyPr/>
                    <a:lstStyle/>
                    <a:p>
                      <a:r>
                        <a:rPr sz="1500" b="1" i="0">
                          <a:solidFill>
                            <a:srgbClr val="002060"/>
                          </a:solidFill>
                          <a:latin typeface="Calibri"/>
                        </a:rPr>
                        <a:t>Container registry</a:t>
                      </a:r>
                    </a:p>
                  </a:txBody>
                  <a:tcPr marL="73152" marR="73152" marT="36576" marB="36576" anchor="ctr">
                    <a:solidFill>
                      <a:srgbClr val="F2F2F2"/>
                    </a:solidFill>
                  </a:tcPr>
                </a:tc>
                <a:tc>
                  <a:txBody>
                    <a:bodyPr/>
                    <a:lstStyle/>
                    <a:p>
                      <a:r>
                        <a:rPr sz="1500" b="0" i="0">
                          <a:solidFill>
                            <a:srgbClr val="262626"/>
                          </a:solidFill>
                          <a:latin typeface="Calibri"/>
                        </a:rPr>
                        <a:t>Amazon ECR</a:t>
                      </a:r>
                    </a:p>
                  </a:txBody>
                  <a:tcPr marL="73152" marR="73152" marT="36576" marB="36576" anchor="ctr">
                    <a:solidFill>
                      <a:srgbClr val="F2F2F2"/>
                    </a:solidFill>
                  </a:tcPr>
                </a:tc>
                <a:tc>
                  <a:txBody>
                    <a:bodyPr/>
                    <a:lstStyle/>
                    <a:p>
                      <a:r>
                        <a:rPr sz="1500" b="0" i="0">
                          <a:solidFill>
                            <a:srgbClr val="262626"/>
                          </a:solidFill>
                          <a:latin typeface="Calibri"/>
                        </a:rPr>
                        <a:t>Container Registry</a:t>
                      </a:r>
                    </a:p>
                  </a:txBody>
                  <a:tcPr marL="73152" marR="73152" marT="36576" marB="36576" anchor="ctr">
                    <a:solidFill>
                      <a:srgbClr val="F2F2F2"/>
                    </a:solidFill>
                  </a:tcPr>
                </a:tc>
                <a:tc>
                  <a:txBody>
                    <a:bodyPr/>
                    <a:lstStyle/>
                    <a:p>
                      <a:r>
                        <a:rPr sz="1500" b="0" i="0">
                          <a:solidFill>
                            <a:srgbClr val="262626"/>
                          </a:solidFill>
                          <a:latin typeface="Calibri"/>
                        </a:rPr>
                        <a:t>Artifact Registry</a:t>
                      </a:r>
                    </a:p>
                  </a:txBody>
                  <a:tcPr marL="73152" marR="73152" marT="36576" marB="36576" anchor="ctr">
                    <a:solidFill>
                      <a:srgbClr val="F2F2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1.5</a:t>
            </a:r>
            <a:r>
              <a:rPr sz="2400" b="1" i="0">
                <a:solidFill>
                  <a:srgbClr val="FFFFFF"/>
                </a:solidFill>
                <a:latin typeface="Calibri"/>
              </a:rPr>
              <a:t> Equivalents: Data, Security and Operations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graphicFrame>
        <p:nvGraphicFramePr>
          <p:cNvPr id="10" name="Table 9"/>
          <p:cNvGraphicFramePr>
            <a:graphicFrameLocks noGrp="1"/>
          </p:cNvGraphicFramePr>
          <p:nvPr/>
        </p:nvGraphicFramePr>
        <p:xfrm>
          <a:off x="457200" y="1143000"/>
          <a:ext cx="11274552" cy="5029200"/>
        </p:xfrm>
        <a:graphic>
          <a:graphicData uri="http://schemas.openxmlformats.org/drawingml/2006/table">
            <a:tbl>
              <a:tblPr firstRow="1">
                <a:tableStyleId>{5940675A-B579-460E-94D1-54222C63F5DA}</a:tableStyleId>
              </a:tblPr>
              <a:tblGrid>
                <a:gridCol w="2743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457200">
                <a:tc>
                  <a:txBody>
                    <a:bodyPr/>
                    <a:lstStyle/>
                    <a:p>
                      <a:r>
                        <a:rPr sz="1500" b="1" i="0">
                          <a:solidFill>
                            <a:srgbClr val="FFFFFF"/>
                          </a:solidFill>
                          <a:latin typeface="Calibri"/>
                        </a:rPr>
                        <a:t>Capability</a:t>
                      </a:r>
                    </a:p>
                  </a:txBody>
                  <a:tcPr marL="73152" marR="73152" marT="36576" marB="36576" anchor="ctr">
                    <a:solidFill>
                      <a:srgbClr val="156082"/>
                    </a:solidFill>
                  </a:tcPr>
                </a:tc>
                <a:tc>
                  <a:txBody>
                    <a:bodyPr/>
                    <a:lstStyle/>
                    <a:p>
                      <a:r>
                        <a:rPr sz="1500" b="1" i="0">
                          <a:solidFill>
                            <a:srgbClr val="FFFFFF"/>
                          </a:solidFill>
                          <a:latin typeface="Calibri"/>
                        </a:rPr>
                        <a:t>AWS</a:t>
                      </a:r>
                    </a:p>
                  </a:txBody>
                  <a:tcPr marL="73152" marR="73152" marT="36576" marB="36576" anchor="ctr">
                    <a:solidFill>
                      <a:srgbClr val="156082"/>
                    </a:solidFill>
                  </a:tcPr>
                </a:tc>
                <a:tc>
                  <a:txBody>
                    <a:bodyPr/>
                    <a:lstStyle/>
                    <a:p>
                      <a:r>
                        <a:rPr sz="1500" b="1" i="0">
                          <a:solidFill>
                            <a:srgbClr val="FFFFFF"/>
                          </a:solidFill>
                          <a:latin typeface="Calibri"/>
                        </a:rPr>
                        <a:t>Microsoft Azure</a:t>
                      </a:r>
                    </a:p>
                  </a:txBody>
                  <a:tcPr marL="73152" marR="73152" marT="36576" marB="36576" anchor="ctr">
                    <a:solidFill>
                      <a:srgbClr val="156082"/>
                    </a:solidFill>
                  </a:tcPr>
                </a:tc>
                <a:tc>
                  <a:txBody>
                    <a:bodyPr/>
                    <a:lstStyle/>
                    <a:p>
                      <a:r>
                        <a:rPr sz="1500" b="1" i="0">
                          <a:solidFill>
                            <a:srgbClr val="FFFFFF"/>
                          </a:solidFill>
                          <a:latin typeface="Calibri"/>
                        </a:rPr>
                        <a:t>Google Cloud</a:t>
                      </a:r>
                    </a:p>
                  </a:txBody>
                  <a:tcPr marL="73152" marR="73152" marT="36576" marB="36576" anchor="ctr">
                    <a:solidFill>
                      <a:srgbClr val="156082"/>
                    </a:solidFill>
                  </a:tcPr>
                </a:tc>
                <a:extLst>
                  <a:ext uri="{0D108BD9-81ED-4DB2-BD59-A6C34878D82A}">
                    <a16:rowId xmlns:a16="http://schemas.microsoft.com/office/drawing/2014/main" val="10000"/>
                  </a:ext>
                </a:extLst>
              </a:tr>
              <a:tr h="457200">
                <a:tc>
                  <a:txBody>
                    <a:bodyPr/>
                    <a:lstStyle/>
                    <a:p>
                      <a:r>
                        <a:rPr sz="1500" b="1" i="0">
                          <a:solidFill>
                            <a:srgbClr val="002060"/>
                          </a:solidFill>
                          <a:latin typeface="Calibri"/>
                        </a:rPr>
                        <a:t>Relational database</a:t>
                      </a:r>
                    </a:p>
                  </a:txBody>
                  <a:tcPr marL="73152" marR="73152" marT="36576" marB="36576" anchor="ctr">
                    <a:solidFill>
                      <a:srgbClr val="FFFFFF"/>
                    </a:solidFill>
                  </a:tcPr>
                </a:tc>
                <a:tc>
                  <a:txBody>
                    <a:bodyPr/>
                    <a:lstStyle/>
                    <a:p>
                      <a:r>
                        <a:rPr sz="1500" b="0" i="0">
                          <a:solidFill>
                            <a:srgbClr val="262626"/>
                          </a:solidFill>
                          <a:latin typeface="Calibri"/>
                        </a:rPr>
                        <a:t>RDS, Aurora</a:t>
                      </a:r>
                    </a:p>
                  </a:txBody>
                  <a:tcPr marL="73152" marR="73152" marT="36576" marB="36576" anchor="ctr">
                    <a:solidFill>
                      <a:srgbClr val="FFFFFF"/>
                    </a:solidFill>
                  </a:tcPr>
                </a:tc>
                <a:tc>
                  <a:txBody>
                    <a:bodyPr/>
                    <a:lstStyle/>
                    <a:p>
                      <a:r>
                        <a:rPr sz="1500" b="0" i="0">
                          <a:solidFill>
                            <a:srgbClr val="262626"/>
                          </a:solidFill>
                          <a:latin typeface="Calibri"/>
                        </a:rPr>
                        <a:t>Azure Database for PostgreSQL</a:t>
                      </a:r>
                    </a:p>
                  </a:txBody>
                  <a:tcPr marL="73152" marR="73152" marT="36576" marB="36576" anchor="ctr">
                    <a:solidFill>
                      <a:srgbClr val="FFFFFF"/>
                    </a:solidFill>
                  </a:tcPr>
                </a:tc>
                <a:tc>
                  <a:txBody>
                    <a:bodyPr/>
                    <a:lstStyle/>
                    <a:p>
                      <a:r>
                        <a:rPr sz="1500" b="0" i="0">
                          <a:solidFill>
                            <a:srgbClr val="262626"/>
                          </a:solidFill>
                          <a:latin typeface="Calibri"/>
                        </a:rPr>
                        <a:t>Cloud SQL, AlloyDB</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500" b="1" i="0">
                          <a:solidFill>
                            <a:srgbClr val="002060"/>
                          </a:solidFill>
                          <a:latin typeface="Calibri"/>
                        </a:rPr>
                        <a:t>In-memory cache</a:t>
                      </a:r>
                    </a:p>
                  </a:txBody>
                  <a:tcPr marL="73152" marR="73152" marT="36576" marB="36576" anchor="ctr">
                    <a:solidFill>
                      <a:srgbClr val="F2F2F2"/>
                    </a:solidFill>
                  </a:tcPr>
                </a:tc>
                <a:tc>
                  <a:txBody>
                    <a:bodyPr/>
                    <a:lstStyle/>
                    <a:p>
                      <a:r>
                        <a:rPr sz="1500" b="0" i="0">
                          <a:solidFill>
                            <a:srgbClr val="262626"/>
                          </a:solidFill>
                          <a:latin typeface="Calibri"/>
                        </a:rPr>
                        <a:t>ElastiCache</a:t>
                      </a:r>
                    </a:p>
                  </a:txBody>
                  <a:tcPr marL="73152" marR="73152" marT="36576" marB="36576" anchor="ctr">
                    <a:solidFill>
                      <a:srgbClr val="F2F2F2"/>
                    </a:solidFill>
                  </a:tcPr>
                </a:tc>
                <a:tc>
                  <a:txBody>
                    <a:bodyPr/>
                    <a:lstStyle/>
                    <a:p>
                      <a:r>
                        <a:rPr sz="1500" b="0" i="0">
                          <a:solidFill>
                            <a:srgbClr val="262626"/>
                          </a:solidFill>
                          <a:latin typeface="Calibri"/>
                        </a:rPr>
                        <a:t>Azure Managed Redis</a:t>
                      </a:r>
                    </a:p>
                  </a:txBody>
                  <a:tcPr marL="73152" marR="73152" marT="36576" marB="36576" anchor="ctr">
                    <a:solidFill>
                      <a:srgbClr val="F2F2F2"/>
                    </a:solidFill>
                  </a:tcPr>
                </a:tc>
                <a:tc>
                  <a:txBody>
                    <a:bodyPr/>
                    <a:lstStyle/>
                    <a:p>
                      <a:r>
                        <a:rPr sz="1500" b="0" i="0">
                          <a:solidFill>
                            <a:srgbClr val="262626"/>
                          </a:solidFill>
                          <a:latin typeface="Calibri"/>
                        </a:rPr>
                        <a:t>Memorystore</a:t>
                      </a:r>
                    </a:p>
                  </a:txBody>
                  <a:tcPr marL="73152" marR="73152" marT="36576" marB="36576" anchor="ctr">
                    <a:solidFill>
                      <a:srgbClr val="F2F2F2"/>
                    </a:solidFill>
                  </a:tcPr>
                </a:tc>
                <a:extLst>
                  <a:ext uri="{0D108BD9-81ED-4DB2-BD59-A6C34878D82A}">
                    <a16:rowId xmlns:a16="http://schemas.microsoft.com/office/drawing/2014/main" val="10002"/>
                  </a:ext>
                </a:extLst>
              </a:tr>
              <a:tr h="457200">
                <a:tc>
                  <a:txBody>
                    <a:bodyPr/>
                    <a:lstStyle/>
                    <a:p>
                      <a:r>
                        <a:rPr sz="1500" b="1" i="0">
                          <a:solidFill>
                            <a:srgbClr val="002060"/>
                          </a:solidFill>
                          <a:latin typeface="Calibri"/>
                        </a:rPr>
                        <a:t>Message queue</a:t>
                      </a:r>
                    </a:p>
                  </a:txBody>
                  <a:tcPr marL="73152" marR="73152" marT="36576" marB="36576" anchor="ctr">
                    <a:solidFill>
                      <a:srgbClr val="FFFFFF"/>
                    </a:solidFill>
                  </a:tcPr>
                </a:tc>
                <a:tc>
                  <a:txBody>
                    <a:bodyPr/>
                    <a:lstStyle/>
                    <a:p>
                      <a:r>
                        <a:rPr sz="1500" b="0" i="0">
                          <a:solidFill>
                            <a:srgbClr val="262626"/>
                          </a:solidFill>
                          <a:latin typeface="Calibri"/>
                        </a:rPr>
                        <a:t>Amazon SQS</a:t>
                      </a:r>
                    </a:p>
                  </a:txBody>
                  <a:tcPr marL="73152" marR="73152" marT="36576" marB="36576" anchor="ctr">
                    <a:solidFill>
                      <a:srgbClr val="FFFFFF"/>
                    </a:solidFill>
                  </a:tcPr>
                </a:tc>
                <a:tc>
                  <a:txBody>
                    <a:bodyPr/>
                    <a:lstStyle/>
                    <a:p>
                      <a:r>
                        <a:rPr sz="1500" b="0" i="0">
                          <a:solidFill>
                            <a:srgbClr val="262626"/>
                          </a:solidFill>
                          <a:latin typeface="Calibri"/>
                        </a:rPr>
                        <a:t>Queue Storage, Service Bus</a:t>
                      </a:r>
                    </a:p>
                  </a:txBody>
                  <a:tcPr marL="73152" marR="73152" marT="36576" marB="36576" anchor="ctr">
                    <a:solidFill>
                      <a:srgbClr val="FFFFFF"/>
                    </a:solidFill>
                  </a:tcPr>
                </a:tc>
                <a:tc>
                  <a:txBody>
                    <a:bodyPr/>
                    <a:lstStyle/>
                    <a:p>
                      <a:r>
                        <a:rPr sz="1500" b="0" i="0">
                          <a:solidFill>
                            <a:srgbClr val="262626"/>
                          </a:solidFill>
                          <a:latin typeface="Calibri"/>
                        </a:rPr>
                        <a:t>Pub/Sub, Cloud Tasks</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500" b="1" i="0">
                          <a:solidFill>
                            <a:srgbClr val="002060"/>
                          </a:solidFill>
                          <a:latin typeface="Calibri"/>
                        </a:rPr>
                        <a:t>Metrics and logs</a:t>
                      </a:r>
                    </a:p>
                  </a:txBody>
                  <a:tcPr marL="73152" marR="73152" marT="36576" marB="36576" anchor="ctr">
                    <a:solidFill>
                      <a:srgbClr val="F2F2F2"/>
                    </a:solidFill>
                  </a:tcPr>
                </a:tc>
                <a:tc>
                  <a:txBody>
                    <a:bodyPr/>
                    <a:lstStyle/>
                    <a:p>
                      <a:r>
                        <a:rPr sz="1500" b="0" i="0">
                          <a:solidFill>
                            <a:srgbClr val="262626"/>
                          </a:solidFill>
                          <a:latin typeface="Calibri"/>
                        </a:rPr>
                        <a:t>CloudWatch</a:t>
                      </a:r>
                    </a:p>
                  </a:txBody>
                  <a:tcPr marL="73152" marR="73152" marT="36576" marB="36576" anchor="ctr">
                    <a:solidFill>
                      <a:srgbClr val="F2F2F2"/>
                    </a:solidFill>
                  </a:tcPr>
                </a:tc>
                <a:tc>
                  <a:txBody>
                    <a:bodyPr/>
                    <a:lstStyle/>
                    <a:p>
                      <a:r>
                        <a:rPr sz="1500" b="0" i="0">
                          <a:solidFill>
                            <a:srgbClr val="262626"/>
                          </a:solidFill>
                          <a:latin typeface="Calibri"/>
                        </a:rPr>
                        <a:t>Azure Monitor</a:t>
                      </a:r>
                    </a:p>
                  </a:txBody>
                  <a:tcPr marL="73152" marR="73152" marT="36576" marB="36576" anchor="ctr">
                    <a:solidFill>
                      <a:srgbClr val="F2F2F2"/>
                    </a:solidFill>
                  </a:tcPr>
                </a:tc>
                <a:tc>
                  <a:txBody>
                    <a:bodyPr/>
                    <a:lstStyle/>
                    <a:p>
                      <a:r>
                        <a:rPr sz="1500" b="0" i="0">
                          <a:solidFill>
                            <a:srgbClr val="262626"/>
                          </a:solidFill>
                          <a:latin typeface="Calibri"/>
                        </a:rPr>
                        <a:t>Cloud Monitoring, Logging</a:t>
                      </a:r>
                    </a:p>
                  </a:txBody>
                  <a:tcPr marL="73152" marR="73152" marT="36576" marB="36576" anchor="ctr">
                    <a:solidFill>
                      <a:srgbClr val="F2F2F2"/>
                    </a:solidFill>
                  </a:tcPr>
                </a:tc>
                <a:extLst>
                  <a:ext uri="{0D108BD9-81ED-4DB2-BD59-A6C34878D82A}">
                    <a16:rowId xmlns:a16="http://schemas.microsoft.com/office/drawing/2014/main" val="10004"/>
                  </a:ext>
                </a:extLst>
              </a:tr>
              <a:tr h="457200">
                <a:tc>
                  <a:txBody>
                    <a:bodyPr/>
                    <a:lstStyle/>
                    <a:p>
                      <a:r>
                        <a:rPr sz="1500" b="1" i="0">
                          <a:solidFill>
                            <a:srgbClr val="002060"/>
                          </a:solidFill>
                          <a:latin typeface="Calibri"/>
                        </a:rPr>
                        <a:t>Distributed tracing</a:t>
                      </a:r>
                    </a:p>
                  </a:txBody>
                  <a:tcPr marL="73152" marR="73152" marT="36576" marB="36576" anchor="ctr">
                    <a:solidFill>
                      <a:srgbClr val="FFFFFF"/>
                    </a:solidFill>
                  </a:tcPr>
                </a:tc>
                <a:tc>
                  <a:txBody>
                    <a:bodyPr/>
                    <a:lstStyle/>
                    <a:p>
                      <a:r>
                        <a:rPr sz="1500" b="0" i="0">
                          <a:solidFill>
                            <a:srgbClr val="262626"/>
                          </a:solidFill>
                          <a:latin typeface="Calibri"/>
                        </a:rPr>
                        <a:t>AWS X-Ray</a:t>
                      </a:r>
                    </a:p>
                  </a:txBody>
                  <a:tcPr marL="73152" marR="73152" marT="36576" marB="36576" anchor="ctr">
                    <a:solidFill>
                      <a:srgbClr val="FFFFFF"/>
                    </a:solidFill>
                  </a:tcPr>
                </a:tc>
                <a:tc>
                  <a:txBody>
                    <a:bodyPr/>
                    <a:lstStyle/>
                    <a:p>
                      <a:r>
                        <a:rPr sz="1500" b="0" i="0">
                          <a:solidFill>
                            <a:srgbClr val="262626"/>
                          </a:solidFill>
                          <a:latin typeface="Calibri"/>
                        </a:rPr>
                        <a:t>Application Insights</a:t>
                      </a:r>
                    </a:p>
                  </a:txBody>
                  <a:tcPr marL="73152" marR="73152" marT="36576" marB="36576" anchor="ctr">
                    <a:solidFill>
                      <a:srgbClr val="FFFFFF"/>
                    </a:solidFill>
                  </a:tcPr>
                </a:tc>
                <a:tc>
                  <a:txBody>
                    <a:bodyPr/>
                    <a:lstStyle/>
                    <a:p>
                      <a:r>
                        <a:rPr sz="1500" b="0" i="0">
                          <a:solidFill>
                            <a:srgbClr val="262626"/>
                          </a:solidFill>
                          <a:latin typeface="Calibri"/>
                        </a:rPr>
                        <a:t>Cloud Trace</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500" b="1" i="0">
                          <a:solidFill>
                            <a:srgbClr val="002060"/>
                          </a:solidFill>
                          <a:latin typeface="Calibri"/>
                        </a:rPr>
                        <a:t>Isolation unit</a:t>
                      </a:r>
                    </a:p>
                  </a:txBody>
                  <a:tcPr marL="73152" marR="73152" marT="36576" marB="36576" anchor="ctr">
                    <a:solidFill>
                      <a:srgbClr val="F2F2F2"/>
                    </a:solidFill>
                  </a:tcPr>
                </a:tc>
                <a:tc>
                  <a:txBody>
                    <a:bodyPr/>
                    <a:lstStyle/>
                    <a:p>
                      <a:r>
                        <a:rPr sz="1500" b="0" i="0">
                          <a:solidFill>
                            <a:srgbClr val="262626"/>
                          </a:solidFill>
                          <a:latin typeface="Calibri"/>
                        </a:rPr>
                        <a:t>Account</a:t>
                      </a:r>
                    </a:p>
                  </a:txBody>
                  <a:tcPr marL="73152" marR="73152" marT="36576" marB="36576" anchor="ctr">
                    <a:solidFill>
                      <a:srgbClr val="F2F2F2"/>
                    </a:solidFill>
                  </a:tcPr>
                </a:tc>
                <a:tc>
                  <a:txBody>
                    <a:bodyPr/>
                    <a:lstStyle/>
                    <a:p>
                      <a:r>
                        <a:rPr sz="1500" b="0" i="0">
                          <a:solidFill>
                            <a:srgbClr val="262626"/>
                          </a:solidFill>
                          <a:latin typeface="Calibri"/>
                        </a:rPr>
                        <a:t>Subscription</a:t>
                      </a:r>
                    </a:p>
                  </a:txBody>
                  <a:tcPr marL="73152" marR="73152" marT="36576" marB="36576" anchor="ctr">
                    <a:solidFill>
                      <a:srgbClr val="F2F2F2"/>
                    </a:solidFill>
                  </a:tcPr>
                </a:tc>
                <a:tc>
                  <a:txBody>
                    <a:bodyPr/>
                    <a:lstStyle/>
                    <a:p>
                      <a:r>
                        <a:rPr sz="1500" b="0" i="0">
                          <a:solidFill>
                            <a:srgbClr val="262626"/>
                          </a:solidFill>
                          <a:latin typeface="Calibri"/>
                        </a:rPr>
                        <a:t>Project</a:t>
                      </a:r>
                    </a:p>
                  </a:txBody>
                  <a:tcPr marL="73152" marR="73152" marT="36576" marB="36576" anchor="ctr">
                    <a:solidFill>
                      <a:srgbClr val="F2F2F2"/>
                    </a:solidFill>
                  </a:tcPr>
                </a:tc>
                <a:extLst>
                  <a:ext uri="{0D108BD9-81ED-4DB2-BD59-A6C34878D82A}">
                    <a16:rowId xmlns:a16="http://schemas.microsoft.com/office/drawing/2014/main" val="10006"/>
                  </a:ext>
                </a:extLst>
              </a:tr>
              <a:tr h="457200">
                <a:tc>
                  <a:txBody>
                    <a:bodyPr/>
                    <a:lstStyle/>
                    <a:p>
                      <a:r>
                        <a:rPr sz="1500" b="1" i="0">
                          <a:solidFill>
                            <a:srgbClr val="002060"/>
                          </a:solidFill>
                          <a:latin typeface="Calibri"/>
                        </a:rPr>
                        <a:t>Identity</a:t>
                      </a:r>
                    </a:p>
                  </a:txBody>
                  <a:tcPr marL="73152" marR="73152" marT="36576" marB="36576" anchor="ctr">
                    <a:solidFill>
                      <a:srgbClr val="FFFFFF"/>
                    </a:solidFill>
                  </a:tcPr>
                </a:tc>
                <a:tc>
                  <a:txBody>
                    <a:bodyPr/>
                    <a:lstStyle/>
                    <a:p>
                      <a:r>
                        <a:rPr sz="1500" b="0" i="0">
                          <a:solidFill>
                            <a:srgbClr val="262626"/>
                          </a:solidFill>
                          <a:latin typeface="Calibri"/>
                        </a:rPr>
                        <a:t>IAM, Identity Center</a:t>
                      </a:r>
                    </a:p>
                  </a:txBody>
                  <a:tcPr marL="73152" marR="73152" marT="36576" marB="36576" anchor="ctr">
                    <a:solidFill>
                      <a:srgbClr val="FFFFFF"/>
                    </a:solidFill>
                  </a:tcPr>
                </a:tc>
                <a:tc>
                  <a:txBody>
                    <a:bodyPr/>
                    <a:lstStyle/>
                    <a:p>
                      <a:r>
                        <a:rPr sz="1500" b="0" i="0">
                          <a:solidFill>
                            <a:srgbClr val="262626"/>
                          </a:solidFill>
                          <a:latin typeface="Calibri"/>
                        </a:rPr>
                        <a:t>Entra ID, Azure RBAC</a:t>
                      </a:r>
                    </a:p>
                  </a:txBody>
                  <a:tcPr marL="73152" marR="73152" marT="36576" marB="36576" anchor="ctr">
                    <a:solidFill>
                      <a:srgbClr val="FFFFFF"/>
                    </a:solidFill>
                  </a:tcPr>
                </a:tc>
                <a:tc>
                  <a:txBody>
                    <a:bodyPr/>
                    <a:lstStyle/>
                    <a:p>
                      <a:r>
                        <a:rPr sz="1500" b="0" i="0">
                          <a:solidFill>
                            <a:srgbClr val="262626"/>
                          </a:solidFill>
                          <a:latin typeface="Calibri"/>
                        </a:rPr>
                        <a:t>Cloud IAM</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500" b="1" i="0">
                          <a:solidFill>
                            <a:srgbClr val="002060"/>
                          </a:solidFill>
                          <a:latin typeface="Calibri"/>
                        </a:rPr>
                        <a:t>Secrets</a:t>
                      </a:r>
                    </a:p>
                  </a:txBody>
                  <a:tcPr marL="73152" marR="73152" marT="36576" marB="36576" anchor="ctr">
                    <a:solidFill>
                      <a:srgbClr val="F2F2F2"/>
                    </a:solidFill>
                  </a:tcPr>
                </a:tc>
                <a:tc>
                  <a:txBody>
                    <a:bodyPr/>
                    <a:lstStyle/>
                    <a:p>
                      <a:r>
                        <a:rPr sz="1500" b="0" i="0">
                          <a:solidFill>
                            <a:srgbClr val="262626"/>
                          </a:solidFill>
                          <a:latin typeface="Calibri"/>
                        </a:rPr>
                        <a:t>Secrets Manager</a:t>
                      </a:r>
                    </a:p>
                  </a:txBody>
                  <a:tcPr marL="73152" marR="73152" marT="36576" marB="36576" anchor="ctr">
                    <a:solidFill>
                      <a:srgbClr val="F2F2F2"/>
                    </a:solidFill>
                  </a:tcPr>
                </a:tc>
                <a:tc>
                  <a:txBody>
                    <a:bodyPr/>
                    <a:lstStyle/>
                    <a:p>
                      <a:r>
                        <a:rPr sz="1500" b="0" i="0">
                          <a:solidFill>
                            <a:srgbClr val="262626"/>
                          </a:solidFill>
                          <a:latin typeface="Calibri"/>
                        </a:rPr>
                        <a:t>Key Vault</a:t>
                      </a:r>
                    </a:p>
                  </a:txBody>
                  <a:tcPr marL="73152" marR="73152" marT="36576" marB="36576" anchor="ctr">
                    <a:solidFill>
                      <a:srgbClr val="F2F2F2"/>
                    </a:solidFill>
                  </a:tcPr>
                </a:tc>
                <a:tc>
                  <a:txBody>
                    <a:bodyPr/>
                    <a:lstStyle/>
                    <a:p>
                      <a:r>
                        <a:rPr sz="1500" b="0" i="0">
                          <a:solidFill>
                            <a:srgbClr val="262626"/>
                          </a:solidFill>
                          <a:latin typeface="Calibri"/>
                        </a:rPr>
                        <a:t>Secret Manager</a:t>
                      </a:r>
                    </a:p>
                  </a:txBody>
                  <a:tcPr marL="73152" marR="73152" marT="36576" marB="36576" anchor="ctr">
                    <a:solidFill>
                      <a:srgbClr val="F2F2F2"/>
                    </a:solidFill>
                  </a:tcPr>
                </a:tc>
                <a:extLst>
                  <a:ext uri="{0D108BD9-81ED-4DB2-BD59-A6C34878D82A}">
                    <a16:rowId xmlns:a16="http://schemas.microsoft.com/office/drawing/2014/main" val="10008"/>
                  </a:ext>
                </a:extLst>
              </a:tr>
              <a:tr h="457200">
                <a:tc>
                  <a:txBody>
                    <a:bodyPr/>
                    <a:lstStyle/>
                    <a:p>
                      <a:r>
                        <a:rPr sz="1500" b="1" i="0">
                          <a:solidFill>
                            <a:srgbClr val="002060"/>
                          </a:solidFill>
                          <a:latin typeface="Calibri"/>
                        </a:rPr>
                        <a:t>API audit log</a:t>
                      </a:r>
                    </a:p>
                  </a:txBody>
                  <a:tcPr marL="73152" marR="73152" marT="36576" marB="36576" anchor="ctr">
                    <a:solidFill>
                      <a:srgbClr val="FFFFFF"/>
                    </a:solidFill>
                  </a:tcPr>
                </a:tc>
                <a:tc>
                  <a:txBody>
                    <a:bodyPr/>
                    <a:lstStyle/>
                    <a:p>
                      <a:r>
                        <a:rPr sz="1500" b="0" i="0">
                          <a:solidFill>
                            <a:srgbClr val="262626"/>
                          </a:solidFill>
                          <a:latin typeface="Calibri"/>
                        </a:rPr>
                        <a:t>CloudTrail</a:t>
                      </a:r>
                    </a:p>
                  </a:txBody>
                  <a:tcPr marL="73152" marR="73152" marT="36576" marB="36576" anchor="ctr">
                    <a:solidFill>
                      <a:srgbClr val="FFFFFF"/>
                    </a:solidFill>
                  </a:tcPr>
                </a:tc>
                <a:tc>
                  <a:txBody>
                    <a:bodyPr/>
                    <a:lstStyle/>
                    <a:p>
                      <a:r>
                        <a:rPr sz="1500" b="0" i="0">
                          <a:solidFill>
                            <a:srgbClr val="262626"/>
                          </a:solidFill>
                          <a:latin typeface="Calibri"/>
                        </a:rPr>
                        <a:t>Activity Log</a:t>
                      </a:r>
                    </a:p>
                  </a:txBody>
                  <a:tcPr marL="73152" marR="73152" marT="36576" marB="36576" anchor="ctr">
                    <a:solidFill>
                      <a:srgbClr val="FFFFFF"/>
                    </a:solidFill>
                  </a:tcPr>
                </a:tc>
                <a:tc>
                  <a:txBody>
                    <a:bodyPr/>
                    <a:lstStyle/>
                    <a:p>
                      <a:r>
                        <a:rPr sz="1500" b="0" i="0">
                          <a:solidFill>
                            <a:srgbClr val="262626"/>
                          </a:solidFill>
                          <a:latin typeface="Calibri"/>
                        </a:rPr>
                        <a:t>Cloud Audit Logs</a:t>
                      </a:r>
                    </a:p>
                  </a:txBody>
                  <a:tcPr marL="73152" marR="73152" marT="36576" marB="36576" anchor="ctr">
                    <a:solidFill>
                      <a:srgbClr val="FFFFFF"/>
                    </a:solidFill>
                  </a:tcPr>
                </a:tc>
                <a:extLst>
                  <a:ext uri="{0D108BD9-81ED-4DB2-BD59-A6C34878D82A}">
                    <a16:rowId xmlns:a16="http://schemas.microsoft.com/office/drawing/2014/main" val="10009"/>
                  </a:ext>
                </a:extLst>
              </a:tr>
              <a:tr h="457200">
                <a:tc>
                  <a:txBody>
                    <a:bodyPr/>
                    <a:lstStyle/>
                    <a:p>
                      <a:r>
                        <a:rPr sz="1500" b="1" i="0">
                          <a:solidFill>
                            <a:srgbClr val="002060"/>
                          </a:solidFill>
                          <a:latin typeface="Calibri"/>
                        </a:rPr>
                        <a:t>Infrastructure as code</a:t>
                      </a:r>
                    </a:p>
                  </a:txBody>
                  <a:tcPr marL="73152" marR="73152" marT="36576" marB="36576" anchor="ctr">
                    <a:solidFill>
                      <a:srgbClr val="F2F2F2"/>
                    </a:solidFill>
                  </a:tcPr>
                </a:tc>
                <a:tc>
                  <a:txBody>
                    <a:bodyPr/>
                    <a:lstStyle/>
                    <a:p>
                      <a:r>
                        <a:rPr sz="1500" b="0" i="0">
                          <a:solidFill>
                            <a:srgbClr val="262626"/>
                          </a:solidFill>
                          <a:latin typeface="Calibri"/>
                        </a:rPr>
                        <a:t>CloudFormation, CDK</a:t>
                      </a:r>
                    </a:p>
                  </a:txBody>
                  <a:tcPr marL="73152" marR="73152" marT="36576" marB="36576" anchor="ctr">
                    <a:solidFill>
                      <a:srgbClr val="F2F2F2"/>
                    </a:solidFill>
                  </a:tcPr>
                </a:tc>
                <a:tc>
                  <a:txBody>
                    <a:bodyPr/>
                    <a:lstStyle/>
                    <a:p>
                      <a:r>
                        <a:rPr sz="1500" b="0" i="0">
                          <a:solidFill>
                            <a:srgbClr val="262626"/>
                          </a:solidFill>
                          <a:latin typeface="Calibri"/>
                        </a:rPr>
                        <a:t>ARM, Bicep</a:t>
                      </a:r>
                    </a:p>
                  </a:txBody>
                  <a:tcPr marL="73152" marR="73152" marT="36576" marB="36576" anchor="ctr">
                    <a:solidFill>
                      <a:srgbClr val="F2F2F2"/>
                    </a:solidFill>
                  </a:tcPr>
                </a:tc>
                <a:tc>
                  <a:txBody>
                    <a:bodyPr/>
                    <a:lstStyle/>
                    <a:p>
                      <a:r>
                        <a:rPr sz="1500" b="0" i="0">
                          <a:solidFill>
                            <a:srgbClr val="262626"/>
                          </a:solidFill>
                          <a:latin typeface="Calibri"/>
                        </a:rPr>
                        <a:t>Infrastructure Manager</a:t>
                      </a:r>
                    </a:p>
                  </a:txBody>
                  <a:tcPr marL="73152" marR="73152" marT="36576" marB="36576" anchor="ctr">
                    <a:solidFill>
                      <a:srgbClr val="F2F2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1.6</a:t>
            </a:r>
            <a:r>
              <a:rPr sz="2400" b="1" i="0">
                <a:solidFill>
                  <a:srgbClr val="FFFFFF"/>
                </a:solidFill>
                <a:latin typeface="Calibri"/>
              </a:rPr>
              <a:t> End-to-End Request Tracing</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2.png"/>
          <p:cNvPicPr>
            <a:picLocks noChangeAspect="1"/>
          </p:cNvPicPr>
          <p:nvPr/>
        </p:nvPicPr>
        <p:blipFill>
          <a:blip r:embed="rId4"/>
          <a:stretch>
            <a:fillRect/>
          </a:stretch>
        </p:blipFill>
        <p:spPr>
          <a:xfrm>
            <a:off x="457200" y="1097280"/>
            <a:ext cx="6819595" cy="5166360"/>
          </a:xfrm>
          <a:prstGeom prst="rect">
            <a:avLst/>
          </a:prstGeom>
          <a:ln w="9525">
            <a:solidFill>
              <a:srgbClr val="D9D9D9"/>
            </a:solidFill>
          </a:ln>
        </p:spPr>
      </p:pic>
      <p:sp>
        <p:nvSpPr>
          <p:cNvPr id="11" name="Oval 10"/>
          <p:cNvSpPr/>
          <p:nvPr/>
        </p:nvSpPr>
        <p:spPr>
          <a:xfrm>
            <a:off x="7543800" y="1298448"/>
            <a:ext cx="457200" cy="45720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1</a:t>
            </a:r>
          </a:p>
        </p:txBody>
      </p:sp>
      <p:sp>
        <p:nvSpPr>
          <p:cNvPr id="12" name="TextBox 11"/>
          <p:cNvSpPr txBox="1"/>
          <p:nvPr/>
        </p:nvSpPr>
        <p:spPr>
          <a:xfrm>
            <a:off x="8092440" y="1188720"/>
            <a:ext cx="3657600" cy="749808"/>
          </a:xfrm>
          <a:prstGeom prst="rect">
            <a:avLst/>
          </a:prstGeom>
          <a:noFill/>
        </p:spPr>
        <p:txBody>
          <a:bodyPr wrap="square" anchor="ctr">
            <a:spAutoFit/>
          </a:bodyPr>
          <a:lstStyle/>
          <a:p>
            <a:pPr algn="l">
              <a:spcAft>
                <a:spcPts val="0"/>
              </a:spcAft>
            </a:pPr>
            <a:r>
              <a:rPr sz="1600" b="1" i="0">
                <a:solidFill>
                  <a:srgbClr val="002060"/>
                </a:solidFill>
                <a:latin typeface="Calibri"/>
              </a:rPr>
              <a:t>Route 53</a:t>
            </a:r>
          </a:p>
          <a:p>
            <a:pPr algn="l">
              <a:spcAft>
                <a:spcPts val="0"/>
              </a:spcAft>
            </a:pPr>
            <a:r>
              <a:rPr sz="1500" b="0" i="0">
                <a:solidFill>
                  <a:srgbClr val="262626"/>
                </a:solidFill>
                <a:latin typeface="Calibri"/>
              </a:rPr>
              <a:t>Name to edge IP; query logs</a:t>
            </a:r>
          </a:p>
        </p:txBody>
      </p:sp>
      <p:sp>
        <p:nvSpPr>
          <p:cNvPr id="13" name="Oval 12"/>
          <p:cNvSpPr/>
          <p:nvPr/>
        </p:nvSpPr>
        <p:spPr>
          <a:xfrm>
            <a:off x="7543800" y="2139696"/>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2</a:t>
            </a:r>
          </a:p>
        </p:txBody>
      </p:sp>
      <p:sp>
        <p:nvSpPr>
          <p:cNvPr id="14" name="TextBox 13"/>
          <p:cNvSpPr txBox="1"/>
          <p:nvPr/>
        </p:nvSpPr>
        <p:spPr>
          <a:xfrm>
            <a:off x="8092440" y="2029968"/>
            <a:ext cx="3657600" cy="749808"/>
          </a:xfrm>
          <a:prstGeom prst="rect">
            <a:avLst/>
          </a:prstGeom>
          <a:noFill/>
        </p:spPr>
        <p:txBody>
          <a:bodyPr wrap="square" anchor="ctr">
            <a:spAutoFit/>
          </a:bodyPr>
          <a:lstStyle/>
          <a:p>
            <a:pPr algn="l">
              <a:spcAft>
                <a:spcPts val="0"/>
              </a:spcAft>
            </a:pPr>
            <a:r>
              <a:rPr sz="1600" b="1" i="0">
                <a:solidFill>
                  <a:srgbClr val="002060"/>
                </a:solidFill>
                <a:latin typeface="Calibri"/>
              </a:rPr>
              <a:t>CloudFront</a:t>
            </a:r>
          </a:p>
          <a:p>
            <a:pPr algn="l">
              <a:spcAft>
                <a:spcPts val="0"/>
              </a:spcAft>
            </a:pPr>
            <a:r>
              <a:rPr sz="1500" b="0" i="0">
                <a:solidFill>
                  <a:srgbClr val="262626"/>
                </a:solidFill>
                <a:latin typeface="Calibri"/>
              </a:rPr>
              <a:t>Miss; forwards to the ALB</a:t>
            </a:r>
          </a:p>
        </p:txBody>
      </p:sp>
      <p:sp>
        <p:nvSpPr>
          <p:cNvPr id="15" name="Oval 14"/>
          <p:cNvSpPr/>
          <p:nvPr/>
        </p:nvSpPr>
        <p:spPr>
          <a:xfrm>
            <a:off x="7543800" y="2980944"/>
            <a:ext cx="457200" cy="45720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3</a:t>
            </a:r>
          </a:p>
        </p:txBody>
      </p:sp>
      <p:sp>
        <p:nvSpPr>
          <p:cNvPr id="16" name="TextBox 15"/>
          <p:cNvSpPr txBox="1"/>
          <p:nvPr/>
        </p:nvSpPr>
        <p:spPr>
          <a:xfrm>
            <a:off x="8092440" y="2871216"/>
            <a:ext cx="3657600" cy="749808"/>
          </a:xfrm>
          <a:prstGeom prst="rect">
            <a:avLst/>
          </a:prstGeom>
          <a:noFill/>
        </p:spPr>
        <p:txBody>
          <a:bodyPr wrap="square" anchor="ctr">
            <a:spAutoFit/>
          </a:bodyPr>
          <a:lstStyle/>
          <a:p>
            <a:pPr algn="l">
              <a:spcAft>
                <a:spcPts val="0"/>
              </a:spcAft>
            </a:pPr>
            <a:r>
              <a:rPr sz="1600" b="1" i="0">
                <a:solidFill>
                  <a:srgbClr val="002060"/>
                </a:solidFill>
                <a:latin typeface="Calibri"/>
              </a:rPr>
              <a:t>ALB</a:t>
            </a:r>
          </a:p>
          <a:p>
            <a:pPr algn="l">
              <a:spcAft>
                <a:spcPts val="0"/>
              </a:spcAft>
            </a:pPr>
            <a:r>
              <a:rPr sz="1500" b="0" i="0">
                <a:solidFill>
                  <a:srgbClr val="262626"/>
                </a:solidFill>
                <a:latin typeface="Calibri"/>
              </a:rPr>
              <a:t>Adds X-Amzn-Trace-Id; access logs</a:t>
            </a:r>
          </a:p>
        </p:txBody>
      </p:sp>
      <p:sp>
        <p:nvSpPr>
          <p:cNvPr id="17" name="Oval 16"/>
          <p:cNvSpPr/>
          <p:nvPr/>
        </p:nvSpPr>
        <p:spPr>
          <a:xfrm>
            <a:off x="7543800" y="3822192"/>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4</a:t>
            </a:r>
          </a:p>
        </p:txBody>
      </p:sp>
      <p:sp>
        <p:nvSpPr>
          <p:cNvPr id="18" name="TextBox 17"/>
          <p:cNvSpPr txBox="1"/>
          <p:nvPr/>
        </p:nvSpPr>
        <p:spPr>
          <a:xfrm>
            <a:off x="8092440" y="3712464"/>
            <a:ext cx="3657600" cy="749808"/>
          </a:xfrm>
          <a:prstGeom prst="rect">
            <a:avLst/>
          </a:prstGeom>
          <a:noFill/>
        </p:spPr>
        <p:txBody>
          <a:bodyPr wrap="square" anchor="ctr">
            <a:spAutoFit/>
          </a:bodyPr>
          <a:lstStyle/>
          <a:p>
            <a:pPr algn="l">
              <a:spcAft>
                <a:spcPts val="0"/>
              </a:spcAft>
            </a:pPr>
            <a:r>
              <a:rPr sz="1600" b="1" i="0">
                <a:solidFill>
                  <a:srgbClr val="002060"/>
                </a:solidFill>
                <a:latin typeface="Calibri"/>
              </a:rPr>
              <a:t>Fargate task</a:t>
            </a:r>
          </a:p>
          <a:p>
            <a:pPr algn="l">
              <a:spcAft>
                <a:spcPts val="0"/>
              </a:spcAft>
            </a:pPr>
            <a:r>
              <a:rPr sz="1500" b="0" i="0">
                <a:solidFill>
                  <a:srgbClr val="262626"/>
                </a:solidFill>
                <a:latin typeface="Calibri"/>
              </a:rPr>
              <a:t>Root segment for the request</a:t>
            </a:r>
          </a:p>
        </p:txBody>
      </p:sp>
      <p:sp>
        <p:nvSpPr>
          <p:cNvPr id="19" name="Oval 18"/>
          <p:cNvSpPr/>
          <p:nvPr/>
        </p:nvSpPr>
        <p:spPr>
          <a:xfrm>
            <a:off x="7543800" y="4663440"/>
            <a:ext cx="457200" cy="45720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5</a:t>
            </a:r>
          </a:p>
        </p:txBody>
      </p:sp>
      <p:sp>
        <p:nvSpPr>
          <p:cNvPr id="20" name="TextBox 19"/>
          <p:cNvSpPr txBox="1"/>
          <p:nvPr/>
        </p:nvSpPr>
        <p:spPr>
          <a:xfrm>
            <a:off x="8092440" y="4553712"/>
            <a:ext cx="3657600" cy="749808"/>
          </a:xfrm>
          <a:prstGeom prst="rect">
            <a:avLst/>
          </a:prstGeom>
          <a:noFill/>
        </p:spPr>
        <p:txBody>
          <a:bodyPr wrap="square" anchor="ctr">
            <a:spAutoFit/>
          </a:bodyPr>
          <a:lstStyle/>
          <a:p>
            <a:pPr algn="l">
              <a:spcAft>
                <a:spcPts val="0"/>
              </a:spcAft>
            </a:pPr>
            <a:r>
              <a:rPr sz="1600" b="1" i="0">
                <a:solidFill>
                  <a:srgbClr val="002060"/>
                </a:solidFill>
                <a:latin typeface="Calibri"/>
              </a:rPr>
              <a:t>ElastiCache, RDS</a:t>
            </a:r>
          </a:p>
          <a:p>
            <a:pPr algn="l">
              <a:spcAft>
                <a:spcPts val="0"/>
              </a:spcAft>
            </a:pPr>
            <a:r>
              <a:rPr sz="1500" b="0" i="0">
                <a:solidFill>
                  <a:srgbClr val="262626"/>
                </a:solidFill>
                <a:latin typeface="Calibri"/>
              </a:rPr>
              <a:t>Subsegments with timings</a:t>
            </a:r>
          </a:p>
        </p:txBody>
      </p:sp>
      <p:sp>
        <p:nvSpPr>
          <p:cNvPr id="21" name="Oval 20"/>
          <p:cNvSpPr/>
          <p:nvPr/>
        </p:nvSpPr>
        <p:spPr>
          <a:xfrm>
            <a:off x="7543800" y="5504688"/>
            <a:ext cx="457200" cy="4572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6</a:t>
            </a:r>
          </a:p>
        </p:txBody>
      </p:sp>
      <p:sp>
        <p:nvSpPr>
          <p:cNvPr id="22" name="TextBox 21"/>
          <p:cNvSpPr txBox="1"/>
          <p:nvPr/>
        </p:nvSpPr>
        <p:spPr>
          <a:xfrm>
            <a:off x="8092440" y="5394960"/>
            <a:ext cx="3657600" cy="749808"/>
          </a:xfrm>
          <a:prstGeom prst="rect">
            <a:avLst/>
          </a:prstGeom>
          <a:noFill/>
        </p:spPr>
        <p:txBody>
          <a:bodyPr wrap="square" anchor="ctr">
            <a:spAutoFit/>
          </a:bodyPr>
          <a:lstStyle/>
          <a:p>
            <a:pPr algn="l">
              <a:spcAft>
                <a:spcPts val="0"/>
              </a:spcAft>
            </a:pPr>
            <a:r>
              <a:rPr sz="1600" b="1" i="0">
                <a:solidFill>
                  <a:srgbClr val="002060"/>
                </a:solidFill>
                <a:latin typeface="Calibri"/>
              </a:rPr>
              <a:t>Response</a:t>
            </a:r>
          </a:p>
          <a:p>
            <a:pPr algn="l">
              <a:spcAft>
                <a:spcPts val="0"/>
              </a:spcAft>
            </a:pPr>
            <a:r>
              <a:rPr sz="1500" b="0" i="0">
                <a:solidFill>
                  <a:srgbClr val="262626"/>
                </a:solidFill>
                <a:latin typeface="Calibri"/>
              </a:rPr>
              <a:t>Stored at edge for 60 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1.6</a:t>
            </a:r>
            <a:r>
              <a:rPr sz="2400" b="1" i="0">
                <a:solidFill>
                  <a:srgbClr val="FFFFFF"/>
                </a:solidFill>
                <a:latin typeface="Calibri"/>
              </a:rPr>
              <a:t> Where Each Hop Leaves Evidence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graphicFrame>
        <p:nvGraphicFramePr>
          <p:cNvPr id="10" name="Table 9"/>
          <p:cNvGraphicFramePr>
            <a:graphicFrameLocks noGrp="1"/>
          </p:cNvGraphicFramePr>
          <p:nvPr/>
        </p:nvGraphicFramePr>
        <p:xfrm>
          <a:off x="457200" y="1188720"/>
          <a:ext cx="11274552" cy="4535424"/>
        </p:xfrm>
        <a:graphic>
          <a:graphicData uri="http://schemas.openxmlformats.org/drawingml/2006/table">
            <a:tbl>
              <a:tblPr firstRow="1">
                <a:tableStyleId>{5940675A-B579-460E-94D1-54222C63F5DA}</a:tableStyleId>
              </a:tblPr>
              <a:tblGrid>
                <a:gridCol w="1828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566928">
                <a:tc>
                  <a:txBody>
                    <a:bodyPr/>
                    <a:lstStyle/>
                    <a:p>
                      <a:r>
                        <a:rPr sz="1500" b="1" i="0">
                          <a:solidFill>
                            <a:srgbClr val="FFFFFF"/>
                          </a:solidFill>
                          <a:latin typeface="Calibri"/>
                        </a:rPr>
                        <a:t>Hop</a:t>
                      </a:r>
                    </a:p>
                  </a:txBody>
                  <a:tcPr marL="73152" marR="73152" marT="36576" marB="36576" anchor="ctr">
                    <a:solidFill>
                      <a:srgbClr val="156082"/>
                    </a:solidFill>
                  </a:tcPr>
                </a:tc>
                <a:tc>
                  <a:txBody>
                    <a:bodyPr/>
                    <a:lstStyle/>
                    <a:p>
                      <a:r>
                        <a:rPr sz="1500" b="1" i="0">
                          <a:solidFill>
                            <a:srgbClr val="FFFFFF"/>
                          </a:solidFill>
                          <a:latin typeface="Calibri"/>
                        </a:rPr>
                        <a:t>Primary evidence</a:t>
                      </a:r>
                    </a:p>
                  </a:txBody>
                  <a:tcPr marL="73152" marR="73152" marT="36576" marB="36576" anchor="ctr">
                    <a:solidFill>
                      <a:srgbClr val="156082"/>
                    </a:solidFill>
                  </a:tcPr>
                </a:tc>
                <a:tc>
                  <a:txBody>
                    <a:bodyPr/>
                    <a:lstStyle/>
                    <a:p>
                      <a:r>
                        <a:rPr sz="1500" b="1" i="0">
                          <a:solidFill>
                            <a:srgbClr val="FFFFFF"/>
                          </a:solidFill>
                          <a:latin typeface="Calibri"/>
                        </a:rPr>
                        <a:t>What it tells us</a:t>
                      </a:r>
                    </a:p>
                  </a:txBody>
                  <a:tcPr marL="73152" marR="73152" marT="36576" marB="36576" anchor="ctr">
                    <a:solidFill>
                      <a:srgbClr val="156082"/>
                    </a:solidFill>
                  </a:tcPr>
                </a:tc>
                <a:extLst>
                  <a:ext uri="{0D108BD9-81ED-4DB2-BD59-A6C34878D82A}">
                    <a16:rowId xmlns:a16="http://schemas.microsoft.com/office/drawing/2014/main" val="10000"/>
                  </a:ext>
                </a:extLst>
              </a:tr>
              <a:tr h="566928">
                <a:tc>
                  <a:txBody>
                    <a:bodyPr/>
                    <a:lstStyle/>
                    <a:p>
                      <a:r>
                        <a:rPr sz="1500" b="1" i="0">
                          <a:solidFill>
                            <a:srgbClr val="002060"/>
                          </a:solidFill>
                          <a:latin typeface="Calibri"/>
                        </a:rPr>
                        <a:t>Route 53</a:t>
                      </a:r>
                    </a:p>
                  </a:txBody>
                  <a:tcPr marL="73152" marR="73152" marT="36576" marB="36576" anchor="ctr">
                    <a:solidFill>
                      <a:srgbClr val="FFFFFF"/>
                    </a:solidFill>
                  </a:tcPr>
                </a:tc>
                <a:tc>
                  <a:txBody>
                    <a:bodyPr/>
                    <a:lstStyle/>
                    <a:p>
                      <a:r>
                        <a:rPr sz="1500" b="0" i="0">
                          <a:solidFill>
                            <a:srgbClr val="262626"/>
                          </a:solidFill>
                          <a:latin typeface="Calibri"/>
                        </a:rPr>
                        <a:t>Query logs, health check status</a:t>
                      </a:r>
                    </a:p>
                  </a:txBody>
                  <a:tcPr marL="73152" marR="73152" marT="36576" marB="36576" anchor="ctr">
                    <a:solidFill>
                      <a:srgbClr val="FFFFFF"/>
                    </a:solidFill>
                  </a:tcPr>
                </a:tc>
                <a:tc>
                  <a:txBody>
                    <a:bodyPr/>
                    <a:lstStyle/>
                    <a:p>
                      <a:r>
                        <a:rPr sz="1500" b="0" i="0">
                          <a:solidFill>
                            <a:srgbClr val="262626"/>
                          </a:solidFill>
                          <a:latin typeface="Calibri"/>
                        </a:rPr>
                        <a:t>Which name was asked, by which resolver, with what answer</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500" b="1" i="0">
                          <a:solidFill>
                            <a:srgbClr val="002060"/>
                          </a:solidFill>
                          <a:latin typeface="Calibri"/>
                        </a:rPr>
                        <a:t>CloudFront</a:t>
                      </a:r>
                    </a:p>
                  </a:txBody>
                  <a:tcPr marL="73152" marR="73152" marT="36576" marB="36576" anchor="ctr">
                    <a:solidFill>
                      <a:srgbClr val="F2F2F2"/>
                    </a:solidFill>
                  </a:tcPr>
                </a:tc>
                <a:tc>
                  <a:txBody>
                    <a:bodyPr/>
                    <a:lstStyle/>
                    <a:p>
                      <a:r>
                        <a:rPr sz="1500" b="0" i="0">
                          <a:solidFill>
                            <a:srgbClr val="262626"/>
                          </a:solidFill>
                          <a:latin typeface="Calibri"/>
                        </a:rPr>
                        <a:t>Access logs, CacheHitRate, OriginLatency</a:t>
                      </a:r>
                    </a:p>
                  </a:txBody>
                  <a:tcPr marL="73152" marR="73152" marT="36576" marB="36576" anchor="ctr">
                    <a:solidFill>
                      <a:srgbClr val="F2F2F2"/>
                    </a:solidFill>
                  </a:tcPr>
                </a:tc>
                <a:tc>
                  <a:txBody>
                    <a:bodyPr/>
                    <a:lstStyle/>
                    <a:p>
                      <a:r>
                        <a:rPr sz="1500" b="0" i="0">
                          <a:solidFill>
                            <a:srgbClr val="262626"/>
                          </a:solidFill>
                          <a:latin typeface="Calibri"/>
                        </a:rPr>
                        <a:t>Hit or miss, edge location, time at edge, origin wait</a:t>
                      </a:r>
                    </a:p>
                  </a:txBody>
                  <a:tcPr marL="73152" marR="73152" marT="36576" marB="36576" anchor="ctr">
                    <a:solidFill>
                      <a:srgbClr val="F2F2F2"/>
                    </a:solidFill>
                  </a:tcPr>
                </a:tc>
                <a:extLst>
                  <a:ext uri="{0D108BD9-81ED-4DB2-BD59-A6C34878D82A}">
                    <a16:rowId xmlns:a16="http://schemas.microsoft.com/office/drawing/2014/main" val="10002"/>
                  </a:ext>
                </a:extLst>
              </a:tr>
              <a:tr h="566928">
                <a:tc>
                  <a:txBody>
                    <a:bodyPr/>
                    <a:lstStyle/>
                    <a:p>
                      <a:r>
                        <a:rPr sz="1500" b="1" i="0">
                          <a:solidFill>
                            <a:srgbClr val="002060"/>
                          </a:solidFill>
                          <a:latin typeface="Calibri"/>
                        </a:rPr>
                        <a:t>ALB</a:t>
                      </a:r>
                    </a:p>
                  </a:txBody>
                  <a:tcPr marL="73152" marR="73152" marT="36576" marB="36576" anchor="ctr">
                    <a:solidFill>
                      <a:srgbClr val="FFFFFF"/>
                    </a:solidFill>
                  </a:tcPr>
                </a:tc>
                <a:tc>
                  <a:txBody>
                    <a:bodyPr/>
                    <a:lstStyle/>
                    <a:p>
                      <a:r>
                        <a:rPr sz="1500" b="0" i="0">
                          <a:solidFill>
                            <a:srgbClr val="262626"/>
                          </a:solidFill>
                          <a:latin typeface="Calibri"/>
                        </a:rPr>
                        <a:t>Access logs with trace_id, TargetResponseTime</a:t>
                      </a:r>
                    </a:p>
                  </a:txBody>
                  <a:tcPr marL="73152" marR="73152" marT="36576" marB="36576" anchor="ctr">
                    <a:solidFill>
                      <a:srgbClr val="FFFFFF"/>
                    </a:solidFill>
                  </a:tcPr>
                </a:tc>
                <a:tc>
                  <a:txBody>
                    <a:bodyPr/>
                    <a:lstStyle/>
                    <a:p>
                      <a:r>
                        <a:rPr sz="1500" b="0" i="0">
                          <a:solidFill>
                            <a:srgbClr val="262626"/>
                          </a:solidFill>
                          <a:latin typeface="Calibri"/>
                        </a:rPr>
                        <a:t>Time waiting for the task, which task, status codes</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500" b="1" i="0">
                          <a:solidFill>
                            <a:srgbClr val="002060"/>
                          </a:solidFill>
                          <a:latin typeface="Calibri"/>
                        </a:rPr>
                        <a:t>Fargate task</a:t>
                      </a:r>
                    </a:p>
                  </a:txBody>
                  <a:tcPr marL="73152" marR="73152" marT="36576" marB="36576" anchor="ctr">
                    <a:solidFill>
                      <a:srgbClr val="F2F2F2"/>
                    </a:solidFill>
                  </a:tcPr>
                </a:tc>
                <a:tc>
                  <a:txBody>
                    <a:bodyPr/>
                    <a:lstStyle/>
                    <a:p>
                      <a:r>
                        <a:rPr sz="1500" b="0" i="0">
                          <a:solidFill>
                            <a:srgbClr val="262626"/>
                          </a:solidFill>
                          <a:latin typeface="Calibri"/>
                        </a:rPr>
                        <a:t>X-Ray segment, application logs</a:t>
                      </a:r>
                    </a:p>
                  </a:txBody>
                  <a:tcPr marL="73152" marR="73152" marT="36576" marB="36576" anchor="ctr">
                    <a:solidFill>
                      <a:srgbClr val="F2F2F2"/>
                    </a:solidFill>
                  </a:tcPr>
                </a:tc>
                <a:tc>
                  <a:txBody>
                    <a:bodyPr/>
                    <a:lstStyle/>
                    <a:p>
                      <a:r>
                        <a:rPr sz="1500" b="0" i="0">
                          <a:solidFill>
                            <a:srgbClr val="262626"/>
                          </a:solidFill>
                          <a:latin typeface="Calibri"/>
                        </a:rPr>
                        <a:t>Time in our code and in each downstream call</a:t>
                      </a:r>
                    </a:p>
                  </a:txBody>
                  <a:tcPr marL="73152" marR="73152" marT="36576" marB="36576" anchor="ctr">
                    <a:solidFill>
                      <a:srgbClr val="F2F2F2"/>
                    </a:solidFill>
                  </a:tcPr>
                </a:tc>
                <a:extLst>
                  <a:ext uri="{0D108BD9-81ED-4DB2-BD59-A6C34878D82A}">
                    <a16:rowId xmlns:a16="http://schemas.microsoft.com/office/drawing/2014/main" val="10004"/>
                  </a:ext>
                </a:extLst>
              </a:tr>
              <a:tr h="566928">
                <a:tc>
                  <a:txBody>
                    <a:bodyPr/>
                    <a:lstStyle/>
                    <a:p>
                      <a:r>
                        <a:rPr sz="1500" b="1" i="0">
                          <a:solidFill>
                            <a:srgbClr val="002060"/>
                          </a:solidFill>
                          <a:latin typeface="Calibri"/>
                        </a:rPr>
                        <a:t>ElastiCache</a:t>
                      </a:r>
                    </a:p>
                  </a:txBody>
                  <a:tcPr marL="73152" marR="73152" marT="36576" marB="36576" anchor="ctr">
                    <a:solidFill>
                      <a:srgbClr val="FFFFFF"/>
                    </a:solidFill>
                  </a:tcPr>
                </a:tc>
                <a:tc>
                  <a:txBody>
                    <a:bodyPr/>
                    <a:lstStyle/>
                    <a:p>
                      <a:r>
                        <a:rPr sz="1500" b="0" i="0">
                          <a:solidFill>
                            <a:srgbClr val="262626"/>
                          </a:solidFill>
                          <a:latin typeface="Calibri"/>
                        </a:rPr>
                        <a:t>X-Ray subsegment, CloudWatch metrics</a:t>
                      </a:r>
                    </a:p>
                  </a:txBody>
                  <a:tcPr marL="73152" marR="73152" marT="36576" marB="36576" anchor="ctr">
                    <a:solidFill>
                      <a:srgbClr val="FFFFFF"/>
                    </a:solidFill>
                  </a:tcPr>
                </a:tc>
                <a:tc>
                  <a:txBody>
                    <a:bodyPr/>
                    <a:lstStyle/>
                    <a:p>
                      <a:r>
                        <a:rPr sz="1500" b="0" i="0">
                          <a:solidFill>
                            <a:srgbClr val="262626"/>
                          </a:solidFill>
                          <a:latin typeface="Calibri"/>
                        </a:rPr>
                        <a:t>Lookup time, hit rate, evictions, memory pressure</a:t>
                      </a:r>
                    </a:p>
                  </a:txBody>
                  <a:tcPr marL="73152" marR="73152" marT="36576" marB="36576" anchor="ctr">
                    <a:solidFill>
                      <a:srgbClr val="FFFFFF"/>
                    </a:solidFill>
                  </a:tcPr>
                </a:tc>
                <a:extLst>
                  <a:ext uri="{0D108BD9-81ED-4DB2-BD59-A6C34878D82A}">
                    <a16:rowId xmlns:a16="http://schemas.microsoft.com/office/drawing/2014/main" val="10005"/>
                  </a:ext>
                </a:extLst>
              </a:tr>
              <a:tr h="566928">
                <a:tc>
                  <a:txBody>
                    <a:bodyPr/>
                    <a:lstStyle/>
                    <a:p>
                      <a:r>
                        <a:rPr sz="1500" b="1" i="0">
                          <a:solidFill>
                            <a:srgbClr val="002060"/>
                          </a:solidFill>
                          <a:latin typeface="Calibri"/>
                        </a:rPr>
                        <a:t>RDS</a:t>
                      </a:r>
                    </a:p>
                  </a:txBody>
                  <a:tcPr marL="73152" marR="73152" marT="36576" marB="36576" anchor="ctr">
                    <a:solidFill>
                      <a:srgbClr val="F2F2F2"/>
                    </a:solidFill>
                  </a:tcPr>
                </a:tc>
                <a:tc>
                  <a:txBody>
                    <a:bodyPr/>
                    <a:lstStyle/>
                    <a:p>
                      <a:r>
                        <a:rPr sz="1500" b="0" i="0">
                          <a:solidFill>
                            <a:srgbClr val="262626"/>
                          </a:solidFill>
                          <a:latin typeface="Calibri"/>
                        </a:rPr>
                        <a:t>X-Ray subsegment, Performance Insights</a:t>
                      </a:r>
                    </a:p>
                  </a:txBody>
                  <a:tcPr marL="73152" marR="73152" marT="36576" marB="36576" anchor="ctr">
                    <a:solidFill>
                      <a:srgbClr val="F2F2F2"/>
                    </a:solidFill>
                  </a:tcPr>
                </a:tc>
                <a:tc>
                  <a:txBody>
                    <a:bodyPr/>
                    <a:lstStyle/>
                    <a:p>
                      <a:r>
                        <a:rPr sz="1500" b="0" i="0">
                          <a:solidFill>
                            <a:srgbClr val="262626"/>
                          </a:solidFill>
                          <a:latin typeface="Calibri"/>
                        </a:rPr>
                        <a:t>Query time, top SQL, waits, connections</a:t>
                      </a:r>
                    </a:p>
                  </a:txBody>
                  <a:tcPr marL="73152" marR="73152" marT="36576" marB="36576" anchor="ctr">
                    <a:solidFill>
                      <a:srgbClr val="F2F2F2"/>
                    </a:solidFill>
                  </a:tcPr>
                </a:tc>
                <a:extLst>
                  <a:ext uri="{0D108BD9-81ED-4DB2-BD59-A6C34878D82A}">
                    <a16:rowId xmlns:a16="http://schemas.microsoft.com/office/drawing/2014/main" val="10006"/>
                  </a:ext>
                </a:extLst>
              </a:tr>
              <a:tr h="566928">
                <a:tc>
                  <a:txBody>
                    <a:bodyPr/>
                    <a:lstStyle/>
                    <a:p>
                      <a:r>
                        <a:rPr sz="1500" b="1" i="0">
                          <a:solidFill>
                            <a:srgbClr val="002060"/>
                          </a:solidFill>
                          <a:latin typeface="Calibri"/>
                        </a:rPr>
                        <a:t>SQS</a:t>
                      </a:r>
                    </a:p>
                  </a:txBody>
                  <a:tcPr marL="73152" marR="73152" marT="36576" marB="36576" anchor="ctr">
                    <a:solidFill>
                      <a:srgbClr val="FFFFFF"/>
                    </a:solidFill>
                  </a:tcPr>
                </a:tc>
                <a:tc>
                  <a:txBody>
                    <a:bodyPr/>
                    <a:lstStyle/>
                    <a:p>
                      <a:r>
                        <a:rPr sz="1500" b="0" i="0">
                          <a:solidFill>
                            <a:srgbClr val="262626"/>
                          </a:solidFill>
                          <a:latin typeface="Calibri"/>
                        </a:rPr>
                        <a:t>X-Ray subsegment, queue metrics</a:t>
                      </a:r>
                    </a:p>
                  </a:txBody>
                  <a:tcPr marL="73152" marR="73152" marT="36576" marB="36576" anchor="ctr">
                    <a:solidFill>
                      <a:srgbClr val="FFFFFF"/>
                    </a:solidFill>
                  </a:tcPr>
                </a:tc>
                <a:tc>
                  <a:txBody>
                    <a:bodyPr/>
                    <a:lstStyle/>
                    <a:p>
                      <a:r>
                        <a:rPr sz="1500" b="0" i="0">
                          <a:solidFill>
                            <a:srgbClr val="262626"/>
                          </a:solidFill>
                          <a:latin typeface="Calibri"/>
                        </a:rPr>
                        <a:t>Enqueue time and backlog age for the consumer</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1.6</a:t>
            </a:r>
            <a:r>
              <a:rPr sz="2400" b="1" i="0">
                <a:solidFill>
                  <a:srgbClr val="FFFFFF"/>
                </a:solidFill>
                <a:latin typeface="Calibri"/>
              </a:rPr>
              <a:t> Reading an X-Ray Trace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3.png"/>
          <p:cNvPicPr>
            <a:picLocks noChangeAspect="1"/>
          </p:cNvPicPr>
          <p:nvPr/>
        </p:nvPicPr>
        <p:blipFill>
          <a:blip r:embed="rId4"/>
          <a:stretch>
            <a:fillRect/>
          </a:stretch>
        </p:blipFill>
        <p:spPr>
          <a:xfrm>
            <a:off x="457200" y="1143000"/>
            <a:ext cx="7040880" cy="2860357"/>
          </a:xfrm>
          <a:prstGeom prst="rect">
            <a:avLst/>
          </a:prstGeom>
          <a:ln w="9525">
            <a:solidFill>
              <a:srgbClr val="D9D9D9"/>
            </a:solidFill>
          </a:ln>
        </p:spPr>
      </p:pic>
      <p:sp>
        <p:nvSpPr>
          <p:cNvPr id="11" name="Key concept body"/>
          <p:cNvSpPr/>
          <p:nvPr/>
        </p:nvSpPr>
        <p:spPr>
          <a:xfrm>
            <a:off x="7818120" y="1188720"/>
            <a:ext cx="3913632" cy="278892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Key concept head"/>
          <p:cNvSpPr/>
          <p:nvPr/>
        </p:nvSpPr>
        <p:spPr>
          <a:xfrm>
            <a:off x="7818120" y="1188720"/>
            <a:ext cx="3913632"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Key concept</a:t>
            </a:r>
          </a:p>
        </p:txBody>
      </p:sp>
      <p:sp>
        <p:nvSpPr>
          <p:cNvPr id="13" name="TextBox 12"/>
          <p:cNvSpPr txBox="1"/>
          <p:nvPr/>
        </p:nvSpPr>
        <p:spPr>
          <a:xfrm>
            <a:off x="7863840" y="1691640"/>
            <a:ext cx="3822192" cy="2240279"/>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Trace: one request, all components</a:t>
            </a:r>
          </a:p>
          <a:p>
            <a:pPr marL="228600" indent="-228600" algn="l">
              <a:spcAft>
                <a:spcPts val="400"/>
              </a:spcAft>
              <a:buClr>
                <a:srgbClr val="E97132"/>
              </a:buClr>
              <a:buFont typeface="Arial"/>
              <a:buChar char="•"/>
            </a:pPr>
            <a:r>
              <a:rPr sz="1500" b="0" i="0">
                <a:solidFill>
                  <a:srgbClr val="262626"/>
                </a:solidFill>
                <a:latin typeface="Calibri"/>
              </a:rPr>
              <a:t>Segment: work by one service</a:t>
            </a:r>
          </a:p>
          <a:p>
            <a:pPr marL="228600" indent="-228600" algn="l">
              <a:spcAft>
                <a:spcPts val="400"/>
              </a:spcAft>
              <a:buClr>
                <a:srgbClr val="E97132"/>
              </a:buClr>
              <a:buFont typeface="Arial"/>
              <a:buChar char="•"/>
            </a:pPr>
            <a:r>
              <a:rPr sz="1500" b="0" i="0">
                <a:solidFill>
                  <a:srgbClr val="262626"/>
                </a:solidFill>
                <a:latin typeface="Calibri"/>
              </a:rPr>
              <a:t>Subsegment: a call inside it</a:t>
            </a:r>
          </a:p>
          <a:p>
            <a:pPr marL="228600" indent="-228600" algn="l">
              <a:spcAft>
                <a:spcPts val="400"/>
              </a:spcAft>
              <a:buClr>
                <a:srgbClr val="E97132"/>
              </a:buClr>
              <a:buFont typeface="Arial"/>
              <a:buChar char="•"/>
            </a:pPr>
            <a:r>
              <a:rPr sz="1500" b="0" i="0">
                <a:solidFill>
                  <a:srgbClr val="262626"/>
                </a:solidFill>
                <a:latin typeface="Calibri"/>
              </a:rPr>
              <a:t>Span: OpenTelemetry term for both</a:t>
            </a:r>
          </a:p>
        </p:txBody>
      </p:sp>
      <p:sp>
        <p:nvSpPr>
          <p:cNvPr id="14" name="Root segment"/>
          <p:cNvSpPr/>
          <p:nvPr/>
        </p:nvSpPr>
        <p:spPr>
          <a:xfrm>
            <a:off x="457200" y="4206240"/>
            <a:ext cx="3429000" cy="932688"/>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156082"/>
                </a:solidFill>
                <a:latin typeface="Calibri"/>
              </a:rPr>
              <a:t>Root segment</a:t>
            </a:r>
          </a:p>
          <a:p>
            <a:pPr algn="l">
              <a:spcAft>
                <a:spcPts val="0"/>
              </a:spcAft>
            </a:pPr>
            <a:r>
              <a:rPr sz="1400" b="0" i="0">
                <a:solidFill>
                  <a:srgbClr val="262626"/>
                </a:solidFill>
                <a:latin typeface="Calibri"/>
              </a:rPr>
              <a:t>Small root but slow page: look outside our code</a:t>
            </a:r>
          </a:p>
        </p:txBody>
      </p:sp>
      <p:sp>
        <p:nvSpPr>
          <p:cNvPr id="15" name="Gaps"/>
          <p:cNvSpPr/>
          <p:nvPr/>
        </p:nvSpPr>
        <p:spPr>
          <a:xfrm>
            <a:off x="4023360" y="4206240"/>
            <a:ext cx="3429000" cy="932688"/>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156082"/>
                </a:solidFill>
                <a:latin typeface="Calibri"/>
              </a:rPr>
              <a:t>Gaps</a:t>
            </a:r>
          </a:p>
          <a:p>
            <a:pPr algn="l">
              <a:spcAft>
                <a:spcPts val="0"/>
              </a:spcAft>
            </a:pPr>
            <a:r>
              <a:rPr sz="1400" b="0" i="0">
                <a:solidFill>
                  <a:srgbClr val="262626"/>
                </a:solidFill>
                <a:latin typeface="Calibri"/>
              </a:rPr>
              <a:t>Time spent in our own code</a:t>
            </a:r>
          </a:p>
        </p:txBody>
      </p:sp>
      <p:sp>
        <p:nvSpPr>
          <p:cNvPr id="16" name="Longest bar"/>
          <p:cNvSpPr/>
          <p:nvPr/>
        </p:nvSpPr>
        <p:spPr>
          <a:xfrm>
            <a:off x="457200" y="5257800"/>
            <a:ext cx="3429000" cy="932688"/>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156082"/>
                </a:solidFill>
                <a:latin typeface="Calibri"/>
              </a:rPr>
              <a:t>Longest bar</a:t>
            </a:r>
          </a:p>
          <a:p>
            <a:pPr algn="l">
              <a:spcAft>
                <a:spcPts val="0"/>
              </a:spcAft>
            </a:pPr>
            <a:r>
              <a:rPr sz="1400" b="0" i="0">
                <a:solidFill>
                  <a:srgbClr val="262626"/>
                </a:solidFill>
                <a:latin typeface="Calibri"/>
              </a:rPr>
              <a:t>Start the investigation there</a:t>
            </a:r>
          </a:p>
        </p:txBody>
      </p:sp>
      <p:sp>
        <p:nvSpPr>
          <p:cNvPr id="17" name="Overlaps"/>
          <p:cNvSpPr/>
          <p:nvPr/>
        </p:nvSpPr>
        <p:spPr>
          <a:xfrm>
            <a:off x="4023360" y="5257800"/>
            <a:ext cx="3429000" cy="932688"/>
          </a:xfrm>
          <a:prstGeom prst="roundRect">
            <a:avLst>
              <a:gd name="adj" fmla="val 8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156082"/>
                </a:solidFill>
                <a:latin typeface="Calibri"/>
              </a:rPr>
              <a:t>Overlaps</a:t>
            </a:r>
          </a:p>
          <a:p>
            <a:pPr algn="l">
              <a:spcAft>
                <a:spcPts val="0"/>
              </a:spcAft>
            </a:pPr>
            <a:r>
              <a:rPr sz="1400" b="0" i="0">
                <a:solidFill>
                  <a:srgbClr val="262626"/>
                </a:solidFill>
                <a:latin typeface="Calibri"/>
              </a:rPr>
              <a:t>Parallel work shows as overlapping bars</a:t>
            </a:r>
          </a:p>
        </p:txBody>
      </p:sp>
      <p:sp>
        <p:nvSpPr>
          <p:cNvPr id="18" name="Rounded Rectangle 17"/>
          <p:cNvSpPr/>
          <p:nvPr/>
        </p:nvSpPr>
        <p:spPr>
          <a:xfrm>
            <a:off x="7818120" y="4206240"/>
            <a:ext cx="3913632" cy="2011680"/>
          </a:xfrm>
          <a:prstGeom prst="roundRect">
            <a:avLst>
              <a:gd name="adj" fmla="val 8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000" b="1" i="0">
                <a:solidFill>
                  <a:srgbClr val="FFFFFF"/>
                </a:solidFill>
                <a:latin typeface="Calibri"/>
              </a:rPr>
              <a:t>~3 traces/s</a:t>
            </a:r>
          </a:p>
          <a:p>
            <a:pPr algn="ctr">
              <a:spcAft>
                <a:spcPts val="0"/>
              </a:spcAft>
            </a:pPr>
            <a:r>
              <a:rPr sz="1400" b="0" i="0">
                <a:solidFill>
                  <a:srgbClr val="FFFFFF"/>
                </a:solidFill>
                <a:latin typeface="Calibri"/>
              </a:rPr>
              <a:t>default sampling at 40 req/s: 1 per second plus 5% of the rest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1.6</a:t>
            </a:r>
            <a:r>
              <a:rPr sz="2400" b="1" i="0">
                <a:solidFill>
                  <a:srgbClr val="FFFFFF"/>
                </a:solidFill>
                <a:latin typeface="Calibri"/>
              </a:rPr>
              <a:t> Instrumenting BookStash with OpenTelemetry</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Code block"/>
          <p:cNvSpPr/>
          <p:nvPr/>
        </p:nvSpPr>
        <p:spPr>
          <a:xfrm>
            <a:off x="457200" y="1188720"/>
            <a:ext cx="6949440" cy="2880360"/>
          </a:xfrm>
          <a:prstGeom prst="rect">
            <a:avLst/>
          </a:prstGeom>
          <a:solidFill>
            <a:srgbClr val="F5F5F5"/>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37160" tIns="91440" bIns="91440" rtlCol="0" anchor="t"/>
          <a:lstStyle/>
          <a:p>
            <a:pPr algn="l">
              <a:spcAft>
                <a:spcPts val="0"/>
              </a:spcAft>
            </a:pPr>
            <a:r>
              <a:rPr sz="1300" b="0" i="0">
                <a:solidFill>
                  <a:srgbClr val="1A1A1A"/>
                </a:solidFill>
                <a:latin typeface="Courier New"/>
              </a:rPr>
              <a:t>"command": ["opentelemetry-instrument",</a:t>
            </a:r>
          </a:p>
          <a:p>
            <a:pPr algn="l">
              <a:spcAft>
                <a:spcPts val="0"/>
              </a:spcAft>
            </a:pPr>
            <a:r>
              <a:rPr sz="1300" b="0" i="0">
                <a:solidFill>
                  <a:srgbClr val="1A1A1A"/>
                </a:solidFill>
                <a:latin typeface="Courier New"/>
              </a:rPr>
              <a:t>            "gunicorn", "app:app"]</a:t>
            </a:r>
          </a:p>
          <a:p>
            <a:pPr algn="l">
              <a:spcAft>
                <a:spcPts val="0"/>
              </a:spcAft>
            </a:pPr>
            <a:r>
              <a:rPr sz="1300" b="0" i="0">
                <a:solidFill>
                  <a:srgbClr val="1A1A1A"/>
                </a:solidFill>
                <a:latin typeface="Courier New"/>
              </a:rPr>
              <a:t>OTEL_SERVICE_NAME = bookstash-api</a:t>
            </a:r>
          </a:p>
          <a:p>
            <a:pPr algn="l">
              <a:spcAft>
                <a:spcPts val="0"/>
              </a:spcAft>
            </a:pPr>
            <a:r>
              <a:rPr sz="1300" b="0" i="0">
                <a:solidFill>
                  <a:srgbClr val="1A1A1A"/>
                </a:solidFill>
                <a:latin typeface="Courier New"/>
              </a:rPr>
              <a:t>OTEL_PROPAGATORS = xray,tracecontext</a:t>
            </a:r>
          </a:p>
          <a:p>
            <a:pPr algn="l">
              <a:spcAft>
                <a:spcPts val="0"/>
              </a:spcAft>
            </a:pPr>
            <a:r>
              <a:rPr sz="1300" b="0" i="0">
                <a:solidFill>
                  <a:srgbClr val="1A1A1A"/>
                </a:solidFill>
                <a:latin typeface="Courier New"/>
              </a:rPr>
              <a:t>OTEL_PYTHON_ID_GENERATOR = xray</a:t>
            </a:r>
          </a:p>
          <a:p>
            <a:pPr algn="l">
              <a:spcAft>
                <a:spcPts val="0"/>
              </a:spcAft>
            </a:pPr>
            <a:r>
              <a:rPr sz="1300" b="0" i="0">
                <a:solidFill>
                  <a:srgbClr val="1A1A1A"/>
                </a:solidFill>
                <a:latin typeface="Courier New"/>
              </a:rPr>
              <a:t>OTEL_EXPORTER_OTLP_ENDPOINT = http://localhost:4317</a:t>
            </a:r>
          </a:p>
          <a:p>
            <a:pPr algn="l">
              <a:spcAft>
                <a:spcPts val="0"/>
              </a:spcAft>
            </a:pPr>
            <a:r>
              <a:rPr sz="1300" b="0" i="0">
                <a:solidFill>
                  <a:srgbClr val="1A1A1A"/>
                </a:solidFill>
                <a:latin typeface="Courier New"/>
              </a:rPr>
              <a:t> </a:t>
            </a:r>
          </a:p>
          <a:p>
            <a:pPr algn="l">
              <a:spcAft>
                <a:spcPts val="0"/>
              </a:spcAft>
            </a:pPr>
            <a:r>
              <a:rPr sz="1300" b="0" i="0">
                <a:solidFill>
                  <a:srgbClr val="1A1A1A"/>
                </a:solidFill>
                <a:latin typeface="Courier New"/>
              </a:rPr>
              <a:t>sidecar: aws-otel-collector (ADOT)</a:t>
            </a:r>
          </a:p>
        </p:txBody>
      </p:sp>
      <p:sp>
        <p:nvSpPr>
          <p:cNvPr id="11" name="Code block"/>
          <p:cNvSpPr/>
          <p:nvPr/>
        </p:nvSpPr>
        <p:spPr>
          <a:xfrm>
            <a:off x="457200" y="4297680"/>
            <a:ext cx="6949440" cy="1920240"/>
          </a:xfrm>
          <a:prstGeom prst="rect">
            <a:avLst/>
          </a:prstGeom>
          <a:solidFill>
            <a:srgbClr val="F5F5F5"/>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37160" tIns="91440" bIns="91440" rtlCol="0" anchor="t"/>
          <a:lstStyle/>
          <a:p>
            <a:pPr algn="l">
              <a:spcAft>
                <a:spcPts val="0"/>
              </a:spcAft>
            </a:pPr>
            <a:r>
              <a:rPr sz="1300" b="0" i="0">
                <a:solidFill>
                  <a:srgbClr val="1A1A1A"/>
                </a:solidFill>
                <a:latin typeface="Courier New"/>
              </a:rPr>
              <a:t>fields @timestamp, @logStream, level, message</a:t>
            </a:r>
          </a:p>
          <a:p>
            <a:pPr algn="l">
              <a:spcAft>
                <a:spcPts val="0"/>
              </a:spcAft>
            </a:pPr>
            <a:r>
              <a:rPr sz="1300" b="0" i="0">
                <a:solidFill>
                  <a:srgbClr val="1A1A1A"/>
                </a:solidFill>
                <a:latin typeface="Courier New"/>
              </a:rPr>
              <a:t>| filter trace_id =</a:t>
            </a:r>
          </a:p>
          <a:p>
            <a:pPr algn="l">
              <a:spcAft>
                <a:spcPts val="0"/>
              </a:spcAft>
            </a:pPr>
            <a:r>
              <a:rPr sz="1300" b="0" i="0">
                <a:solidFill>
                  <a:srgbClr val="1A1A1A"/>
                </a:solidFill>
                <a:latin typeface="Courier New"/>
              </a:rPr>
              <a:t>    "1-6740d8f2-3b9c0e1a7d2f4c5b6a8e9f01"</a:t>
            </a:r>
          </a:p>
          <a:p>
            <a:pPr algn="l">
              <a:spcAft>
                <a:spcPts val="0"/>
              </a:spcAft>
            </a:pPr>
            <a:r>
              <a:rPr sz="1300" b="0" i="0">
                <a:solidFill>
                  <a:srgbClr val="1A1A1A"/>
                </a:solidFill>
                <a:latin typeface="Courier New"/>
              </a:rPr>
              <a:t>| sort @timestamp asc</a:t>
            </a:r>
          </a:p>
        </p:txBody>
      </p:sp>
      <p:sp>
        <p:nvSpPr>
          <p:cNvPr id="12" name="Why these settings body"/>
          <p:cNvSpPr/>
          <p:nvPr/>
        </p:nvSpPr>
        <p:spPr>
          <a:xfrm>
            <a:off x="7726679" y="1188720"/>
            <a:ext cx="4005072" cy="288036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Why these settings head"/>
          <p:cNvSpPr/>
          <p:nvPr/>
        </p:nvSpPr>
        <p:spPr>
          <a:xfrm>
            <a:off x="7726679" y="1188720"/>
            <a:ext cx="4005072"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Why these settings</a:t>
            </a:r>
          </a:p>
        </p:txBody>
      </p:sp>
      <p:sp>
        <p:nvSpPr>
          <p:cNvPr id="14" name="TextBox 13"/>
          <p:cNvSpPr txBox="1"/>
          <p:nvPr/>
        </p:nvSpPr>
        <p:spPr>
          <a:xfrm>
            <a:off x="7772400" y="1691640"/>
            <a:ext cx="3913632" cy="2331720"/>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X-Ray propagator reads the ALB trace header</a:t>
            </a:r>
          </a:p>
          <a:p>
            <a:pPr marL="228600" indent="-228600" algn="l">
              <a:spcAft>
                <a:spcPts val="400"/>
              </a:spcAft>
              <a:buClr>
                <a:srgbClr val="E97132"/>
              </a:buClr>
              <a:buFont typeface="Arial"/>
              <a:buChar char="•"/>
            </a:pPr>
            <a:r>
              <a:rPr sz="1500" b="0" i="0">
                <a:solidFill>
                  <a:srgbClr val="262626"/>
                </a:solidFill>
                <a:latin typeface="Calibri"/>
              </a:rPr>
              <a:t>X-Ray ID generator makes time-prefixed IDs</a:t>
            </a:r>
          </a:p>
          <a:p>
            <a:pPr marL="228600" indent="-228600" algn="l">
              <a:spcAft>
                <a:spcPts val="400"/>
              </a:spcAft>
              <a:buClr>
                <a:srgbClr val="E97132"/>
              </a:buClr>
              <a:buFont typeface="Arial"/>
              <a:buChar char="•"/>
            </a:pPr>
            <a:r>
              <a:rPr sz="1500" b="0" i="0">
                <a:solidFill>
                  <a:srgbClr val="262626"/>
                </a:solidFill>
                <a:latin typeface="Calibri"/>
              </a:rPr>
              <a:t>Pin the collector version in production</a:t>
            </a:r>
          </a:p>
        </p:txBody>
      </p:sp>
      <p:sp>
        <p:nvSpPr>
          <p:cNvPr id="15" name="Asynchronous orders body"/>
          <p:cNvSpPr/>
          <p:nvPr/>
        </p:nvSpPr>
        <p:spPr>
          <a:xfrm>
            <a:off x="7726679" y="4297680"/>
            <a:ext cx="4005072" cy="192024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synchronous orders head"/>
          <p:cNvSpPr/>
          <p:nvPr/>
        </p:nvSpPr>
        <p:spPr>
          <a:xfrm>
            <a:off x="7726679" y="4297680"/>
            <a:ext cx="4005072" cy="45720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Asynchronous orders</a:t>
            </a:r>
          </a:p>
        </p:txBody>
      </p:sp>
      <p:sp>
        <p:nvSpPr>
          <p:cNvPr id="17" name="TextBox 16"/>
          <p:cNvSpPr txBox="1"/>
          <p:nvPr/>
        </p:nvSpPr>
        <p:spPr>
          <a:xfrm>
            <a:off x="7772400" y="4800600"/>
            <a:ext cx="3913632" cy="1371600"/>
          </a:xfrm>
          <a:prstGeom prst="rect">
            <a:avLst/>
          </a:prstGeom>
          <a:noFill/>
        </p:spPr>
        <p:txBody>
          <a:bodyPr wrap="square" anchor="t">
            <a:spAutoFit/>
          </a:bodyPr>
          <a:lstStyle/>
          <a:p>
            <a:pPr algn="l">
              <a:spcAft>
                <a:spcPts val="0"/>
              </a:spcAft>
            </a:pPr>
            <a:r>
              <a:rPr sz="1500" b="0" i="0">
                <a:solidFill>
                  <a:srgbClr val="262626"/>
                </a:solidFill>
                <a:latin typeface="Calibri"/>
              </a:rPr>
              <a:t>SQS carries the trace in AWSTraceHeader, so the worker's span links to the original request.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Example 1.8</a:t>
            </a:r>
            <a:r>
              <a:rPr sz="2400" b="1" i="0">
                <a:solidFill>
                  <a:srgbClr val="FFFFFF"/>
                </a:solidFill>
                <a:latin typeface="Calibri"/>
              </a:rPr>
              <a:t> Finding a Slow Query After a Release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Alarm"/>
          <p:cNvSpPr/>
          <p:nvPr/>
        </p:nvSpPr>
        <p:spPr>
          <a:xfrm>
            <a:off x="457200" y="1325880"/>
            <a:ext cx="2011680" cy="210312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400" b="1" i="0">
                <a:solidFill>
                  <a:srgbClr val="FFFFFF"/>
                </a:solidFill>
                <a:latin typeface="Calibri"/>
              </a:rPr>
              <a:t>1</a:t>
            </a:r>
          </a:p>
          <a:p>
            <a:pPr algn="ctr">
              <a:spcAft>
                <a:spcPts val="400"/>
              </a:spcAft>
            </a:pPr>
            <a:r>
              <a:rPr sz="1600" b="1" i="0">
                <a:solidFill>
                  <a:srgbClr val="FFFFFF"/>
                </a:solidFill>
                <a:latin typeface="Calibri"/>
              </a:rPr>
              <a:t>Alarm</a:t>
            </a:r>
          </a:p>
          <a:p>
            <a:pPr algn="ctr">
              <a:spcAft>
                <a:spcPts val="0"/>
              </a:spcAft>
            </a:pPr>
            <a:r>
              <a:rPr sz="1400" b="0" i="0">
                <a:solidFill>
                  <a:srgbClr val="FFFFFF"/>
                </a:solidFill>
                <a:latin typeface="Calibri"/>
              </a:rPr>
              <a:t>p95 at 410 ms vs 200 ms budget</a:t>
            </a:r>
          </a:p>
        </p:txBody>
      </p:sp>
      <p:sp>
        <p:nvSpPr>
          <p:cNvPr id="11" name="Arrow 1"/>
          <p:cNvSpPr/>
          <p:nvPr/>
        </p:nvSpPr>
        <p:spPr>
          <a:xfrm>
            <a:off x="2487168" y="2212848"/>
            <a:ext cx="237744" cy="329184"/>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ervice map"/>
          <p:cNvSpPr/>
          <p:nvPr/>
        </p:nvSpPr>
        <p:spPr>
          <a:xfrm>
            <a:off x="2743200" y="1325880"/>
            <a:ext cx="2011680" cy="210312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400" b="1" i="0">
                <a:solidFill>
                  <a:srgbClr val="FFFFFF"/>
                </a:solidFill>
                <a:latin typeface="Calibri"/>
              </a:rPr>
              <a:t>2</a:t>
            </a:r>
          </a:p>
          <a:p>
            <a:pPr algn="ctr">
              <a:spcAft>
                <a:spcPts val="400"/>
              </a:spcAft>
            </a:pPr>
            <a:r>
              <a:rPr sz="1600" b="1" i="0">
                <a:solidFill>
                  <a:srgbClr val="FFFFFF"/>
                </a:solidFill>
                <a:latin typeface="Calibri"/>
              </a:rPr>
              <a:t>Service map</a:t>
            </a:r>
          </a:p>
          <a:p>
            <a:pPr algn="ctr">
              <a:spcAft>
                <a:spcPts val="0"/>
              </a:spcAft>
            </a:pPr>
            <a:r>
              <a:rPr sz="1400" b="0" i="0">
                <a:solidFill>
                  <a:srgbClr val="FFFFFF"/>
                </a:solidFill>
                <a:latin typeface="Calibri"/>
              </a:rPr>
              <a:t>RDS edge amber at 260 ms</a:t>
            </a:r>
          </a:p>
        </p:txBody>
      </p:sp>
      <p:sp>
        <p:nvSpPr>
          <p:cNvPr id="13" name="Arrow 2"/>
          <p:cNvSpPr/>
          <p:nvPr/>
        </p:nvSpPr>
        <p:spPr>
          <a:xfrm>
            <a:off x="4773168" y="2212848"/>
            <a:ext cx="237744" cy="329184"/>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low trace"/>
          <p:cNvSpPr/>
          <p:nvPr/>
        </p:nvSpPr>
        <p:spPr>
          <a:xfrm>
            <a:off x="5029200" y="1325880"/>
            <a:ext cx="2011680" cy="2103120"/>
          </a:xfrm>
          <a:prstGeom prst="roundRect">
            <a:avLst>
              <a:gd name="adj" fmla="val 8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400" b="1" i="0">
                <a:solidFill>
                  <a:srgbClr val="FFFFFF"/>
                </a:solidFill>
                <a:latin typeface="Calibri"/>
              </a:rPr>
              <a:t>3</a:t>
            </a:r>
          </a:p>
          <a:p>
            <a:pPr algn="ctr">
              <a:spcAft>
                <a:spcPts val="400"/>
              </a:spcAft>
            </a:pPr>
            <a:r>
              <a:rPr sz="1600" b="1" i="0">
                <a:solidFill>
                  <a:srgbClr val="FFFFFF"/>
                </a:solidFill>
                <a:latin typeface="Calibri"/>
              </a:rPr>
              <a:t>Slow trace</a:t>
            </a:r>
          </a:p>
          <a:p>
            <a:pPr algn="ctr">
              <a:spcAft>
                <a:spcPts val="0"/>
              </a:spcAft>
            </a:pPr>
            <a:r>
              <a:rPr sz="1400" b="0" i="0">
                <a:solidFill>
                  <a:srgbClr val="FFFFFF"/>
                </a:solidFill>
                <a:latin typeface="Calibri"/>
              </a:rPr>
              <a:t>One SELECT taking 238 ms</a:t>
            </a:r>
          </a:p>
        </p:txBody>
      </p:sp>
      <p:sp>
        <p:nvSpPr>
          <p:cNvPr id="15" name="Arrow 3"/>
          <p:cNvSpPr/>
          <p:nvPr/>
        </p:nvSpPr>
        <p:spPr>
          <a:xfrm>
            <a:off x="7059168" y="2212848"/>
            <a:ext cx="237744" cy="329184"/>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erformance Insights"/>
          <p:cNvSpPr/>
          <p:nvPr/>
        </p:nvSpPr>
        <p:spPr>
          <a:xfrm>
            <a:off x="7315200" y="1325880"/>
            <a:ext cx="2011680" cy="210312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400" b="1" i="0">
                <a:solidFill>
                  <a:srgbClr val="FFFFFF"/>
                </a:solidFill>
                <a:latin typeface="Calibri"/>
              </a:rPr>
              <a:t>4</a:t>
            </a:r>
          </a:p>
          <a:p>
            <a:pPr algn="ctr">
              <a:spcAft>
                <a:spcPts val="400"/>
              </a:spcAft>
            </a:pPr>
            <a:r>
              <a:rPr sz="1600" b="1" i="0">
                <a:solidFill>
                  <a:srgbClr val="FFFFFF"/>
                </a:solidFill>
                <a:latin typeface="Calibri"/>
              </a:rPr>
              <a:t>Performance Insights</a:t>
            </a:r>
          </a:p>
          <a:p>
            <a:pPr algn="ctr">
              <a:spcAft>
                <a:spcPts val="0"/>
              </a:spcAft>
            </a:pPr>
            <a:r>
              <a:rPr sz="1400" b="0" i="0">
                <a:solidFill>
                  <a:srgbClr val="FFFFFF"/>
                </a:solidFill>
                <a:latin typeface="Calibri"/>
              </a:rPr>
              <a:t>New top query, full scan</a:t>
            </a:r>
          </a:p>
        </p:txBody>
      </p:sp>
      <p:sp>
        <p:nvSpPr>
          <p:cNvPr id="17" name="Arrow 4"/>
          <p:cNvSpPr/>
          <p:nvPr/>
        </p:nvSpPr>
        <p:spPr>
          <a:xfrm>
            <a:off x="9345168" y="2212848"/>
            <a:ext cx="237744" cy="329184"/>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ix"/>
          <p:cNvSpPr/>
          <p:nvPr/>
        </p:nvSpPr>
        <p:spPr>
          <a:xfrm>
            <a:off x="9601200" y="1325880"/>
            <a:ext cx="2011680" cy="210312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2400" b="1" i="0">
                <a:solidFill>
                  <a:srgbClr val="FFFFFF"/>
                </a:solidFill>
                <a:latin typeface="Calibri"/>
              </a:rPr>
              <a:t>5</a:t>
            </a:r>
          </a:p>
          <a:p>
            <a:pPr algn="ctr">
              <a:spcAft>
                <a:spcPts val="400"/>
              </a:spcAft>
            </a:pPr>
            <a:r>
              <a:rPr sz="1600" b="1" i="0">
                <a:solidFill>
                  <a:srgbClr val="FFFFFF"/>
                </a:solidFill>
                <a:latin typeface="Calibri"/>
              </a:rPr>
              <a:t>Fix</a:t>
            </a:r>
          </a:p>
          <a:p>
            <a:pPr algn="ctr">
              <a:spcAft>
                <a:spcPts val="0"/>
              </a:spcAft>
            </a:pPr>
            <a:r>
              <a:rPr sz="1400" b="0" i="0">
                <a:solidFill>
                  <a:srgbClr val="FFFFFF"/>
                </a:solidFill>
                <a:latin typeface="Calibri"/>
              </a:rPr>
              <a:t>Index on lower(title)</a:t>
            </a:r>
          </a:p>
        </p:txBody>
      </p:sp>
      <p:sp>
        <p:nvSpPr>
          <p:cNvPr id="19" name="Rounded Rectangle 18"/>
          <p:cNvSpPr/>
          <p:nvPr/>
        </p:nvSpPr>
        <p:spPr>
          <a:xfrm>
            <a:off x="457200" y="3840480"/>
            <a:ext cx="3474720" cy="237744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4000" b="1" i="0">
                <a:solidFill>
                  <a:srgbClr val="FFFFFF"/>
                </a:solidFill>
                <a:latin typeface="Calibri"/>
              </a:rPr>
              <a:t>410 ms</a:t>
            </a:r>
          </a:p>
          <a:p>
            <a:pPr algn="ctr">
              <a:spcAft>
                <a:spcPts val="0"/>
              </a:spcAft>
            </a:pPr>
            <a:r>
              <a:rPr sz="1500" b="0" i="0">
                <a:solidFill>
                  <a:srgbClr val="FFFFFF"/>
                </a:solidFill>
                <a:latin typeface="Calibri"/>
              </a:rPr>
              <a:t>p95 after release 1.5.0</a:t>
            </a:r>
          </a:p>
        </p:txBody>
      </p:sp>
      <p:sp>
        <p:nvSpPr>
          <p:cNvPr id="20" name="Rounded Rectangle 19"/>
          <p:cNvSpPr/>
          <p:nvPr/>
        </p:nvSpPr>
        <p:spPr>
          <a:xfrm>
            <a:off x="4114800" y="3840480"/>
            <a:ext cx="3474720" cy="237744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4000" b="1" i="0">
                <a:solidFill>
                  <a:srgbClr val="FFFFFF"/>
                </a:solidFill>
                <a:latin typeface="Calibri"/>
              </a:rPr>
              <a:t>140 ms</a:t>
            </a:r>
          </a:p>
          <a:p>
            <a:pPr algn="ctr">
              <a:spcAft>
                <a:spcPts val="0"/>
              </a:spcAft>
            </a:pPr>
            <a:r>
              <a:rPr sz="1500" b="0" i="0">
                <a:solidFill>
                  <a:srgbClr val="FFFFFF"/>
                </a:solidFill>
                <a:latin typeface="Calibri"/>
              </a:rPr>
              <a:t>p95 fifteen minutes after the index</a:t>
            </a:r>
          </a:p>
        </p:txBody>
      </p:sp>
      <p:sp>
        <p:nvSpPr>
          <p:cNvPr id="21" name="TextBox 20"/>
          <p:cNvSpPr txBox="1"/>
          <p:nvPr/>
        </p:nvSpPr>
        <p:spPr>
          <a:xfrm>
            <a:off x="7863840" y="3840480"/>
            <a:ext cx="3867912" cy="2377440"/>
          </a:xfrm>
          <a:prstGeom prst="rect">
            <a:avLst/>
          </a:prstGeom>
          <a:noFill/>
        </p:spPr>
        <p:txBody>
          <a:bodyPr wrap="square" anchor="t">
            <a:spAutoFit/>
          </a:bodyPr>
          <a:lstStyle/>
          <a:p>
            <a:pPr algn="l">
              <a:spcAft>
                <a:spcPts val="600"/>
              </a:spcAft>
            </a:pPr>
            <a:r>
              <a:rPr sz="1700" b="1" i="0">
                <a:solidFill>
                  <a:srgbClr val="002060"/>
                </a:solidFill>
                <a:latin typeface="Calibri"/>
              </a:rPr>
              <a:t>Lesson</a:t>
            </a:r>
          </a:p>
          <a:p>
            <a:pPr algn="l">
              <a:spcAft>
                <a:spcPts val="0"/>
              </a:spcAft>
            </a:pPr>
            <a:r>
              <a:rPr sz="1500" b="0" i="0">
                <a:solidFill>
                  <a:srgbClr val="262626"/>
                </a:solidFill>
                <a:latin typeface="Calibri"/>
              </a:rPr>
              <a:t>The service map pointed at the database, the trace named the query, and Performance Insights confirmed the scan.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Example 1.9</a:t>
            </a:r>
            <a:r>
              <a:rPr sz="2400" b="1" i="0">
                <a:solidFill>
                  <a:srgbClr val="FFFFFF"/>
                </a:solidFill>
                <a:latin typeface="Calibri"/>
              </a:rPr>
              <a:t> Explaining a Burst of 502 Errors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ALB metric"/>
          <p:cNvSpPr/>
          <p:nvPr/>
        </p:nvSpPr>
        <p:spPr>
          <a:xfrm>
            <a:off x="457200" y="1188720"/>
            <a:ext cx="5852160" cy="868680"/>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1792" y="1371600"/>
            <a:ext cx="502920" cy="50292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1</a:t>
            </a:r>
          </a:p>
        </p:txBody>
      </p:sp>
      <p:sp>
        <p:nvSpPr>
          <p:cNvPr id="12" name="TextBox 11"/>
          <p:cNvSpPr txBox="1"/>
          <p:nvPr/>
        </p:nvSpPr>
        <p:spPr>
          <a:xfrm>
            <a:off x="1280160" y="1234440"/>
            <a:ext cx="4937760" cy="777240"/>
          </a:xfrm>
          <a:prstGeom prst="rect">
            <a:avLst/>
          </a:prstGeom>
          <a:noFill/>
        </p:spPr>
        <p:txBody>
          <a:bodyPr wrap="square" anchor="ctr">
            <a:spAutoFit/>
          </a:bodyPr>
          <a:lstStyle/>
          <a:p>
            <a:pPr algn="l">
              <a:spcAft>
                <a:spcPts val="0"/>
              </a:spcAft>
            </a:pPr>
            <a:r>
              <a:rPr sz="1600" b="1" i="0">
                <a:solidFill>
                  <a:srgbClr val="002060"/>
                </a:solidFill>
                <a:latin typeface="Calibri"/>
              </a:rPr>
              <a:t>ALB metric: </a:t>
            </a:r>
            <a:r>
              <a:rPr sz="1600" b="0" i="0">
                <a:solidFill>
                  <a:srgbClr val="262626"/>
                </a:solidFill>
                <a:latin typeface="Calibri"/>
              </a:rPr>
              <a:t>Burst of HTTPCode_ELB_502_Count</a:t>
            </a:r>
          </a:p>
        </p:txBody>
      </p:sp>
      <p:sp>
        <p:nvSpPr>
          <p:cNvPr id="13" name="Application logs"/>
          <p:cNvSpPr/>
          <p:nvPr/>
        </p:nvSpPr>
        <p:spPr>
          <a:xfrm>
            <a:off x="457200" y="2194560"/>
            <a:ext cx="5852160" cy="868680"/>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21792" y="237744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2</a:t>
            </a:r>
          </a:p>
        </p:txBody>
      </p:sp>
      <p:sp>
        <p:nvSpPr>
          <p:cNvPr id="15" name="TextBox 14"/>
          <p:cNvSpPr txBox="1"/>
          <p:nvPr/>
        </p:nvSpPr>
        <p:spPr>
          <a:xfrm>
            <a:off x="1280160" y="2240280"/>
            <a:ext cx="4937760" cy="777240"/>
          </a:xfrm>
          <a:prstGeom prst="rect">
            <a:avLst/>
          </a:prstGeom>
          <a:noFill/>
        </p:spPr>
        <p:txBody>
          <a:bodyPr wrap="square" anchor="ctr">
            <a:spAutoFit/>
          </a:bodyPr>
          <a:lstStyle/>
          <a:p>
            <a:pPr algn="l">
              <a:spcAft>
                <a:spcPts val="0"/>
              </a:spcAft>
            </a:pPr>
            <a:r>
              <a:rPr sz="1600" b="1" i="0">
                <a:solidFill>
                  <a:srgbClr val="002060"/>
                </a:solidFill>
                <a:latin typeface="Calibri"/>
              </a:rPr>
              <a:t>Application logs: </a:t>
            </a:r>
            <a:r>
              <a:rPr sz="1600" b="0" i="0">
                <a:solidFill>
                  <a:srgbClr val="262626"/>
                </a:solidFill>
                <a:latin typeface="Calibri"/>
              </a:rPr>
              <a:t>No matching errors</a:t>
            </a:r>
          </a:p>
        </p:txBody>
      </p:sp>
      <p:sp>
        <p:nvSpPr>
          <p:cNvPr id="16" name="X-Ray"/>
          <p:cNvSpPr/>
          <p:nvPr/>
        </p:nvSpPr>
        <p:spPr>
          <a:xfrm>
            <a:off x="457200" y="3200400"/>
            <a:ext cx="5852160" cy="868680"/>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21792" y="3383280"/>
            <a:ext cx="502920" cy="50292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3</a:t>
            </a:r>
          </a:p>
        </p:txBody>
      </p:sp>
      <p:sp>
        <p:nvSpPr>
          <p:cNvPr id="18" name="TextBox 17"/>
          <p:cNvSpPr txBox="1"/>
          <p:nvPr/>
        </p:nvSpPr>
        <p:spPr>
          <a:xfrm>
            <a:off x="1280160" y="3246120"/>
            <a:ext cx="4937760" cy="777240"/>
          </a:xfrm>
          <a:prstGeom prst="rect">
            <a:avLst/>
          </a:prstGeom>
          <a:noFill/>
        </p:spPr>
        <p:txBody>
          <a:bodyPr wrap="square" anchor="ctr">
            <a:spAutoFit/>
          </a:bodyPr>
          <a:lstStyle/>
          <a:p>
            <a:pPr algn="l">
              <a:spcAft>
                <a:spcPts val="0"/>
              </a:spcAft>
            </a:pPr>
            <a:r>
              <a:rPr sz="1600" b="1" i="0">
                <a:solidFill>
                  <a:srgbClr val="002060"/>
                </a:solidFill>
                <a:latin typeface="Calibri"/>
              </a:rPr>
              <a:t>X-Ray: </a:t>
            </a:r>
            <a:r>
              <a:rPr sz="1600" b="0" i="0">
                <a:solidFill>
                  <a:srgbClr val="262626"/>
                </a:solidFill>
                <a:latin typeface="Calibri"/>
              </a:rPr>
              <a:t>No failed traces</a:t>
            </a:r>
          </a:p>
        </p:txBody>
      </p:sp>
      <p:sp>
        <p:nvSpPr>
          <p:cNvPr id="19" name="ALB access logs"/>
          <p:cNvSpPr/>
          <p:nvPr/>
        </p:nvSpPr>
        <p:spPr>
          <a:xfrm>
            <a:off x="457200" y="4206240"/>
            <a:ext cx="5852160" cy="868680"/>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21792" y="438912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4</a:t>
            </a:r>
          </a:p>
        </p:txBody>
      </p:sp>
      <p:sp>
        <p:nvSpPr>
          <p:cNvPr id="21" name="TextBox 20"/>
          <p:cNvSpPr txBox="1"/>
          <p:nvPr/>
        </p:nvSpPr>
        <p:spPr>
          <a:xfrm>
            <a:off x="1280160" y="4251960"/>
            <a:ext cx="4937760" cy="777240"/>
          </a:xfrm>
          <a:prstGeom prst="rect">
            <a:avLst/>
          </a:prstGeom>
          <a:noFill/>
        </p:spPr>
        <p:txBody>
          <a:bodyPr wrap="square" anchor="ctr">
            <a:spAutoFit/>
          </a:bodyPr>
          <a:lstStyle/>
          <a:p>
            <a:pPr algn="l">
              <a:spcAft>
                <a:spcPts val="0"/>
              </a:spcAft>
            </a:pPr>
            <a:r>
              <a:rPr sz="1600" b="1" i="0">
                <a:solidFill>
                  <a:srgbClr val="002060"/>
                </a:solidFill>
                <a:latin typeface="Calibri"/>
              </a:rPr>
              <a:t>ALB access logs: </a:t>
            </a:r>
            <a:r>
              <a:rPr sz="1600" b="0" i="0">
                <a:solidFill>
                  <a:srgbClr val="262626"/>
                </a:solidFill>
                <a:latin typeface="Calibri"/>
              </a:rPr>
              <a:t>target_processing_time = -1</a:t>
            </a:r>
          </a:p>
        </p:txBody>
      </p:sp>
      <p:sp>
        <p:nvSpPr>
          <p:cNvPr id="22" name="ECS events"/>
          <p:cNvSpPr/>
          <p:nvPr/>
        </p:nvSpPr>
        <p:spPr>
          <a:xfrm>
            <a:off x="457200" y="5212080"/>
            <a:ext cx="5852160" cy="868680"/>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21792" y="5394960"/>
            <a:ext cx="502920" cy="50292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600" b="1" i="0">
                <a:solidFill>
                  <a:srgbClr val="FFFFFF"/>
                </a:solidFill>
                <a:latin typeface="Calibri"/>
              </a:rPr>
              <a:t>5</a:t>
            </a:r>
          </a:p>
        </p:txBody>
      </p:sp>
      <p:sp>
        <p:nvSpPr>
          <p:cNvPr id="24" name="TextBox 23"/>
          <p:cNvSpPr txBox="1"/>
          <p:nvPr/>
        </p:nvSpPr>
        <p:spPr>
          <a:xfrm>
            <a:off x="1280160" y="5257800"/>
            <a:ext cx="4937760" cy="777240"/>
          </a:xfrm>
          <a:prstGeom prst="rect">
            <a:avLst/>
          </a:prstGeom>
          <a:noFill/>
        </p:spPr>
        <p:txBody>
          <a:bodyPr wrap="square" anchor="ctr">
            <a:spAutoFit/>
          </a:bodyPr>
          <a:lstStyle/>
          <a:p>
            <a:pPr algn="l">
              <a:spcAft>
                <a:spcPts val="0"/>
              </a:spcAft>
            </a:pPr>
            <a:r>
              <a:rPr sz="1600" b="1" i="0">
                <a:solidFill>
                  <a:srgbClr val="002060"/>
                </a:solidFill>
                <a:latin typeface="Calibri"/>
              </a:rPr>
              <a:t>ECS events: </a:t>
            </a:r>
            <a:r>
              <a:rPr sz="1600" b="0" i="0">
                <a:solidFill>
                  <a:srgbClr val="262626"/>
                </a:solidFill>
                <a:latin typeface="Calibri"/>
              </a:rPr>
              <a:t>Deployment in the same minute</a:t>
            </a:r>
          </a:p>
        </p:txBody>
      </p:sp>
      <p:sp>
        <p:nvSpPr>
          <p:cNvPr id="25" name="Cause body"/>
          <p:cNvSpPr/>
          <p:nvPr/>
        </p:nvSpPr>
        <p:spPr>
          <a:xfrm>
            <a:off x="6675120" y="1188720"/>
            <a:ext cx="5056632" cy="219456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ause head"/>
          <p:cNvSpPr/>
          <p:nvPr/>
        </p:nvSpPr>
        <p:spPr>
          <a:xfrm>
            <a:off x="6675120" y="1188720"/>
            <a:ext cx="5056632"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Cause</a:t>
            </a:r>
          </a:p>
        </p:txBody>
      </p:sp>
      <p:sp>
        <p:nvSpPr>
          <p:cNvPr id="27" name="TextBox 26"/>
          <p:cNvSpPr txBox="1"/>
          <p:nvPr/>
        </p:nvSpPr>
        <p:spPr>
          <a:xfrm>
            <a:off x="6720840" y="1691640"/>
            <a:ext cx="4965192" cy="1645919"/>
          </a:xfrm>
          <a:prstGeom prst="rect">
            <a:avLst/>
          </a:prstGeom>
          <a:noFill/>
        </p:spPr>
        <p:txBody>
          <a:bodyPr wrap="square" anchor="t">
            <a:spAutoFit/>
          </a:bodyPr>
          <a:lstStyle/>
          <a:p>
            <a:pPr algn="l">
              <a:spcAft>
                <a:spcPts val="0"/>
              </a:spcAft>
            </a:pPr>
            <a:r>
              <a:rPr sz="1500" b="0" i="0">
                <a:solidFill>
                  <a:srgbClr val="262626"/>
                </a:solidFill>
                <a:latin typeface="Calibri"/>
              </a:rPr>
              <a:t>Tasks were stopped before in-flight connections drained, because the deregistration delay was 5 s and some searches took longer.</a:t>
            </a:r>
          </a:p>
        </p:txBody>
      </p:sp>
      <p:sp>
        <p:nvSpPr>
          <p:cNvPr id="28" name="Fix body"/>
          <p:cNvSpPr/>
          <p:nvPr/>
        </p:nvSpPr>
        <p:spPr>
          <a:xfrm>
            <a:off x="6675120" y="3611880"/>
            <a:ext cx="5056632" cy="260604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ix head"/>
          <p:cNvSpPr/>
          <p:nvPr/>
        </p:nvSpPr>
        <p:spPr>
          <a:xfrm>
            <a:off x="6675120" y="3611880"/>
            <a:ext cx="5056632"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Fix</a:t>
            </a:r>
          </a:p>
        </p:txBody>
      </p:sp>
      <p:sp>
        <p:nvSpPr>
          <p:cNvPr id="30" name="TextBox 29"/>
          <p:cNvSpPr txBox="1"/>
          <p:nvPr/>
        </p:nvSpPr>
        <p:spPr>
          <a:xfrm>
            <a:off x="6720840" y="4114800"/>
            <a:ext cx="4965192" cy="2057400"/>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Raise deregistration delay to 30 s</a:t>
            </a:r>
          </a:p>
          <a:p>
            <a:pPr marL="228600" indent="-228600" algn="l">
              <a:spcAft>
                <a:spcPts val="400"/>
              </a:spcAft>
              <a:buClr>
                <a:srgbClr val="E97132"/>
              </a:buClr>
              <a:buFont typeface="Arial"/>
              <a:buChar char="•"/>
            </a:pPr>
            <a:r>
              <a:rPr sz="1500" b="0" i="0">
                <a:solidFill>
                  <a:srgbClr val="262626"/>
                </a:solidFill>
                <a:latin typeface="Calibri"/>
              </a:rPr>
              <a:t>Stop accepting new connections on SIGTERM</a:t>
            </a:r>
          </a:p>
          <a:p>
            <a:pPr marL="228600" indent="-228600" algn="l">
              <a:spcAft>
                <a:spcPts val="400"/>
              </a:spcAft>
              <a:buClr>
                <a:srgbClr val="E97132"/>
              </a:buClr>
              <a:buFont typeface="Arial"/>
              <a:buChar char="•"/>
            </a:pPr>
            <a:r>
              <a:rPr sz="1500" b="0" i="0">
                <a:solidFill>
                  <a:srgbClr val="262626"/>
                </a:solidFill>
                <a:latin typeface="Calibri"/>
              </a:rPr>
              <a:t>Absence of evidence at a hop is evidence too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1.7</a:t>
            </a:r>
            <a:r>
              <a:rPr sz="2400" b="1" i="0">
                <a:solidFill>
                  <a:srgbClr val="FFFFFF"/>
                </a:solidFill>
                <a:latin typeface="Calibri"/>
              </a:rPr>
              <a:t> AWS Global Infrastructure</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Rounded Rectangle 9"/>
          <p:cNvSpPr/>
          <p:nvPr/>
        </p:nvSpPr>
        <p:spPr>
          <a:xfrm>
            <a:off x="457200" y="1188720"/>
            <a:ext cx="2697480" cy="1234440"/>
          </a:xfrm>
          <a:prstGeom prst="roundRect">
            <a:avLst>
              <a:gd name="adj" fmla="val 8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39</a:t>
            </a:r>
          </a:p>
          <a:p>
            <a:pPr algn="ctr">
              <a:spcAft>
                <a:spcPts val="0"/>
              </a:spcAft>
            </a:pPr>
            <a:r>
              <a:rPr sz="1400" b="0" i="0">
                <a:solidFill>
                  <a:srgbClr val="FFFFFF"/>
                </a:solidFill>
                <a:latin typeface="Calibri"/>
              </a:rPr>
              <a:t>launched Regions</a:t>
            </a:r>
          </a:p>
        </p:txBody>
      </p:sp>
      <p:sp>
        <p:nvSpPr>
          <p:cNvPr id="11" name="Rounded Rectangle 10"/>
          <p:cNvSpPr/>
          <p:nvPr/>
        </p:nvSpPr>
        <p:spPr>
          <a:xfrm>
            <a:off x="3291840" y="1188720"/>
            <a:ext cx="2697480" cy="123444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123</a:t>
            </a:r>
          </a:p>
          <a:p>
            <a:pPr algn="ctr">
              <a:spcAft>
                <a:spcPts val="0"/>
              </a:spcAft>
            </a:pPr>
            <a:r>
              <a:rPr sz="1400" b="0" i="0">
                <a:solidFill>
                  <a:srgbClr val="FFFFFF"/>
                </a:solidFill>
                <a:latin typeface="Calibri"/>
              </a:rPr>
              <a:t>Availability Zones</a:t>
            </a:r>
          </a:p>
        </p:txBody>
      </p:sp>
      <p:sp>
        <p:nvSpPr>
          <p:cNvPr id="12" name="Rounded Rectangle 11"/>
          <p:cNvSpPr/>
          <p:nvPr/>
        </p:nvSpPr>
        <p:spPr>
          <a:xfrm>
            <a:off x="6126480" y="1188720"/>
            <a:ext cx="2697480" cy="123444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750+</a:t>
            </a:r>
          </a:p>
          <a:p>
            <a:pPr algn="ctr">
              <a:spcAft>
                <a:spcPts val="0"/>
              </a:spcAft>
            </a:pPr>
            <a:r>
              <a:rPr sz="1400" b="0" i="0">
                <a:solidFill>
                  <a:srgbClr val="FFFFFF"/>
                </a:solidFill>
                <a:latin typeface="Calibri"/>
              </a:rPr>
              <a:t>CloudFront PoPs</a:t>
            </a:r>
          </a:p>
        </p:txBody>
      </p:sp>
      <p:sp>
        <p:nvSpPr>
          <p:cNvPr id="13" name="Rounded Rectangle 12"/>
          <p:cNvSpPr/>
          <p:nvPr/>
        </p:nvSpPr>
        <p:spPr>
          <a:xfrm>
            <a:off x="8961120" y="1188720"/>
            <a:ext cx="2697480" cy="1234440"/>
          </a:xfrm>
          <a:prstGeom prst="roundRect">
            <a:avLst>
              <a:gd name="adj" fmla="val 8000"/>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15</a:t>
            </a:r>
          </a:p>
          <a:p>
            <a:pPr algn="ctr">
              <a:spcAft>
                <a:spcPts val="0"/>
              </a:spcAft>
            </a:pPr>
            <a:r>
              <a:rPr sz="1400" b="0" i="0">
                <a:solidFill>
                  <a:srgbClr val="FFFFFF"/>
                </a:solidFill>
                <a:latin typeface="Calibri"/>
              </a:rPr>
              <a:t>regional edge caches</a:t>
            </a:r>
          </a:p>
        </p:txBody>
      </p:sp>
      <p:pic>
        <p:nvPicPr>
          <p:cNvPr id="14" name="Picture 13" descr="f1_14.png"/>
          <p:cNvPicPr>
            <a:picLocks noChangeAspect="1"/>
          </p:cNvPicPr>
          <p:nvPr/>
        </p:nvPicPr>
        <p:blipFill>
          <a:blip r:embed="rId4"/>
          <a:stretch>
            <a:fillRect/>
          </a:stretch>
        </p:blipFill>
        <p:spPr>
          <a:xfrm>
            <a:off x="457200" y="2651760"/>
            <a:ext cx="5927187" cy="3611880"/>
          </a:xfrm>
          <a:prstGeom prst="rect">
            <a:avLst/>
          </a:prstGeom>
          <a:ln w="9525">
            <a:solidFill>
              <a:srgbClr val="D9D9D9"/>
            </a:solidFill>
          </a:ln>
        </p:spPr>
      </p:pic>
      <p:sp>
        <p:nvSpPr>
          <p:cNvPr id="15" name="Choosing a Region body"/>
          <p:cNvSpPr/>
          <p:nvPr/>
        </p:nvSpPr>
        <p:spPr>
          <a:xfrm>
            <a:off x="6675120" y="2651760"/>
            <a:ext cx="5056632" cy="361188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hoosing a Region head"/>
          <p:cNvSpPr/>
          <p:nvPr/>
        </p:nvSpPr>
        <p:spPr>
          <a:xfrm>
            <a:off x="6675120" y="2651760"/>
            <a:ext cx="5056632" cy="4572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Choosing a Region</a:t>
            </a:r>
          </a:p>
        </p:txBody>
      </p:sp>
      <p:sp>
        <p:nvSpPr>
          <p:cNvPr id="17" name="TextBox 16"/>
          <p:cNvSpPr txBox="1"/>
          <p:nvPr/>
        </p:nvSpPr>
        <p:spPr>
          <a:xfrm>
            <a:off x="6720840" y="3154679"/>
            <a:ext cx="4965192" cy="3063240"/>
          </a:xfrm>
          <a:prstGeom prst="rect">
            <a:avLst/>
          </a:prstGeom>
          <a:noFill/>
        </p:spPr>
        <p:txBody>
          <a:bodyPr wrap="square" anchor="t">
            <a:spAutoFit/>
          </a:bodyPr>
          <a:lstStyle/>
          <a:p>
            <a:pPr marL="228600" indent="-228600" algn="l">
              <a:spcAft>
                <a:spcPts val="400"/>
              </a:spcAft>
              <a:buClr>
                <a:srgbClr val="E97132"/>
              </a:buClr>
              <a:buFont typeface="Arial"/>
              <a:buChar char="•"/>
            </a:pPr>
            <a:r>
              <a:rPr sz="1500" b="0" i="0">
                <a:solidFill>
                  <a:srgbClr val="262626"/>
                </a:solidFill>
                <a:latin typeface="Calibri"/>
              </a:rPr>
              <a:t>Latency to users (Telangana, Andhra Pradesh)</a:t>
            </a:r>
          </a:p>
          <a:p>
            <a:pPr marL="228600" indent="-228600" algn="l">
              <a:spcAft>
                <a:spcPts val="400"/>
              </a:spcAft>
              <a:buClr>
                <a:srgbClr val="E97132"/>
              </a:buClr>
              <a:buFont typeface="Arial"/>
              <a:buChar char="•"/>
            </a:pPr>
            <a:r>
              <a:rPr sz="1500" b="0" i="0">
                <a:solidFill>
                  <a:srgbClr val="262626"/>
                </a:solidFill>
                <a:latin typeface="Calibri"/>
              </a:rPr>
              <a:t>Data residency: DPDP Act 2023, RBI payment data rules</a:t>
            </a:r>
          </a:p>
          <a:p>
            <a:pPr marL="228600" indent="-228600" algn="l">
              <a:spcAft>
                <a:spcPts val="400"/>
              </a:spcAft>
              <a:buClr>
                <a:srgbClr val="E97132"/>
              </a:buClr>
              <a:buFont typeface="Arial"/>
              <a:buChar char="•"/>
            </a:pPr>
            <a:r>
              <a:rPr sz="1500" b="0" i="0">
                <a:solidFill>
                  <a:srgbClr val="262626"/>
                </a:solidFill>
                <a:latin typeface="Calibri"/>
              </a:rPr>
              <a:t>Every needed service available</a:t>
            </a:r>
          </a:p>
          <a:p>
            <a:pPr marL="228600" indent="-228600" algn="l">
              <a:spcAft>
                <a:spcPts val="400"/>
              </a:spcAft>
              <a:buClr>
                <a:srgbClr val="E97132"/>
              </a:buClr>
              <a:buFont typeface="Arial"/>
              <a:buChar char="•"/>
            </a:pPr>
            <a:r>
              <a:rPr sz="1500" b="0" i="0">
                <a:solidFill>
                  <a:srgbClr val="262626"/>
                </a:solidFill>
                <a:latin typeface="Calibri"/>
              </a:rPr>
              <a:t>Price differs by Region</a:t>
            </a:r>
          </a:p>
          <a:p>
            <a:pPr marL="228600" indent="-228600" algn="l">
              <a:spcAft>
                <a:spcPts val="400"/>
              </a:spcAft>
              <a:buClr>
                <a:srgbClr val="E97132"/>
              </a:buClr>
              <a:buFont typeface="Arial"/>
              <a:buChar char="•"/>
            </a:pPr>
            <a:r>
              <a:rPr sz="1500" b="0" i="0">
                <a:solidFill>
                  <a:srgbClr val="262626"/>
                </a:solidFill>
                <a:latin typeface="Calibri"/>
              </a:rPr>
              <a:t>A recovery Region in the same jurisdiction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1.7</a:t>
            </a:r>
            <a:r>
              <a:rPr sz="2400" b="1" i="0">
                <a:solidFill>
                  <a:srgbClr val="FFFFFF"/>
                </a:solidFill>
                <a:latin typeface="Calibri"/>
              </a:rPr>
              <a:t> Availability Zones and the Multi-AZ Layout</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6.png"/>
          <p:cNvPicPr>
            <a:picLocks noChangeAspect="1"/>
          </p:cNvPicPr>
          <p:nvPr/>
        </p:nvPicPr>
        <p:blipFill>
          <a:blip r:embed="rId4"/>
          <a:stretch>
            <a:fillRect/>
          </a:stretch>
        </p:blipFill>
        <p:spPr>
          <a:xfrm>
            <a:off x="457200" y="1143000"/>
            <a:ext cx="7347005" cy="5120640"/>
          </a:xfrm>
          <a:prstGeom prst="rect">
            <a:avLst/>
          </a:prstGeom>
          <a:ln w="9525">
            <a:solidFill>
              <a:srgbClr val="D9D9D9"/>
            </a:solidFill>
          </a:ln>
        </p:spPr>
      </p:pic>
      <p:sp>
        <p:nvSpPr>
          <p:cNvPr id="11" name="TextBox 10"/>
          <p:cNvSpPr txBox="1"/>
          <p:nvPr/>
        </p:nvSpPr>
        <p:spPr>
          <a:xfrm>
            <a:off x="8001000" y="1188720"/>
            <a:ext cx="3749039" cy="411480"/>
          </a:xfrm>
          <a:prstGeom prst="rect">
            <a:avLst/>
          </a:prstGeom>
          <a:noFill/>
        </p:spPr>
        <p:txBody>
          <a:bodyPr wrap="square" anchor="t">
            <a:spAutoFit/>
          </a:bodyPr>
          <a:lstStyle/>
          <a:p>
            <a:pPr algn="l">
              <a:spcAft>
                <a:spcPts val="0"/>
              </a:spcAft>
            </a:pPr>
            <a:r>
              <a:rPr sz="1700" b="1" i="0">
                <a:solidFill>
                  <a:srgbClr val="002060"/>
                </a:solidFill>
                <a:latin typeface="Calibri"/>
              </a:rPr>
              <a:t>If ap-south-1a fails at 14:00</a:t>
            </a:r>
          </a:p>
        </p:txBody>
      </p:sp>
      <p:sp>
        <p:nvSpPr>
          <p:cNvPr id="12" name="~30 s"/>
          <p:cNvSpPr/>
          <p:nvPr/>
        </p:nvSpPr>
        <p:spPr>
          <a:xfrm>
            <a:off x="8001000" y="1691640"/>
            <a:ext cx="1234440" cy="7772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Aft>
                <a:spcPts val="0"/>
              </a:spcAft>
            </a:pPr>
            <a:r>
              <a:rPr sz="1500" b="1" i="0">
                <a:solidFill>
                  <a:srgbClr val="FFFFFF"/>
                </a:solidFill>
                <a:latin typeface="Calibri"/>
              </a:rPr>
              <a:t>~30 s</a:t>
            </a:r>
          </a:p>
        </p:txBody>
      </p:sp>
      <p:sp>
        <p:nvSpPr>
          <p:cNvPr id="13" name="TextBox 12"/>
          <p:cNvSpPr txBox="1"/>
          <p:nvPr/>
        </p:nvSpPr>
        <p:spPr>
          <a:xfrm>
            <a:off x="9326880" y="1691640"/>
            <a:ext cx="2423160" cy="777240"/>
          </a:xfrm>
          <a:prstGeom prst="rect">
            <a:avLst/>
          </a:prstGeom>
          <a:noFill/>
        </p:spPr>
        <p:txBody>
          <a:bodyPr wrap="square" anchor="ctr">
            <a:spAutoFit/>
          </a:bodyPr>
          <a:lstStyle/>
          <a:p>
            <a:pPr algn="l">
              <a:spcAft>
                <a:spcPts val="0"/>
              </a:spcAft>
            </a:pPr>
            <a:r>
              <a:rPr sz="1400" b="0" i="0">
                <a:solidFill>
                  <a:srgbClr val="262626"/>
                </a:solidFill>
                <a:latin typeface="Calibri"/>
              </a:rPr>
              <a:t>ALB stops routing to zone a</a:t>
            </a:r>
          </a:p>
        </p:txBody>
      </p:sp>
      <p:sp>
        <p:nvSpPr>
          <p:cNvPr id="14" name="1-2 min"/>
          <p:cNvSpPr/>
          <p:nvPr/>
        </p:nvSpPr>
        <p:spPr>
          <a:xfrm>
            <a:off x="8001000" y="2606040"/>
            <a:ext cx="1234440" cy="7772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Aft>
                <a:spcPts val="0"/>
              </a:spcAft>
            </a:pPr>
            <a:r>
              <a:rPr sz="1500" b="1" i="0">
                <a:solidFill>
                  <a:srgbClr val="FFFFFF"/>
                </a:solidFill>
                <a:latin typeface="Calibri"/>
              </a:rPr>
              <a:t>1-2 min</a:t>
            </a:r>
          </a:p>
        </p:txBody>
      </p:sp>
      <p:sp>
        <p:nvSpPr>
          <p:cNvPr id="15" name="TextBox 14"/>
          <p:cNvSpPr txBox="1"/>
          <p:nvPr/>
        </p:nvSpPr>
        <p:spPr>
          <a:xfrm>
            <a:off x="9326880" y="2606040"/>
            <a:ext cx="2423160" cy="777240"/>
          </a:xfrm>
          <a:prstGeom prst="rect">
            <a:avLst/>
          </a:prstGeom>
          <a:noFill/>
        </p:spPr>
        <p:txBody>
          <a:bodyPr wrap="square" anchor="ctr">
            <a:spAutoFit/>
          </a:bodyPr>
          <a:lstStyle/>
          <a:p>
            <a:pPr algn="l">
              <a:spcAft>
                <a:spcPts val="0"/>
              </a:spcAft>
            </a:pPr>
            <a:r>
              <a:rPr sz="1400" b="0" i="0">
                <a:solidFill>
                  <a:srgbClr val="262626"/>
                </a:solidFill>
                <a:latin typeface="Calibri"/>
              </a:rPr>
              <a:t>RDS promotes the standby in zone b</a:t>
            </a:r>
          </a:p>
        </p:txBody>
      </p:sp>
      <p:sp>
        <p:nvSpPr>
          <p:cNvPr id="16" name="Minutes"/>
          <p:cNvSpPr/>
          <p:nvPr/>
        </p:nvSpPr>
        <p:spPr>
          <a:xfrm>
            <a:off x="8001000" y="3520440"/>
            <a:ext cx="1234440" cy="7772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Aft>
                <a:spcPts val="0"/>
              </a:spcAft>
            </a:pPr>
            <a:r>
              <a:rPr sz="1500" b="1" i="0">
                <a:solidFill>
                  <a:srgbClr val="FFFFFF"/>
                </a:solidFill>
                <a:latin typeface="Calibri"/>
              </a:rPr>
              <a:t>Minutes</a:t>
            </a:r>
          </a:p>
        </p:txBody>
      </p:sp>
      <p:sp>
        <p:nvSpPr>
          <p:cNvPr id="17" name="TextBox 16"/>
          <p:cNvSpPr txBox="1"/>
          <p:nvPr/>
        </p:nvSpPr>
        <p:spPr>
          <a:xfrm>
            <a:off x="9326880" y="3520440"/>
            <a:ext cx="2423160" cy="777240"/>
          </a:xfrm>
          <a:prstGeom prst="rect">
            <a:avLst/>
          </a:prstGeom>
          <a:noFill/>
        </p:spPr>
        <p:txBody>
          <a:bodyPr wrap="square" anchor="ctr">
            <a:spAutoFit/>
          </a:bodyPr>
          <a:lstStyle/>
          <a:p>
            <a:pPr algn="l">
              <a:spcAft>
                <a:spcPts val="0"/>
              </a:spcAft>
            </a:pPr>
            <a:r>
              <a:rPr sz="1400" b="0" i="0">
                <a:solidFill>
                  <a:srgbClr val="262626"/>
                </a:solidFill>
                <a:latin typeface="Calibri"/>
              </a:rPr>
              <a:t>ECS starts replacement tasks</a:t>
            </a:r>
          </a:p>
        </p:txBody>
      </p:sp>
      <p:sp>
        <p:nvSpPr>
          <p:cNvPr id="18" name="Throughout"/>
          <p:cNvSpPr/>
          <p:nvPr/>
        </p:nvSpPr>
        <p:spPr>
          <a:xfrm>
            <a:off x="8001000" y="4434840"/>
            <a:ext cx="1234440" cy="777240"/>
          </a:xfrm>
          <a:prstGeom prst="roundRect">
            <a:avLst>
              <a:gd name="adj" fmla="val 12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Aft>
                <a:spcPts val="0"/>
              </a:spcAft>
            </a:pPr>
            <a:r>
              <a:rPr sz="1500" b="1" i="0">
                <a:solidFill>
                  <a:srgbClr val="FFFFFF"/>
                </a:solidFill>
                <a:latin typeface="Calibri"/>
              </a:rPr>
              <a:t>Throughout</a:t>
            </a:r>
          </a:p>
        </p:txBody>
      </p:sp>
      <p:sp>
        <p:nvSpPr>
          <p:cNvPr id="19" name="TextBox 18"/>
          <p:cNvSpPr txBox="1"/>
          <p:nvPr/>
        </p:nvSpPr>
        <p:spPr>
          <a:xfrm>
            <a:off x="9326880" y="4434840"/>
            <a:ext cx="2423160" cy="777240"/>
          </a:xfrm>
          <a:prstGeom prst="rect">
            <a:avLst/>
          </a:prstGeom>
          <a:noFill/>
        </p:spPr>
        <p:txBody>
          <a:bodyPr wrap="square" anchor="ctr">
            <a:spAutoFit/>
          </a:bodyPr>
          <a:lstStyle/>
          <a:p>
            <a:pPr algn="l">
              <a:spcAft>
                <a:spcPts val="0"/>
              </a:spcAft>
            </a:pPr>
            <a:r>
              <a:rPr sz="1400" b="0" i="0">
                <a:solidFill>
                  <a:srgbClr val="262626"/>
                </a:solidFill>
                <a:latin typeface="Calibri"/>
              </a:rPr>
              <a:t>CloudFront keeps serving cached pages</a:t>
            </a:r>
          </a:p>
        </p:txBody>
      </p:sp>
      <p:sp>
        <p:nvSpPr>
          <p:cNvPr id="20" name="Result"/>
          <p:cNvSpPr/>
          <p:nvPr/>
        </p:nvSpPr>
        <p:spPr>
          <a:xfrm>
            <a:off x="8001000" y="5349240"/>
            <a:ext cx="1234440" cy="777240"/>
          </a:xfrm>
          <a:prstGeom prst="roundRect">
            <a:avLst>
              <a:gd name="adj" fmla="val 12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Aft>
                <a:spcPts val="0"/>
              </a:spcAft>
            </a:pPr>
            <a:r>
              <a:rPr sz="1500" b="1" i="0">
                <a:solidFill>
                  <a:srgbClr val="FFFFFF"/>
                </a:solidFill>
                <a:latin typeface="Calibri"/>
              </a:rPr>
              <a:t>Result</a:t>
            </a:r>
          </a:p>
        </p:txBody>
      </p:sp>
      <p:sp>
        <p:nvSpPr>
          <p:cNvPr id="21" name="TextBox 20"/>
          <p:cNvSpPr txBox="1"/>
          <p:nvPr/>
        </p:nvSpPr>
        <p:spPr>
          <a:xfrm>
            <a:off x="9326880" y="5349240"/>
            <a:ext cx="2423160" cy="777240"/>
          </a:xfrm>
          <a:prstGeom prst="rect">
            <a:avLst/>
          </a:prstGeom>
          <a:noFill/>
        </p:spPr>
        <p:txBody>
          <a:bodyPr wrap="square" anchor="ctr">
            <a:spAutoFit/>
          </a:bodyPr>
          <a:lstStyle/>
          <a:p>
            <a:pPr algn="l">
              <a:spcAft>
                <a:spcPts val="0"/>
              </a:spcAft>
            </a:pPr>
            <a:r>
              <a:rPr sz="1400" b="0" i="0">
                <a:solidFill>
                  <a:srgbClr val="262626"/>
                </a:solidFill>
                <a:latin typeface="Calibri"/>
              </a:rPr>
              <a:t>Short errors on uncached requests; no queued order lost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1.7</a:t>
            </a:r>
            <a:r>
              <a:rPr sz="2400" b="1" i="0">
                <a:solidFill>
                  <a:srgbClr val="FFFFFF"/>
                </a:solidFill>
                <a:latin typeface="Calibri"/>
              </a:rPr>
              <a:t> The Failure-Domain Hierarchy</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5.png"/>
          <p:cNvPicPr>
            <a:picLocks noChangeAspect="1"/>
          </p:cNvPicPr>
          <p:nvPr/>
        </p:nvPicPr>
        <p:blipFill>
          <a:blip r:embed="rId4"/>
          <a:stretch>
            <a:fillRect/>
          </a:stretch>
        </p:blipFill>
        <p:spPr>
          <a:xfrm>
            <a:off x="457200" y="1143000"/>
            <a:ext cx="6949440" cy="3909059"/>
          </a:xfrm>
          <a:prstGeom prst="rect">
            <a:avLst/>
          </a:prstGeom>
          <a:ln w="9525">
            <a:solidFill>
              <a:srgbClr val="D9D9D9"/>
            </a:solidFill>
          </a:ln>
        </p:spPr>
      </p:pic>
      <p:sp>
        <p:nvSpPr>
          <p:cNvPr id="11" name="Spread across the domain to survive body"/>
          <p:cNvSpPr/>
          <p:nvPr/>
        </p:nvSpPr>
        <p:spPr>
          <a:xfrm>
            <a:off x="7726679" y="1188720"/>
            <a:ext cx="400507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pread across the domain to survive head"/>
          <p:cNvSpPr/>
          <p:nvPr/>
        </p:nvSpPr>
        <p:spPr>
          <a:xfrm>
            <a:off x="7726679" y="1188720"/>
            <a:ext cx="4005072" cy="42062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Spread across the domain to survive</a:t>
            </a:r>
          </a:p>
        </p:txBody>
      </p:sp>
      <p:sp>
        <p:nvSpPr>
          <p:cNvPr id="13" name="TextBox 12"/>
          <p:cNvSpPr txBox="1"/>
          <p:nvPr/>
        </p:nvSpPr>
        <p:spPr>
          <a:xfrm>
            <a:off x="7772400" y="1655064"/>
            <a:ext cx="3913632" cy="1024127"/>
          </a:xfrm>
          <a:prstGeom prst="rect">
            <a:avLst/>
          </a:prstGeom>
          <a:noFill/>
        </p:spPr>
        <p:txBody>
          <a:bodyPr wrap="square" anchor="t">
            <a:spAutoFit/>
          </a:bodyPr>
          <a:lstStyle/>
          <a:p>
            <a:pPr algn="l">
              <a:spcAft>
                <a:spcPts val="0"/>
              </a:spcAft>
            </a:pPr>
            <a:r>
              <a:rPr sz="1400" b="0" i="0">
                <a:solidFill>
                  <a:srgbClr val="262626"/>
                </a:solidFill>
                <a:latin typeface="Calibri"/>
              </a:rPr>
              <a:t>Two tasks in one AZ survive a host failure, not a zone failure</a:t>
            </a:r>
          </a:p>
        </p:txBody>
      </p:sp>
      <p:sp>
        <p:nvSpPr>
          <p:cNvPr id="14" name="Make the cost explicit body"/>
          <p:cNvSpPr/>
          <p:nvPr/>
        </p:nvSpPr>
        <p:spPr>
          <a:xfrm>
            <a:off x="7726679" y="2880360"/>
            <a:ext cx="400507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Make the cost explicit head"/>
          <p:cNvSpPr/>
          <p:nvPr/>
        </p:nvSpPr>
        <p:spPr>
          <a:xfrm>
            <a:off x="7726679" y="2880360"/>
            <a:ext cx="4005072" cy="42062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Make the cost explicit</a:t>
            </a:r>
          </a:p>
        </p:txBody>
      </p:sp>
      <p:sp>
        <p:nvSpPr>
          <p:cNvPr id="16" name="TextBox 15"/>
          <p:cNvSpPr txBox="1"/>
          <p:nvPr/>
        </p:nvSpPr>
        <p:spPr>
          <a:xfrm>
            <a:off x="7772400" y="3346704"/>
            <a:ext cx="3913632" cy="1024127"/>
          </a:xfrm>
          <a:prstGeom prst="rect">
            <a:avLst/>
          </a:prstGeom>
          <a:noFill/>
        </p:spPr>
        <p:txBody>
          <a:bodyPr wrap="square" anchor="t">
            <a:spAutoFit/>
          </a:bodyPr>
          <a:lstStyle/>
          <a:p>
            <a:pPr algn="l">
              <a:spcAft>
                <a:spcPts val="0"/>
              </a:spcAft>
            </a:pPr>
            <a:r>
              <a:rPr sz="1400" b="0" i="0">
                <a:solidFill>
                  <a:srgbClr val="262626"/>
                </a:solidFill>
                <a:latin typeface="Calibri"/>
              </a:rPr>
              <a:t>AZ: extra tasks and a standby. Region: a second stack or tested restore</a:t>
            </a:r>
          </a:p>
        </p:txBody>
      </p:sp>
      <p:sp>
        <p:nvSpPr>
          <p:cNvPr id="17" name="Prefer data planes body"/>
          <p:cNvSpPr/>
          <p:nvPr/>
        </p:nvSpPr>
        <p:spPr>
          <a:xfrm>
            <a:off x="7726679" y="4572000"/>
            <a:ext cx="4005072" cy="1536192"/>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refer data planes head"/>
          <p:cNvSpPr/>
          <p:nvPr/>
        </p:nvSpPr>
        <p:spPr>
          <a:xfrm>
            <a:off x="7726679" y="4572000"/>
            <a:ext cx="4005072" cy="4206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FFFFFF"/>
                </a:solidFill>
                <a:latin typeface="Calibri"/>
              </a:rPr>
              <a:t>Prefer data planes</a:t>
            </a:r>
          </a:p>
        </p:txBody>
      </p:sp>
      <p:sp>
        <p:nvSpPr>
          <p:cNvPr id="19" name="TextBox 18"/>
          <p:cNvSpPr txBox="1"/>
          <p:nvPr/>
        </p:nvSpPr>
        <p:spPr>
          <a:xfrm>
            <a:off x="7772400" y="5038344"/>
            <a:ext cx="3913632" cy="1024127"/>
          </a:xfrm>
          <a:prstGeom prst="rect">
            <a:avLst/>
          </a:prstGeom>
          <a:noFill/>
        </p:spPr>
        <p:txBody>
          <a:bodyPr wrap="square" anchor="t">
            <a:spAutoFit/>
          </a:bodyPr>
          <a:lstStyle/>
          <a:p>
            <a:pPr algn="l">
              <a:spcAft>
                <a:spcPts val="0"/>
              </a:spcAft>
            </a:pPr>
            <a:r>
              <a:rPr sz="1400" b="0" i="0">
                <a:solidFill>
                  <a:srgbClr val="262626"/>
                </a:solidFill>
                <a:latin typeface="Calibri"/>
              </a:rPr>
              <a:t>IAM and Route 53 changes go through us-east-1; build failover in advance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1.7</a:t>
            </a:r>
            <a:r>
              <a:rPr sz="2400" b="1" i="0">
                <a:solidFill>
                  <a:srgbClr val="FFFFFF"/>
                </a:solidFill>
                <a:latin typeface="Calibri"/>
              </a:rPr>
              <a:t> Recovery Objectives and Strategies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graphicFrame>
        <p:nvGraphicFramePr>
          <p:cNvPr id="10" name="Table 9"/>
          <p:cNvGraphicFramePr>
            <a:graphicFrameLocks noGrp="1"/>
          </p:cNvGraphicFramePr>
          <p:nvPr/>
        </p:nvGraphicFramePr>
        <p:xfrm>
          <a:off x="457200" y="1188720"/>
          <a:ext cx="7498080" cy="4352544"/>
        </p:xfrm>
        <a:graphic>
          <a:graphicData uri="http://schemas.openxmlformats.org/drawingml/2006/table">
            <a:tbl>
              <a:tblPr firstRow="1">
                <a:tableStyleId>{5940675A-B579-460E-94D1-54222C63F5DA}</a:tableStyleId>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621792">
                <a:tc>
                  <a:txBody>
                    <a:bodyPr/>
                    <a:lstStyle/>
                    <a:p>
                      <a:r>
                        <a:rPr sz="1500" b="1" i="0">
                          <a:solidFill>
                            <a:srgbClr val="FFFFFF"/>
                          </a:solidFill>
                          <a:latin typeface="Calibri"/>
                        </a:rPr>
                        <a:t>Objective</a:t>
                      </a:r>
                    </a:p>
                  </a:txBody>
                  <a:tcPr marL="73152" marR="73152" marT="36576" marB="36576" anchor="ctr">
                    <a:solidFill>
                      <a:srgbClr val="156082"/>
                    </a:solidFill>
                  </a:tcPr>
                </a:tc>
                <a:tc>
                  <a:txBody>
                    <a:bodyPr/>
                    <a:lstStyle/>
                    <a:p>
                      <a:r>
                        <a:rPr sz="1500" b="1" i="0">
                          <a:solidFill>
                            <a:srgbClr val="FFFFFF"/>
                          </a:solidFill>
                          <a:latin typeface="Calibri"/>
                        </a:rPr>
                        <a:t>Backup and restore</a:t>
                      </a:r>
                    </a:p>
                  </a:txBody>
                  <a:tcPr marL="73152" marR="73152" marT="36576" marB="36576" anchor="ctr">
                    <a:solidFill>
                      <a:srgbClr val="156082"/>
                    </a:solidFill>
                  </a:tcPr>
                </a:tc>
                <a:tc>
                  <a:txBody>
                    <a:bodyPr/>
                    <a:lstStyle/>
                    <a:p>
                      <a:r>
                        <a:rPr sz="1500" b="1" i="0">
                          <a:solidFill>
                            <a:srgbClr val="FFFFFF"/>
                          </a:solidFill>
                          <a:latin typeface="Calibri"/>
                        </a:rPr>
                        <a:t>Pilot light / warm</a:t>
                      </a:r>
                    </a:p>
                  </a:txBody>
                  <a:tcPr marL="73152" marR="73152" marT="36576" marB="36576" anchor="ctr">
                    <a:solidFill>
                      <a:srgbClr val="156082"/>
                    </a:solidFill>
                  </a:tcPr>
                </a:tc>
                <a:tc>
                  <a:txBody>
                    <a:bodyPr/>
                    <a:lstStyle/>
                    <a:p>
                      <a:r>
                        <a:rPr sz="1500" b="1" i="0">
                          <a:solidFill>
                            <a:srgbClr val="FFFFFF"/>
                          </a:solidFill>
                          <a:latin typeface="Calibri"/>
                        </a:rPr>
                        <a:t>Active-active</a:t>
                      </a:r>
                    </a:p>
                  </a:txBody>
                  <a:tcPr marL="73152" marR="73152" marT="36576" marB="36576" anchor="ctr">
                    <a:solidFill>
                      <a:srgbClr val="156082"/>
                    </a:solidFill>
                  </a:tcPr>
                </a:tc>
                <a:extLst>
                  <a:ext uri="{0D108BD9-81ED-4DB2-BD59-A6C34878D82A}">
                    <a16:rowId xmlns:a16="http://schemas.microsoft.com/office/drawing/2014/main" val="10000"/>
                  </a:ext>
                </a:extLst>
              </a:tr>
              <a:tr h="621792">
                <a:tc>
                  <a:txBody>
                    <a:bodyPr/>
                    <a:lstStyle/>
                    <a:p>
                      <a:r>
                        <a:rPr sz="1500" b="1" i="0">
                          <a:solidFill>
                            <a:srgbClr val="002060"/>
                          </a:solidFill>
                          <a:latin typeface="Calibri"/>
                        </a:rPr>
                        <a:t>Survives AZ failure</a:t>
                      </a:r>
                    </a:p>
                  </a:txBody>
                  <a:tcPr marL="73152" marR="73152" marT="36576" marB="36576" anchor="ctr">
                    <a:solidFill>
                      <a:srgbClr val="FFFFFF"/>
                    </a:solidFill>
                  </a:tcPr>
                </a:tc>
                <a:tc>
                  <a:txBody>
                    <a:bodyPr/>
                    <a:lstStyle/>
                    <a:p>
                      <a:r>
                        <a:rPr sz="1500" b="0" i="0">
                          <a:solidFill>
                            <a:srgbClr val="262626"/>
                          </a:solidFill>
                          <a:latin typeface="Calibri"/>
                        </a:rPr>
                        <a:t>Yes, with Multi-AZ</a:t>
                      </a:r>
                    </a:p>
                  </a:txBody>
                  <a:tcPr marL="73152" marR="73152" marT="36576" marB="36576" anchor="ctr">
                    <a:solidFill>
                      <a:srgbClr val="FFFFFF"/>
                    </a:solidFill>
                  </a:tcPr>
                </a:tc>
                <a:tc>
                  <a:txBody>
                    <a:bodyPr/>
                    <a:lstStyle/>
                    <a:p>
                      <a:r>
                        <a:rPr sz="1500" b="0" i="0">
                          <a:solidFill>
                            <a:srgbClr val="262626"/>
                          </a:solidFill>
                          <a:latin typeface="Calibri"/>
                        </a:rPr>
                        <a:t>Yes</a:t>
                      </a:r>
                    </a:p>
                  </a:txBody>
                  <a:tcPr marL="73152" marR="73152" marT="36576" marB="36576" anchor="ctr">
                    <a:solidFill>
                      <a:srgbClr val="FFFFFF"/>
                    </a:solidFill>
                  </a:tcPr>
                </a:tc>
                <a:tc>
                  <a:txBody>
                    <a:bodyPr/>
                    <a:lstStyle/>
                    <a:p>
                      <a:r>
                        <a:rPr sz="1500" b="0" i="0">
                          <a:solidFill>
                            <a:srgbClr val="262626"/>
                          </a:solidFill>
                          <a:latin typeface="Calibri"/>
                        </a:rPr>
                        <a:t>Yes</a:t>
                      </a:r>
                    </a:p>
                  </a:txBody>
                  <a:tcPr marL="73152" marR="73152" marT="36576" marB="36576" anchor="ctr">
                    <a:solidFill>
                      <a:srgbClr val="FFFFFF"/>
                    </a:solidFill>
                  </a:tcPr>
                </a:tc>
                <a:extLst>
                  <a:ext uri="{0D108BD9-81ED-4DB2-BD59-A6C34878D82A}">
                    <a16:rowId xmlns:a16="http://schemas.microsoft.com/office/drawing/2014/main" val="10001"/>
                  </a:ext>
                </a:extLst>
              </a:tr>
              <a:tr h="621792">
                <a:tc>
                  <a:txBody>
                    <a:bodyPr/>
                    <a:lstStyle/>
                    <a:p>
                      <a:r>
                        <a:rPr sz="1500" b="1" i="0">
                          <a:solidFill>
                            <a:srgbClr val="002060"/>
                          </a:solidFill>
                          <a:latin typeface="Calibri"/>
                        </a:rPr>
                        <a:t>Survives Region failure</a:t>
                      </a:r>
                    </a:p>
                  </a:txBody>
                  <a:tcPr marL="73152" marR="73152" marT="36576" marB="36576" anchor="ctr">
                    <a:solidFill>
                      <a:srgbClr val="F2F2F2"/>
                    </a:solidFill>
                  </a:tcPr>
                </a:tc>
                <a:tc>
                  <a:txBody>
                    <a:bodyPr/>
                    <a:lstStyle/>
                    <a:p>
                      <a:r>
                        <a:rPr sz="1500" b="0" i="0">
                          <a:solidFill>
                            <a:srgbClr val="262626"/>
                          </a:solidFill>
                          <a:latin typeface="Calibri"/>
                        </a:rPr>
                        <a:t>After restore</a:t>
                      </a:r>
                    </a:p>
                  </a:txBody>
                  <a:tcPr marL="73152" marR="73152" marT="36576" marB="36576" anchor="ctr">
                    <a:solidFill>
                      <a:srgbClr val="F2F2F2"/>
                    </a:solidFill>
                  </a:tcPr>
                </a:tc>
                <a:tc>
                  <a:txBody>
                    <a:bodyPr/>
                    <a:lstStyle/>
                    <a:p>
                      <a:r>
                        <a:rPr sz="1500" b="0" i="0">
                          <a:solidFill>
                            <a:srgbClr val="262626"/>
                          </a:solidFill>
                          <a:latin typeface="Calibri"/>
                        </a:rPr>
                        <a:t>After scale-up</a:t>
                      </a:r>
                    </a:p>
                  </a:txBody>
                  <a:tcPr marL="73152" marR="73152" marT="36576" marB="36576" anchor="ctr">
                    <a:solidFill>
                      <a:srgbClr val="F2F2F2"/>
                    </a:solidFill>
                  </a:tcPr>
                </a:tc>
                <a:tc>
                  <a:txBody>
                    <a:bodyPr/>
                    <a:lstStyle/>
                    <a:p>
                      <a:r>
                        <a:rPr sz="1500" b="0" i="0">
                          <a:solidFill>
                            <a:srgbClr val="262626"/>
                          </a:solidFill>
                          <a:latin typeface="Calibri"/>
                        </a:rPr>
                        <a:t>Immediately</a:t>
                      </a:r>
                    </a:p>
                  </a:txBody>
                  <a:tcPr marL="73152" marR="73152" marT="36576" marB="36576" anchor="ctr">
                    <a:solidFill>
                      <a:srgbClr val="F2F2F2"/>
                    </a:solidFill>
                  </a:tcPr>
                </a:tc>
                <a:extLst>
                  <a:ext uri="{0D108BD9-81ED-4DB2-BD59-A6C34878D82A}">
                    <a16:rowId xmlns:a16="http://schemas.microsoft.com/office/drawing/2014/main" val="10002"/>
                  </a:ext>
                </a:extLst>
              </a:tr>
              <a:tr h="621792">
                <a:tc>
                  <a:txBody>
                    <a:bodyPr/>
                    <a:lstStyle/>
                    <a:p>
                      <a:r>
                        <a:rPr sz="1500" b="1" i="0">
                          <a:solidFill>
                            <a:srgbClr val="002060"/>
                          </a:solidFill>
                          <a:latin typeface="Calibri"/>
                        </a:rPr>
                        <a:t>Typical RTO</a:t>
                      </a:r>
                    </a:p>
                  </a:txBody>
                  <a:tcPr marL="73152" marR="73152" marT="36576" marB="36576" anchor="ctr">
                    <a:solidFill>
                      <a:srgbClr val="FFFFFF"/>
                    </a:solidFill>
                  </a:tcPr>
                </a:tc>
                <a:tc>
                  <a:txBody>
                    <a:bodyPr/>
                    <a:lstStyle/>
                    <a:p>
                      <a:r>
                        <a:rPr sz="1500" b="0" i="0">
                          <a:solidFill>
                            <a:srgbClr val="262626"/>
                          </a:solidFill>
                          <a:latin typeface="Calibri"/>
                        </a:rPr>
                        <a:t>Hours</a:t>
                      </a:r>
                    </a:p>
                  </a:txBody>
                  <a:tcPr marL="73152" marR="73152" marT="36576" marB="36576" anchor="ctr">
                    <a:solidFill>
                      <a:srgbClr val="FFFFFF"/>
                    </a:solidFill>
                  </a:tcPr>
                </a:tc>
                <a:tc>
                  <a:txBody>
                    <a:bodyPr/>
                    <a:lstStyle/>
                    <a:p>
                      <a:r>
                        <a:rPr sz="1500" b="0" i="0">
                          <a:solidFill>
                            <a:srgbClr val="262626"/>
                          </a:solidFill>
                          <a:latin typeface="Calibri"/>
                        </a:rPr>
                        <a:t>Tens of minutes</a:t>
                      </a:r>
                    </a:p>
                  </a:txBody>
                  <a:tcPr marL="73152" marR="73152" marT="36576" marB="36576" anchor="ctr">
                    <a:solidFill>
                      <a:srgbClr val="FFFFFF"/>
                    </a:solidFill>
                  </a:tcPr>
                </a:tc>
                <a:tc>
                  <a:txBody>
                    <a:bodyPr/>
                    <a:lstStyle/>
                    <a:p>
                      <a:r>
                        <a:rPr sz="1500" b="0" i="0">
                          <a:solidFill>
                            <a:srgbClr val="262626"/>
                          </a:solidFill>
                          <a:latin typeface="Calibri"/>
                        </a:rPr>
                        <a:t>Seconds to minutes</a:t>
                      </a:r>
                    </a:p>
                  </a:txBody>
                  <a:tcPr marL="73152" marR="73152" marT="36576" marB="36576" anchor="ctr">
                    <a:solidFill>
                      <a:srgbClr val="FFFFFF"/>
                    </a:solidFill>
                  </a:tcPr>
                </a:tc>
                <a:extLst>
                  <a:ext uri="{0D108BD9-81ED-4DB2-BD59-A6C34878D82A}">
                    <a16:rowId xmlns:a16="http://schemas.microsoft.com/office/drawing/2014/main" val="10003"/>
                  </a:ext>
                </a:extLst>
              </a:tr>
              <a:tr h="621792">
                <a:tc>
                  <a:txBody>
                    <a:bodyPr/>
                    <a:lstStyle/>
                    <a:p>
                      <a:r>
                        <a:rPr sz="1500" b="1" i="0">
                          <a:solidFill>
                            <a:srgbClr val="002060"/>
                          </a:solidFill>
                          <a:latin typeface="Calibri"/>
                        </a:rPr>
                        <a:t>Typical RPO</a:t>
                      </a:r>
                    </a:p>
                  </a:txBody>
                  <a:tcPr marL="73152" marR="73152" marT="36576" marB="36576" anchor="ctr">
                    <a:solidFill>
                      <a:srgbClr val="F2F2F2"/>
                    </a:solidFill>
                  </a:tcPr>
                </a:tc>
                <a:tc>
                  <a:txBody>
                    <a:bodyPr/>
                    <a:lstStyle/>
                    <a:p>
                      <a:r>
                        <a:rPr sz="1500" b="0" i="0">
                          <a:solidFill>
                            <a:srgbClr val="262626"/>
                          </a:solidFill>
                          <a:latin typeface="Calibri"/>
                        </a:rPr>
                        <a:t>Last backup</a:t>
                      </a:r>
                    </a:p>
                  </a:txBody>
                  <a:tcPr marL="73152" marR="73152" marT="36576" marB="36576" anchor="ctr">
                    <a:solidFill>
                      <a:srgbClr val="F2F2F2"/>
                    </a:solidFill>
                  </a:tcPr>
                </a:tc>
                <a:tc>
                  <a:txBody>
                    <a:bodyPr/>
                    <a:lstStyle/>
                    <a:p>
                      <a:r>
                        <a:rPr sz="1500" b="0" i="0">
                          <a:solidFill>
                            <a:srgbClr val="262626"/>
                          </a:solidFill>
                          <a:latin typeface="Calibri"/>
                        </a:rPr>
                        <a:t>Seconds to minutes</a:t>
                      </a:r>
                    </a:p>
                  </a:txBody>
                  <a:tcPr marL="73152" marR="73152" marT="36576" marB="36576" anchor="ctr">
                    <a:solidFill>
                      <a:srgbClr val="F2F2F2"/>
                    </a:solidFill>
                  </a:tcPr>
                </a:tc>
                <a:tc>
                  <a:txBody>
                    <a:bodyPr/>
                    <a:lstStyle/>
                    <a:p>
                      <a:r>
                        <a:rPr sz="1500" b="0" i="0">
                          <a:solidFill>
                            <a:srgbClr val="262626"/>
                          </a:solidFill>
                          <a:latin typeface="Calibri"/>
                        </a:rPr>
                        <a:t>Near zero</a:t>
                      </a:r>
                    </a:p>
                  </a:txBody>
                  <a:tcPr marL="73152" marR="73152" marT="36576" marB="36576" anchor="ctr">
                    <a:solidFill>
                      <a:srgbClr val="F2F2F2"/>
                    </a:solidFill>
                  </a:tcPr>
                </a:tc>
                <a:extLst>
                  <a:ext uri="{0D108BD9-81ED-4DB2-BD59-A6C34878D82A}">
                    <a16:rowId xmlns:a16="http://schemas.microsoft.com/office/drawing/2014/main" val="10004"/>
                  </a:ext>
                </a:extLst>
              </a:tr>
              <a:tr h="621792">
                <a:tc>
                  <a:txBody>
                    <a:bodyPr/>
                    <a:lstStyle/>
                    <a:p>
                      <a:r>
                        <a:rPr sz="1500" b="1" i="0">
                          <a:solidFill>
                            <a:srgbClr val="002060"/>
                          </a:solidFill>
                          <a:latin typeface="Calibri"/>
                        </a:rPr>
                        <a:t>Relative cost</a:t>
                      </a:r>
                    </a:p>
                  </a:txBody>
                  <a:tcPr marL="73152" marR="73152" marT="36576" marB="36576" anchor="ctr">
                    <a:solidFill>
                      <a:srgbClr val="FFFFFF"/>
                    </a:solidFill>
                  </a:tcPr>
                </a:tc>
                <a:tc>
                  <a:txBody>
                    <a:bodyPr/>
                    <a:lstStyle/>
                    <a:p>
                      <a:r>
                        <a:rPr sz="1500" b="0" i="0">
                          <a:solidFill>
                            <a:srgbClr val="262626"/>
                          </a:solidFill>
                          <a:latin typeface="Calibri"/>
                        </a:rPr>
                        <a:t>Low</a:t>
                      </a:r>
                    </a:p>
                  </a:txBody>
                  <a:tcPr marL="73152" marR="73152" marT="36576" marB="36576" anchor="ctr">
                    <a:solidFill>
                      <a:srgbClr val="FFFFFF"/>
                    </a:solidFill>
                  </a:tcPr>
                </a:tc>
                <a:tc>
                  <a:txBody>
                    <a:bodyPr/>
                    <a:lstStyle/>
                    <a:p>
                      <a:r>
                        <a:rPr sz="1500" b="0" i="0">
                          <a:solidFill>
                            <a:srgbClr val="262626"/>
                          </a:solidFill>
                          <a:latin typeface="Calibri"/>
                        </a:rPr>
                        <a:t>Medium</a:t>
                      </a:r>
                    </a:p>
                  </a:txBody>
                  <a:tcPr marL="73152" marR="73152" marT="36576" marB="36576" anchor="ctr">
                    <a:solidFill>
                      <a:srgbClr val="FFFFFF"/>
                    </a:solidFill>
                  </a:tcPr>
                </a:tc>
                <a:tc>
                  <a:txBody>
                    <a:bodyPr/>
                    <a:lstStyle/>
                    <a:p>
                      <a:r>
                        <a:rPr sz="1500" b="0" i="0">
                          <a:solidFill>
                            <a:srgbClr val="262626"/>
                          </a:solidFill>
                          <a:latin typeface="Calibri"/>
                        </a:rPr>
                        <a:t>High</a:t>
                      </a:r>
                    </a:p>
                  </a:txBody>
                  <a:tcPr marL="73152" marR="73152" marT="36576" marB="36576" anchor="ctr">
                    <a:solidFill>
                      <a:srgbClr val="FFFFFF"/>
                    </a:solidFill>
                  </a:tcPr>
                </a:tc>
                <a:extLst>
                  <a:ext uri="{0D108BD9-81ED-4DB2-BD59-A6C34878D82A}">
                    <a16:rowId xmlns:a16="http://schemas.microsoft.com/office/drawing/2014/main" val="10005"/>
                  </a:ext>
                </a:extLst>
              </a:tr>
              <a:tr h="621792">
                <a:tc>
                  <a:txBody>
                    <a:bodyPr/>
                    <a:lstStyle/>
                    <a:p>
                      <a:r>
                        <a:rPr sz="1500" b="1" i="0">
                          <a:solidFill>
                            <a:srgbClr val="002060"/>
                          </a:solidFill>
                          <a:latin typeface="Calibri"/>
                        </a:rPr>
                        <a:t>BookStash today</a:t>
                      </a:r>
                    </a:p>
                  </a:txBody>
                  <a:tcPr marL="73152" marR="73152" marT="36576" marB="36576" anchor="ctr">
                    <a:solidFill>
                      <a:srgbClr val="F2F2F2"/>
                    </a:solidFill>
                  </a:tcPr>
                </a:tc>
                <a:tc>
                  <a:txBody>
                    <a:bodyPr/>
                    <a:lstStyle/>
                    <a:p>
                      <a:r>
                        <a:rPr sz="1500" b="0" i="0">
                          <a:solidFill>
                            <a:srgbClr val="262626"/>
                          </a:solidFill>
                          <a:latin typeface="Calibri"/>
                        </a:rPr>
                        <a:t>Cross-Region copies</a:t>
                      </a:r>
                    </a:p>
                  </a:txBody>
                  <a:tcPr marL="73152" marR="73152" marT="36576" marB="36576" anchor="ctr">
                    <a:solidFill>
                      <a:srgbClr val="F2F2F2"/>
                    </a:solidFill>
                  </a:tcPr>
                </a:tc>
                <a:tc>
                  <a:txBody>
                    <a:bodyPr/>
                    <a:lstStyle/>
                    <a:p>
                      <a:r>
                        <a:rPr sz="1500" b="0" i="0">
                          <a:solidFill>
                            <a:srgbClr val="262626"/>
                          </a:solidFill>
                          <a:latin typeface="Calibri"/>
                        </a:rPr>
                        <a:t>Not yet</a:t>
                      </a:r>
                    </a:p>
                  </a:txBody>
                  <a:tcPr marL="73152" marR="73152" marT="36576" marB="36576" anchor="ctr">
                    <a:solidFill>
                      <a:srgbClr val="F2F2F2"/>
                    </a:solidFill>
                  </a:tcPr>
                </a:tc>
                <a:tc>
                  <a:txBody>
                    <a:bodyPr/>
                    <a:lstStyle/>
                    <a:p>
                      <a:r>
                        <a:rPr sz="1500" b="0" i="0">
                          <a:solidFill>
                            <a:srgbClr val="262626"/>
                          </a:solidFill>
                          <a:latin typeface="Calibri"/>
                        </a:rPr>
                        <a:t>Not needed</a:t>
                      </a:r>
                    </a:p>
                  </a:txBody>
                  <a:tcPr marL="73152" marR="73152" marT="36576" marB="36576" anchor="ctr">
                    <a:solidFill>
                      <a:srgbClr val="F2F2F2"/>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8275320" y="1188720"/>
            <a:ext cx="3456432" cy="178308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RTO 4 h</a:t>
            </a:r>
          </a:p>
          <a:p>
            <a:pPr algn="ctr">
              <a:spcAft>
                <a:spcPts val="0"/>
              </a:spcAft>
            </a:pPr>
            <a:r>
              <a:rPr sz="1400" b="0" i="0">
                <a:solidFill>
                  <a:srgbClr val="FFFFFF"/>
                </a:solidFill>
                <a:latin typeface="Calibri"/>
              </a:rPr>
              <a:t>time to restore service after a Region failure</a:t>
            </a:r>
          </a:p>
        </p:txBody>
      </p:sp>
      <p:sp>
        <p:nvSpPr>
          <p:cNvPr id="12" name="Rounded Rectangle 11"/>
          <p:cNvSpPr/>
          <p:nvPr/>
        </p:nvSpPr>
        <p:spPr>
          <a:xfrm>
            <a:off x="8275320" y="3154680"/>
            <a:ext cx="3456432" cy="178308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200"/>
              </a:spcAft>
            </a:pPr>
            <a:r>
              <a:rPr sz="3400" b="1" i="0">
                <a:solidFill>
                  <a:srgbClr val="FFFFFF"/>
                </a:solidFill>
                <a:latin typeface="Calibri"/>
              </a:rPr>
              <a:t>RPO 15 min</a:t>
            </a:r>
          </a:p>
          <a:p>
            <a:pPr algn="ctr">
              <a:spcAft>
                <a:spcPts val="0"/>
              </a:spcAft>
            </a:pPr>
            <a:r>
              <a:rPr sz="1400" b="0" i="0">
                <a:solidFill>
                  <a:srgbClr val="FFFFFF"/>
                </a:solidFill>
                <a:latin typeface="Calibri"/>
              </a:rPr>
              <a:t>maximum loss of order data</a:t>
            </a:r>
          </a:p>
        </p:txBody>
      </p:sp>
      <p:sp>
        <p:nvSpPr>
          <p:cNvPr id="13" name="TextBox 12"/>
          <p:cNvSpPr txBox="1"/>
          <p:nvPr/>
        </p:nvSpPr>
        <p:spPr>
          <a:xfrm>
            <a:off x="8275320" y="5120640"/>
            <a:ext cx="3456432" cy="1143000"/>
          </a:xfrm>
          <a:prstGeom prst="rect">
            <a:avLst/>
          </a:prstGeom>
          <a:noFill/>
        </p:spPr>
        <p:txBody>
          <a:bodyPr wrap="square" anchor="ctr">
            <a:spAutoFit/>
          </a:bodyPr>
          <a:lstStyle/>
          <a:p>
            <a:pPr algn="l">
              <a:spcAft>
                <a:spcPts val="0"/>
              </a:spcAft>
            </a:pPr>
            <a:r>
              <a:rPr sz="1400" b="0" i="1">
                <a:solidFill>
                  <a:srgbClr val="595959"/>
                </a:solidFill>
                <a:latin typeface="Calibri"/>
              </a:rPr>
              <a:t>Tighter objectives and multi-Region designs are covered in SDSR.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1.8</a:t>
            </a:r>
            <a:r>
              <a:rPr sz="2400" b="1" i="0">
                <a:solidFill>
                  <a:srgbClr val="FFFFFF"/>
                </a:solidFill>
                <a:latin typeface="Calibri"/>
              </a:rPr>
              <a:t> Course Scope and Boundaries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pic>
        <p:nvPicPr>
          <p:cNvPr id="10" name="Picture 9" descr="f1_17.png"/>
          <p:cNvPicPr>
            <a:picLocks noChangeAspect="1"/>
          </p:cNvPicPr>
          <p:nvPr/>
        </p:nvPicPr>
        <p:blipFill>
          <a:blip r:embed="rId4"/>
          <a:stretch>
            <a:fillRect/>
          </a:stretch>
        </p:blipFill>
        <p:spPr>
          <a:xfrm>
            <a:off x="457200" y="1188720"/>
            <a:ext cx="5120640" cy="2560320"/>
          </a:xfrm>
          <a:prstGeom prst="rect">
            <a:avLst/>
          </a:prstGeom>
        </p:spPr>
      </p:pic>
      <p:sp>
        <p:nvSpPr>
          <p:cNvPr id="11" name="TextBox 10"/>
          <p:cNvSpPr txBox="1"/>
          <p:nvPr/>
        </p:nvSpPr>
        <p:spPr>
          <a:xfrm>
            <a:off x="457200" y="3886200"/>
            <a:ext cx="5120640" cy="2377440"/>
          </a:xfrm>
          <a:prstGeom prst="rect">
            <a:avLst/>
          </a:prstGeom>
          <a:noFill/>
        </p:spPr>
        <p:txBody>
          <a:bodyPr wrap="square" anchor="t">
            <a:spAutoFit/>
          </a:bodyPr>
          <a:lstStyle/>
          <a:p>
            <a:pPr marL="228600" indent="-228600" algn="l">
              <a:spcAft>
                <a:spcPts val="600"/>
              </a:spcAft>
              <a:buClr>
                <a:srgbClr val="E97132"/>
              </a:buClr>
              <a:buFont typeface="Arial"/>
              <a:buChar char="•"/>
            </a:pPr>
            <a:r>
              <a:rPr sz="1500" b="0" i="0">
                <a:solidFill>
                  <a:srgbClr val="262626"/>
                </a:solidFill>
                <a:latin typeface="Calibri"/>
              </a:rPr>
              <a:t>This course: networking, compute, storage and databases, identity and security, operations</a:t>
            </a:r>
          </a:p>
          <a:p>
            <a:pPr marL="228600" indent="-228600" algn="l">
              <a:spcAft>
                <a:spcPts val="600"/>
              </a:spcAft>
              <a:buClr>
                <a:srgbClr val="E97132"/>
              </a:buClr>
              <a:buFont typeface="Arial"/>
              <a:buChar char="•"/>
            </a:pPr>
            <a:r>
              <a:rPr sz="1500" b="0" i="0">
                <a:solidFill>
                  <a:srgbClr val="262626"/>
                </a:solidFill>
                <a:latin typeface="Calibri"/>
              </a:rPr>
              <a:t>CICD: builds, tests, deployment strategies, IaC pipelines</a:t>
            </a:r>
          </a:p>
          <a:p>
            <a:pPr marL="228600" indent="-228600" algn="l">
              <a:spcAft>
                <a:spcPts val="0"/>
              </a:spcAft>
              <a:buClr>
                <a:srgbClr val="E97132"/>
              </a:buClr>
              <a:buFont typeface="Arial"/>
              <a:buChar char="•"/>
            </a:pPr>
            <a:r>
              <a:rPr sz="1500" b="0" i="0">
                <a:solidFill>
                  <a:srgbClr val="262626"/>
                </a:solidFill>
                <a:latin typeface="Calibri"/>
              </a:rPr>
              <a:t>SDSR: sharding, consistency, consensus, multi-Region</a:t>
            </a:r>
          </a:p>
        </p:txBody>
      </p:sp>
      <p:graphicFrame>
        <p:nvGraphicFramePr>
          <p:cNvPr id="12" name="Table 11"/>
          <p:cNvGraphicFramePr>
            <a:graphicFrameLocks noGrp="1"/>
          </p:cNvGraphicFramePr>
          <p:nvPr/>
        </p:nvGraphicFramePr>
        <p:xfrm>
          <a:off x="5852160" y="1188720"/>
          <a:ext cx="5879591" cy="4526280"/>
        </p:xfrm>
        <a:graphic>
          <a:graphicData uri="http://schemas.openxmlformats.org/drawingml/2006/table">
            <a:tbl>
              <a:tblPr firstRow="1">
                <a:tableStyleId>{5940675A-B579-460E-94D1-54222C63F5DA}</a:tableStyleId>
              </a:tblPr>
              <a:tblGrid>
                <a:gridCol w="2514599">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124712">
                  <a:extLst>
                    <a:ext uri="{9D8B030D-6E8A-4147-A177-3AD203B41FA5}">
                      <a16:colId xmlns:a16="http://schemas.microsoft.com/office/drawing/2014/main" val="20003"/>
                    </a:ext>
                  </a:extLst>
                </a:gridCol>
              </a:tblGrid>
              <a:tr h="502920">
                <a:tc>
                  <a:txBody>
                    <a:bodyPr/>
                    <a:lstStyle/>
                    <a:p>
                      <a:r>
                        <a:rPr sz="1400" b="1" i="0">
                          <a:solidFill>
                            <a:srgbClr val="FFFFFF"/>
                          </a:solidFill>
                          <a:latin typeface="Calibri"/>
                        </a:rPr>
                        <a:t>Topic</a:t>
                      </a:r>
                    </a:p>
                  </a:txBody>
                  <a:tcPr marL="73152" marR="73152" marT="36576" marB="36576" anchor="ctr">
                    <a:solidFill>
                      <a:srgbClr val="156082"/>
                    </a:solidFill>
                  </a:tcPr>
                </a:tc>
                <a:tc>
                  <a:txBody>
                    <a:bodyPr/>
                    <a:lstStyle/>
                    <a:p>
                      <a:r>
                        <a:rPr sz="1400" b="1" i="0">
                          <a:solidFill>
                            <a:srgbClr val="FFFFFF"/>
                          </a:solidFill>
                          <a:latin typeface="Calibri"/>
                        </a:rPr>
                        <a:t>This course</a:t>
                      </a:r>
                    </a:p>
                  </a:txBody>
                  <a:tcPr marL="73152" marR="73152" marT="36576" marB="36576" anchor="ctr">
                    <a:solidFill>
                      <a:srgbClr val="156082"/>
                    </a:solidFill>
                  </a:tcPr>
                </a:tc>
                <a:tc>
                  <a:txBody>
                    <a:bodyPr/>
                    <a:lstStyle/>
                    <a:p>
                      <a:r>
                        <a:rPr sz="1400" b="1" i="0">
                          <a:solidFill>
                            <a:srgbClr val="FFFFFF"/>
                          </a:solidFill>
                          <a:latin typeface="Calibri"/>
                        </a:rPr>
                        <a:t>CICD</a:t>
                      </a:r>
                    </a:p>
                  </a:txBody>
                  <a:tcPr marL="73152" marR="73152" marT="36576" marB="36576" anchor="ctr">
                    <a:solidFill>
                      <a:srgbClr val="156082"/>
                    </a:solidFill>
                  </a:tcPr>
                </a:tc>
                <a:tc>
                  <a:txBody>
                    <a:bodyPr/>
                    <a:lstStyle/>
                    <a:p>
                      <a:r>
                        <a:rPr sz="1400" b="1" i="0">
                          <a:solidFill>
                            <a:srgbClr val="FFFFFF"/>
                          </a:solidFill>
                          <a:latin typeface="Calibri"/>
                        </a:rPr>
                        <a:t>SDSR</a:t>
                      </a:r>
                    </a:p>
                  </a:txBody>
                  <a:tcPr marL="73152" marR="73152" marT="36576" marB="36576" anchor="ctr">
                    <a:solidFill>
                      <a:srgbClr val="156082"/>
                    </a:solidFill>
                  </a:tcPr>
                </a:tc>
                <a:extLst>
                  <a:ext uri="{0D108BD9-81ED-4DB2-BD59-A6C34878D82A}">
                    <a16:rowId xmlns:a16="http://schemas.microsoft.com/office/drawing/2014/main" val="10000"/>
                  </a:ext>
                </a:extLst>
              </a:tr>
              <a:tr h="502920">
                <a:tc>
                  <a:txBody>
                    <a:bodyPr/>
                    <a:lstStyle/>
                    <a:p>
                      <a:r>
                        <a:rPr sz="1400" b="1" i="0">
                          <a:solidFill>
                            <a:srgbClr val="002060"/>
                          </a:solidFill>
                          <a:latin typeface="Calibri"/>
                        </a:rPr>
                        <a:t>VPC and security groups</a:t>
                      </a:r>
                    </a:p>
                  </a:txBody>
                  <a:tcPr marL="73152" marR="73152" marT="36576" marB="36576" anchor="ctr">
                    <a:solidFill>
                      <a:srgbClr val="FFFFFF"/>
                    </a:solidFill>
                  </a:tcPr>
                </a:tc>
                <a:tc>
                  <a:txBody>
                    <a:bodyPr/>
                    <a:lstStyle/>
                    <a:p>
                      <a:r>
                        <a:rPr sz="1400" b="0" i="0">
                          <a:solidFill>
                            <a:srgbClr val="262626"/>
                          </a:solidFill>
                          <a:latin typeface="Calibri"/>
                        </a:rPr>
                        <a:t>Primary</a:t>
                      </a:r>
                    </a:p>
                  </a:txBody>
                  <a:tcPr marL="73152" marR="73152" marT="36576" marB="36576" anchor="ctr">
                    <a:solidFill>
                      <a:srgbClr val="FFFFFF"/>
                    </a:solidFill>
                  </a:tcPr>
                </a:tc>
                <a:tc>
                  <a:txBody>
                    <a:bodyPr/>
                    <a:lstStyle/>
                    <a:p>
                      <a:r>
                        <a:rPr sz="1400" b="0" i="0">
                          <a:solidFill>
                            <a:srgbClr val="262626"/>
                          </a:solidFill>
                          <a:latin typeface="Calibri"/>
                        </a:rPr>
                        <a:t>Uses</a:t>
                      </a:r>
                    </a:p>
                  </a:txBody>
                  <a:tcPr marL="73152" marR="73152" marT="36576" marB="36576" anchor="ctr">
                    <a:solidFill>
                      <a:srgbClr val="FFFFFF"/>
                    </a:solidFill>
                  </a:tcPr>
                </a:tc>
                <a:tc>
                  <a:txBody>
                    <a:bodyPr/>
                    <a:lstStyle/>
                    <a:p>
                      <a:r>
                        <a:rPr sz="1400" b="0" i="0">
                          <a:solidFill>
                            <a:srgbClr val="262626"/>
                          </a:solidFill>
                          <a:latin typeface="Calibri"/>
                        </a:rPr>
                        <a:t>Uses</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r>
                        <a:rPr sz="1400" b="1" i="0">
                          <a:solidFill>
                            <a:srgbClr val="002060"/>
                          </a:solidFill>
                          <a:latin typeface="Calibri"/>
                        </a:rPr>
                        <a:t>ECS, Fargate, Lambda</a:t>
                      </a:r>
                    </a:p>
                  </a:txBody>
                  <a:tcPr marL="73152" marR="73152" marT="36576" marB="36576" anchor="ctr">
                    <a:solidFill>
                      <a:srgbClr val="F2F2F2"/>
                    </a:solidFill>
                  </a:tcPr>
                </a:tc>
                <a:tc>
                  <a:txBody>
                    <a:bodyPr/>
                    <a:lstStyle/>
                    <a:p>
                      <a:r>
                        <a:rPr sz="1400" b="0" i="0">
                          <a:solidFill>
                            <a:srgbClr val="262626"/>
                          </a:solidFill>
                          <a:latin typeface="Calibri"/>
                        </a:rPr>
                        <a:t>Primary</a:t>
                      </a:r>
                    </a:p>
                  </a:txBody>
                  <a:tcPr marL="73152" marR="73152" marT="36576" marB="36576" anchor="ctr">
                    <a:solidFill>
                      <a:srgbClr val="F2F2F2"/>
                    </a:solidFill>
                  </a:tcPr>
                </a:tc>
                <a:tc>
                  <a:txBody>
                    <a:bodyPr/>
                    <a:lstStyle/>
                    <a:p>
                      <a:r>
                        <a:rPr sz="1400" b="0" i="0">
                          <a:solidFill>
                            <a:srgbClr val="262626"/>
                          </a:solidFill>
                          <a:latin typeface="Calibri"/>
                        </a:rPr>
                        <a:t>Deploys</a:t>
                      </a:r>
                    </a:p>
                  </a:txBody>
                  <a:tcPr marL="73152" marR="73152" marT="36576" marB="36576" anchor="ctr">
                    <a:solidFill>
                      <a:srgbClr val="F2F2F2"/>
                    </a:solidFill>
                  </a:tcPr>
                </a:tc>
                <a:tc>
                  <a:txBody>
                    <a:bodyPr/>
                    <a:lstStyle/>
                    <a:p>
                      <a:r>
                        <a:rPr sz="1400" b="0" i="0">
                          <a:solidFill>
                            <a:srgbClr val="262626"/>
                          </a:solidFill>
                          <a:latin typeface="Calibri"/>
                        </a:rPr>
                        <a:t>Uses</a:t>
                      </a:r>
                    </a:p>
                  </a:txBody>
                  <a:tcPr marL="73152" marR="73152" marT="36576" marB="36576" anchor="ctr">
                    <a:solidFill>
                      <a:srgbClr val="F2F2F2"/>
                    </a:solidFill>
                  </a:tcPr>
                </a:tc>
                <a:extLst>
                  <a:ext uri="{0D108BD9-81ED-4DB2-BD59-A6C34878D82A}">
                    <a16:rowId xmlns:a16="http://schemas.microsoft.com/office/drawing/2014/main" val="10002"/>
                  </a:ext>
                </a:extLst>
              </a:tr>
              <a:tr h="502920">
                <a:tc>
                  <a:txBody>
                    <a:bodyPr/>
                    <a:lstStyle/>
                    <a:p>
                      <a:r>
                        <a:rPr sz="1400" b="1" i="0">
                          <a:solidFill>
                            <a:srgbClr val="002060"/>
                          </a:solidFill>
                          <a:latin typeface="Calibri"/>
                        </a:rPr>
                        <a:t>RDS, ElastiCache, SQS</a:t>
                      </a:r>
                    </a:p>
                  </a:txBody>
                  <a:tcPr marL="73152" marR="73152" marT="36576" marB="36576" anchor="ctr">
                    <a:solidFill>
                      <a:srgbClr val="FFFFFF"/>
                    </a:solidFill>
                  </a:tcPr>
                </a:tc>
                <a:tc>
                  <a:txBody>
                    <a:bodyPr/>
                    <a:lstStyle/>
                    <a:p>
                      <a:r>
                        <a:rPr sz="1400" b="0" i="0">
                          <a:solidFill>
                            <a:srgbClr val="262626"/>
                          </a:solidFill>
                          <a:latin typeface="Calibri"/>
                        </a:rPr>
                        <a:t>Primary</a:t>
                      </a:r>
                    </a:p>
                  </a:txBody>
                  <a:tcPr marL="73152" marR="73152" marT="36576" marB="36576" anchor="ctr">
                    <a:solidFill>
                      <a:srgbClr val="FFFFFF"/>
                    </a:solidFill>
                  </a:tcPr>
                </a:tc>
                <a:tc>
                  <a:txBody>
                    <a:bodyPr/>
                    <a:lstStyle/>
                    <a:p>
                      <a:r>
                        <a:rPr sz="1400" b="0" i="0">
                          <a:solidFill>
                            <a:srgbClr val="262626"/>
                          </a:solidFill>
                          <a:latin typeface="Calibri"/>
                        </a:rPr>
                        <a:t>Schema</a:t>
                      </a:r>
                    </a:p>
                  </a:txBody>
                  <a:tcPr marL="73152" marR="73152" marT="36576" marB="36576" anchor="ctr">
                    <a:solidFill>
                      <a:srgbClr val="FFFFFF"/>
                    </a:solidFill>
                  </a:tcPr>
                </a:tc>
                <a:tc>
                  <a:txBody>
                    <a:bodyPr/>
                    <a:lstStyle/>
                    <a:p>
                      <a:r>
                        <a:rPr sz="1400" b="0" i="0">
                          <a:solidFill>
                            <a:srgbClr val="262626"/>
                          </a:solidFill>
                          <a:latin typeface="Calibri"/>
                        </a:rPr>
                        <a:t>Extends</a:t>
                      </a:r>
                    </a:p>
                  </a:txBody>
                  <a:tcPr marL="73152" marR="73152" marT="36576" marB="36576" anchor="ctr">
                    <a:solidFill>
                      <a:srgbClr val="FFFFFF"/>
                    </a:solidFill>
                  </a:tcPr>
                </a:tc>
                <a:extLst>
                  <a:ext uri="{0D108BD9-81ED-4DB2-BD59-A6C34878D82A}">
                    <a16:rowId xmlns:a16="http://schemas.microsoft.com/office/drawing/2014/main" val="10003"/>
                  </a:ext>
                </a:extLst>
              </a:tr>
              <a:tr h="502920">
                <a:tc>
                  <a:txBody>
                    <a:bodyPr/>
                    <a:lstStyle/>
                    <a:p>
                      <a:r>
                        <a:rPr sz="1400" b="1" i="0">
                          <a:solidFill>
                            <a:srgbClr val="002060"/>
                          </a:solidFill>
                          <a:latin typeface="Calibri"/>
                        </a:rPr>
                        <a:t>IAM least privilege</a:t>
                      </a:r>
                    </a:p>
                  </a:txBody>
                  <a:tcPr marL="73152" marR="73152" marT="36576" marB="36576" anchor="ctr">
                    <a:solidFill>
                      <a:srgbClr val="F2F2F2"/>
                    </a:solidFill>
                  </a:tcPr>
                </a:tc>
                <a:tc>
                  <a:txBody>
                    <a:bodyPr/>
                    <a:lstStyle/>
                    <a:p>
                      <a:r>
                        <a:rPr sz="1400" b="0" i="0">
                          <a:solidFill>
                            <a:srgbClr val="262626"/>
                          </a:solidFill>
                          <a:latin typeface="Calibri"/>
                        </a:rPr>
                        <a:t>Primary</a:t>
                      </a:r>
                    </a:p>
                  </a:txBody>
                  <a:tcPr marL="73152" marR="73152" marT="36576" marB="36576" anchor="ctr">
                    <a:solidFill>
                      <a:srgbClr val="F2F2F2"/>
                    </a:solidFill>
                  </a:tcPr>
                </a:tc>
                <a:tc>
                  <a:txBody>
                    <a:bodyPr/>
                    <a:lstStyle/>
                    <a:p>
                      <a:r>
                        <a:rPr sz="1400" b="0" i="0">
                          <a:solidFill>
                            <a:srgbClr val="262626"/>
                          </a:solidFill>
                          <a:latin typeface="Calibri"/>
                        </a:rPr>
                        <a:t>Pipelines</a:t>
                      </a:r>
                    </a:p>
                  </a:txBody>
                  <a:tcPr marL="73152" marR="73152" marT="36576" marB="36576" anchor="ctr">
                    <a:solidFill>
                      <a:srgbClr val="F2F2F2"/>
                    </a:solidFill>
                  </a:tcPr>
                </a:tc>
                <a:tc>
                  <a:txBody>
                    <a:bodyPr/>
                    <a:lstStyle/>
                    <a:p>
                      <a:r>
                        <a:rPr sz="1400" b="0" i="0">
                          <a:solidFill>
                            <a:srgbClr val="262626"/>
                          </a:solidFill>
                          <a:latin typeface="Calibri"/>
                        </a:rPr>
                        <a:t>Uses</a:t>
                      </a:r>
                    </a:p>
                  </a:txBody>
                  <a:tcPr marL="73152" marR="73152" marT="36576" marB="36576" anchor="ctr">
                    <a:solidFill>
                      <a:srgbClr val="F2F2F2"/>
                    </a:solidFill>
                  </a:tcPr>
                </a:tc>
                <a:extLst>
                  <a:ext uri="{0D108BD9-81ED-4DB2-BD59-A6C34878D82A}">
                    <a16:rowId xmlns:a16="http://schemas.microsoft.com/office/drawing/2014/main" val="10004"/>
                  </a:ext>
                </a:extLst>
              </a:tr>
              <a:tr h="502920">
                <a:tc>
                  <a:txBody>
                    <a:bodyPr/>
                    <a:lstStyle/>
                    <a:p>
                      <a:r>
                        <a:rPr sz="1400" b="1" i="0">
                          <a:solidFill>
                            <a:srgbClr val="002060"/>
                          </a:solidFill>
                          <a:latin typeface="Calibri"/>
                        </a:rPr>
                        <a:t>Image build and scan</a:t>
                      </a:r>
                    </a:p>
                  </a:txBody>
                  <a:tcPr marL="73152" marR="73152" marT="36576" marB="36576" anchor="ctr">
                    <a:solidFill>
                      <a:srgbClr val="FFFFFF"/>
                    </a:solidFill>
                  </a:tcPr>
                </a:tc>
                <a:tc>
                  <a:txBody>
                    <a:bodyPr/>
                    <a:lstStyle/>
                    <a:p>
                      <a:r>
                        <a:rPr sz="1400" b="0" i="0">
                          <a:solidFill>
                            <a:srgbClr val="262626"/>
                          </a:solidFill>
                          <a:latin typeface="Calibri"/>
                        </a:rPr>
                        <a:t>Mentions</a:t>
                      </a:r>
                    </a:p>
                  </a:txBody>
                  <a:tcPr marL="73152" marR="73152" marT="36576" marB="36576" anchor="ctr">
                    <a:solidFill>
                      <a:srgbClr val="FFFFFF"/>
                    </a:solidFill>
                  </a:tcPr>
                </a:tc>
                <a:tc>
                  <a:txBody>
                    <a:bodyPr/>
                    <a:lstStyle/>
                    <a:p>
                      <a:r>
                        <a:rPr sz="1400" b="0" i="0">
                          <a:solidFill>
                            <a:srgbClr val="262626"/>
                          </a:solidFill>
                          <a:latin typeface="Calibri"/>
                        </a:rPr>
                        <a:t>Primary</a:t>
                      </a:r>
                    </a:p>
                  </a:txBody>
                  <a:tcPr marL="73152" marR="73152" marT="36576" marB="36576" anchor="ctr">
                    <a:solidFill>
                      <a:srgbClr val="FFFFFF"/>
                    </a:solidFill>
                  </a:tcPr>
                </a:tc>
                <a:tc>
                  <a:txBody>
                    <a:bodyPr/>
                    <a:lstStyle/>
                    <a:p>
                      <a:r>
                        <a:rPr sz="1400" b="0" i="0">
                          <a:solidFill>
                            <a:srgbClr val="262626"/>
                          </a:solidFill>
                          <a:latin typeface="Calibri"/>
                        </a:rPr>
                        <a:t>None</a:t>
                      </a:r>
                    </a:p>
                  </a:txBody>
                  <a:tcPr marL="73152" marR="73152" marT="36576" marB="36576" anchor="ctr">
                    <a:solidFill>
                      <a:srgbClr val="FFFFFF"/>
                    </a:solidFill>
                  </a:tcPr>
                </a:tc>
                <a:extLst>
                  <a:ext uri="{0D108BD9-81ED-4DB2-BD59-A6C34878D82A}">
                    <a16:rowId xmlns:a16="http://schemas.microsoft.com/office/drawing/2014/main" val="10005"/>
                  </a:ext>
                </a:extLst>
              </a:tr>
              <a:tr h="502920">
                <a:tc>
                  <a:txBody>
                    <a:bodyPr/>
                    <a:lstStyle/>
                    <a:p>
                      <a:r>
                        <a:rPr sz="1400" b="1" i="0">
                          <a:solidFill>
                            <a:srgbClr val="002060"/>
                          </a:solidFill>
                          <a:latin typeface="Calibri"/>
                        </a:rPr>
                        <a:t>Canary deployments</a:t>
                      </a:r>
                    </a:p>
                  </a:txBody>
                  <a:tcPr marL="73152" marR="73152" marT="36576" marB="36576" anchor="ctr">
                    <a:solidFill>
                      <a:srgbClr val="F2F2F2"/>
                    </a:solidFill>
                  </a:tcPr>
                </a:tc>
                <a:tc>
                  <a:txBody>
                    <a:bodyPr/>
                    <a:lstStyle/>
                    <a:p>
                      <a:r>
                        <a:rPr sz="1400" b="0" i="0">
                          <a:solidFill>
                            <a:srgbClr val="262626"/>
                          </a:solidFill>
                          <a:latin typeface="Calibri"/>
                        </a:rPr>
                        <a:t>Mentions</a:t>
                      </a:r>
                    </a:p>
                  </a:txBody>
                  <a:tcPr marL="73152" marR="73152" marT="36576" marB="36576" anchor="ctr">
                    <a:solidFill>
                      <a:srgbClr val="F2F2F2"/>
                    </a:solidFill>
                  </a:tcPr>
                </a:tc>
                <a:tc>
                  <a:txBody>
                    <a:bodyPr/>
                    <a:lstStyle/>
                    <a:p>
                      <a:r>
                        <a:rPr sz="1400" b="0" i="0">
                          <a:solidFill>
                            <a:srgbClr val="262626"/>
                          </a:solidFill>
                          <a:latin typeface="Calibri"/>
                        </a:rPr>
                        <a:t>Primary</a:t>
                      </a:r>
                    </a:p>
                  </a:txBody>
                  <a:tcPr marL="73152" marR="73152" marT="36576" marB="36576" anchor="ctr">
                    <a:solidFill>
                      <a:srgbClr val="F2F2F2"/>
                    </a:solidFill>
                  </a:tcPr>
                </a:tc>
                <a:tc>
                  <a:txBody>
                    <a:bodyPr/>
                    <a:lstStyle/>
                    <a:p>
                      <a:r>
                        <a:rPr sz="1400" b="0" i="0">
                          <a:solidFill>
                            <a:srgbClr val="262626"/>
                          </a:solidFill>
                          <a:latin typeface="Calibri"/>
                        </a:rPr>
                        <a:t>Uses</a:t>
                      </a:r>
                    </a:p>
                  </a:txBody>
                  <a:tcPr marL="73152" marR="73152" marT="36576" marB="36576" anchor="ctr">
                    <a:solidFill>
                      <a:srgbClr val="F2F2F2"/>
                    </a:solidFill>
                  </a:tcPr>
                </a:tc>
                <a:extLst>
                  <a:ext uri="{0D108BD9-81ED-4DB2-BD59-A6C34878D82A}">
                    <a16:rowId xmlns:a16="http://schemas.microsoft.com/office/drawing/2014/main" val="10006"/>
                  </a:ext>
                </a:extLst>
              </a:tr>
              <a:tr h="502920">
                <a:tc>
                  <a:txBody>
                    <a:bodyPr/>
                    <a:lstStyle/>
                    <a:p>
                      <a:r>
                        <a:rPr sz="1400" b="1" i="0">
                          <a:solidFill>
                            <a:srgbClr val="002060"/>
                          </a:solidFill>
                          <a:latin typeface="Calibri"/>
                        </a:rPr>
                        <a:t>Sharding, consensus</a:t>
                      </a:r>
                    </a:p>
                  </a:txBody>
                  <a:tcPr marL="73152" marR="73152" marT="36576" marB="36576" anchor="ctr">
                    <a:solidFill>
                      <a:srgbClr val="FFFFFF"/>
                    </a:solidFill>
                  </a:tcPr>
                </a:tc>
                <a:tc>
                  <a:txBody>
                    <a:bodyPr/>
                    <a:lstStyle/>
                    <a:p>
                      <a:r>
                        <a:rPr sz="1400" b="0" i="0">
                          <a:solidFill>
                            <a:srgbClr val="262626"/>
                          </a:solidFill>
                          <a:latin typeface="Calibri"/>
                        </a:rPr>
                        <a:t>Mentions</a:t>
                      </a:r>
                    </a:p>
                  </a:txBody>
                  <a:tcPr marL="73152" marR="73152" marT="36576" marB="36576" anchor="ctr">
                    <a:solidFill>
                      <a:srgbClr val="FFFFFF"/>
                    </a:solidFill>
                  </a:tcPr>
                </a:tc>
                <a:tc>
                  <a:txBody>
                    <a:bodyPr/>
                    <a:lstStyle/>
                    <a:p>
                      <a:r>
                        <a:rPr sz="1400" b="0" i="0">
                          <a:solidFill>
                            <a:srgbClr val="262626"/>
                          </a:solidFill>
                          <a:latin typeface="Calibri"/>
                        </a:rPr>
                        <a:t>None</a:t>
                      </a:r>
                    </a:p>
                  </a:txBody>
                  <a:tcPr marL="73152" marR="73152" marT="36576" marB="36576" anchor="ctr">
                    <a:solidFill>
                      <a:srgbClr val="FFFFFF"/>
                    </a:solidFill>
                  </a:tcPr>
                </a:tc>
                <a:tc>
                  <a:txBody>
                    <a:bodyPr/>
                    <a:lstStyle/>
                    <a:p>
                      <a:r>
                        <a:rPr sz="1400" b="0" i="0">
                          <a:solidFill>
                            <a:srgbClr val="262626"/>
                          </a:solidFill>
                          <a:latin typeface="Calibri"/>
                        </a:rPr>
                        <a:t>Primary</a:t>
                      </a:r>
                    </a:p>
                  </a:txBody>
                  <a:tcPr marL="73152" marR="73152" marT="36576" marB="36576" anchor="ctr">
                    <a:solidFill>
                      <a:srgbClr val="FFFFFF"/>
                    </a:solidFill>
                  </a:tcPr>
                </a:tc>
                <a:extLst>
                  <a:ext uri="{0D108BD9-81ED-4DB2-BD59-A6C34878D82A}">
                    <a16:rowId xmlns:a16="http://schemas.microsoft.com/office/drawing/2014/main" val="10007"/>
                  </a:ext>
                </a:extLst>
              </a:tr>
              <a:tr h="502920">
                <a:tc>
                  <a:txBody>
                    <a:bodyPr/>
                    <a:lstStyle/>
                    <a:p>
                      <a:r>
                        <a:rPr sz="1400" b="1" i="0">
                          <a:solidFill>
                            <a:srgbClr val="002060"/>
                          </a:solidFill>
                          <a:latin typeface="Calibri"/>
                        </a:rPr>
                        <a:t>Multi-Region active</a:t>
                      </a:r>
                    </a:p>
                  </a:txBody>
                  <a:tcPr marL="73152" marR="73152" marT="36576" marB="36576" anchor="ctr">
                    <a:solidFill>
                      <a:srgbClr val="F2F2F2"/>
                    </a:solidFill>
                  </a:tcPr>
                </a:tc>
                <a:tc>
                  <a:txBody>
                    <a:bodyPr/>
                    <a:lstStyle/>
                    <a:p>
                      <a:r>
                        <a:rPr sz="1400" b="0" i="0">
                          <a:solidFill>
                            <a:srgbClr val="262626"/>
                          </a:solidFill>
                          <a:latin typeface="Calibri"/>
                        </a:rPr>
                        <a:t>Mentions</a:t>
                      </a:r>
                    </a:p>
                  </a:txBody>
                  <a:tcPr marL="73152" marR="73152" marT="36576" marB="36576" anchor="ctr">
                    <a:solidFill>
                      <a:srgbClr val="F2F2F2"/>
                    </a:solidFill>
                  </a:tcPr>
                </a:tc>
                <a:tc>
                  <a:txBody>
                    <a:bodyPr/>
                    <a:lstStyle/>
                    <a:p>
                      <a:r>
                        <a:rPr sz="1400" b="0" i="0">
                          <a:solidFill>
                            <a:srgbClr val="262626"/>
                          </a:solidFill>
                          <a:latin typeface="Calibri"/>
                        </a:rPr>
                        <a:t>None</a:t>
                      </a:r>
                    </a:p>
                  </a:txBody>
                  <a:tcPr marL="73152" marR="73152" marT="36576" marB="36576" anchor="ctr">
                    <a:solidFill>
                      <a:srgbClr val="F2F2F2"/>
                    </a:solidFill>
                  </a:tcPr>
                </a:tc>
                <a:tc>
                  <a:txBody>
                    <a:bodyPr/>
                    <a:lstStyle/>
                    <a:p>
                      <a:r>
                        <a:rPr sz="1400" b="0" i="0">
                          <a:solidFill>
                            <a:srgbClr val="262626"/>
                          </a:solidFill>
                          <a:latin typeface="Calibri"/>
                        </a:rPr>
                        <a:t>Primary</a:t>
                      </a:r>
                    </a:p>
                  </a:txBody>
                  <a:tcPr marL="73152" marR="73152" marT="36576" marB="36576" anchor="ctr">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Chapter</a:t>
            </a:r>
            <a:r>
              <a:rPr sz="2400" b="1" i="0">
                <a:solidFill>
                  <a:srgbClr val="FFFFFF"/>
                </a:solidFill>
                <a:latin typeface="Calibri"/>
              </a:rPr>
              <a:t> Summary</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Summary 1"/>
          <p:cNvSpPr/>
          <p:nvPr/>
        </p:nvSpPr>
        <p:spPr>
          <a:xfrm>
            <a:off x="548640" y="1234440"/>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1499616"/>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1</a:t>
            </a:r>
          </a:p>
        </p:txBody>
      </p:sp>
      <p:sp>
        <p:nvSpPr>
          <p:cNvPr id="12" name="TextBox 11"/>
          <p:cNvSpPr txBox="1"/>
          <p:nvPr/>
        </p:nvSpPr>
        <p:spPr>
          <a:xfrm>
            <a:off x="1417319" y="1307592"/>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BookStash shows a full request path before any single service is studied</a:t>
            </a:r>
          </a:p>
        </p:txBody>
      </p:sp>
      <p:sp>
        <p:nvSpPr>
          <p:cNvPr id="13" name="Summary 2"/>
          <p:cNvSpPr/>
          <p:nvPr/>
        </p:nvSpPr>
        <p:spPr>
          <a:xfrm>
            <a:off x="548640" y="2496312"/>
            <a:ext cx="5440680" cy="1078992"/>
          </a:xfrm>
          <a:prstGeom prst="roundRect">
            <a:avLst>
              <a:gd name="adj" fmla="val 10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31520" y="2761488"/>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2</a:t>
            </a:r>
          </a:p>
        </p:txBody>
      </p:sp>
      <p:sp>
        <p:nvSpPr>
          <p:cNvPr id="15" name="TextBox 14"/>
          <p:cNvSpPr txBox="1"/>
          <p:nvPr/>
        </p:nvSpPr>
        <p:spPr>
          <a:xfrm>
            <a:off x="1417319" y="2569464"/>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Canonical tiers: client, DNS, CDN, load balancer, app tier, data tier, observability</a:t>
            </a:r>
          </a:p>
        </p:txBody>
      </p:sp>
      <p:sp>
        <p:nvSpPr>
          <p:cNvPr id="16" name="Summary 3"/>
          <p:cNvSpPr/>
          <p:nvPr/>
        </p:nvSpPr>
        <p:spPr>
          <a:xfrm>
            <a:off x="548640" y="3758183"/>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4023359"/>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3</a:t>
            </a:r>
          </a:p>
        </p:txBody>
      </p:sp>
      <p:sp>
        <p:nvSpPr>
          <p:cNvPr id="18" name="TextBox 17"/>
          <p:cNvSpPr txBox="1"/>
          <p:nvPr/>
        </p:nvSpPr>
        <p:spPr>
          <a:xfrm>
            <a:off x="1417319" y="3831335"/>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Service models differ in what the provider runs; customer duties never disappear</a:t>
            </a:r>
          </a:p>
        </p:txBody>
      </p:sp>
      <p:sp>
        <p:nvSpPr>
          <p:cNvPr id="19" name="Summary 4"/>
          <p:cNvSpPr/>
          <p:nvPr/>
        </p:nvSpPr>
        <p:spPr>
          <a:xfrm>
            <a:off x="548640" y="5020056"/>
            <a:ext cx="5440680" cy="1078992"/>
          </a:xfrm>
          <a:prstGeom prst="roundRect">
            <a:avLst>
              <a:gd name="adj" fmla="val 10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31520" y="5285232"/>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4</a:t>
            </a:r>
          </a:p>
        </p:txBody>
      </p:sp>
      <p:sp>
        <p:nvSpPr>
          <p:cNvPr id="21" name="TextBox 20"/>
          <p:cNvSpPr txBox="1"/>
          <p:nvPr/>
        </p:nvSpPr>
        <p:spPr>
          <a:xfrm>
            <a:off x="1417319" y="5093208"/>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AWS secures the cloud; we secure what we build in it. The line moves by service</a:t>
            </a:r>
          </a:p>
        </p:txBody>
      </p:sp>
      <p:sp>
        <p:nvSpPr>
          <p:cNvPr id="22" name="Summary 5"/>
          <p:cNvSpPr/>
          <p:nvPr/>
        </p:nvSpPr>
        <p:spPr>
          <a:xfrm>
            <a:off x="6217920" y="1234440"/>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00800" y="1499616"/>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5</a:t>
            </a:r>
          </a:p>
        </p:txBody>
      </p:sp>
      <p:sp>
        <p:nvSpPr>
          <p:cNvPr id="24" name="TextBox 23"/>
          <p:cNvSpPr txBox="1"/>
          <p:nvPr/>
        </p:nvSpPr>
        <p:spPr>
          <a:xfrm>
            <a:off x="7086600" y="1307592"/>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Azure and GCP have close equivalents with differences in LB, containers, networks, queues</a:t>
            </a:r>
          </a:p>
        </p:txBody>
      </p:sp>
      <p:sp>
        <p:nvSpPr>
          <p:cNvPr id="25" name="Summary 6"/>
          <p:cNvSpPr/>
          <p:nvPr/>
        </p:nvSpPr>
        <p:spPr>
          <a:xfrm>
            <a:off x="6217920" y="2496312"/>
            <a:ext cx="5440680" cy="1078992"/>
          </a:xfrm>
          <a:prstGeom prst="roundRect">
            <a:avLst>
              <a:gd name="adj" fmla="val 10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2761488"/>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6</a:t>
            </a:r>
          </a:p>
        </p:txBody>
      </p:sp>
      <p:sp>
        <p:nvSpPr>
          <p:cNvPr id="27" name="TextBox 26"/>
          <p:cNvSpPr txBox="1"/>
          <p:nvPr/>
        </p:nvSpPr>
        <p:spPr>
          <a:xfrm>
            <a:off x="7086600" y="2569464"/>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Tracing follows one request; edges leave logs, our task leaves X-Ray spans</a:t>
            </a:r>
          </a:p>
        </p:txBody>
      </p:sp>
      <p:sp>
        <p:nvSpPr>
          <p:cNvPr id="28" name="Summary 7"/>
          <p:cNvSpPr/>
          <p:nvPr/>
        </p:nvSpPr>
        <p:spPr>
          <a:xfrm>
            <a:off x="6217920" y="3758183"/>
            <a:ext cx="5440680" cy="1078992"/>
          </a:xfrm>
          <a:prstGeom prst="roundRect">
            <a:avLst>
              <a:gd name="adj" fmla="val 10000"/>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00800" y="4023359"/>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7</a:t>
            </a:r>
          </a:p>
        </p:txBody>
      </p:sp>
      <p:sp>
        <p:nvSpPr>
          <p:cNvPr id="30" name="TextBox 29"/>
          <p:cNvSpPr txBox="1"/>
          <p:nvPr/>
        </p:nvSpPr>
        <p:spPr>
          <a:xfrm>
            <a:off x="7086600" y="3831335"/>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Regions, AZs and edges form nested failure domains; we survive an AZ automatically</a:t>
            </a:r>
          </a:p>
        </p:txBody>
      </p:sp>
      <p:sp>
        <p:nvSpPr>
          <p:cNvPr id="31" name="Summary 8"/>
          <p:cNvSpPr/>
          <p:nvPr/>
        </p:nvSpPr>
        <p:spPr>
          <a:xfrm>
            <a:off x="6217920" y="5020056"/>
            <a:ext cx="5440680" cy="1078992"/>
          </a:xfrm>
          <a:prstGeom prst="roundRect">
            <a:avLst>
              <a:gd name="adj" fmla="val 10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400800" y="5285232"/>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8</a:t>
            </a:r>
          </a:p>
        </p:txBody>
      </p:sp>
      <p:sp>
        <p:nvSpPr>
          <p:cNvPr id="33" name="TextBox 32"/>
          <p:cNvSpPr txBox="1"/>
          <p:nvPr/>
        </p:nvSpPr>
        <p:spPr>
          <a:xfrm>
            <a:off x="7086600" y="5093208"/>
            <a:ext cx="4480560" cy="932688"/>
          </a:xfrm>
          <a:prstGeom prst="rect">
            <a:avLst/>
          </a:prstGeom>
          <a:noFill/>
        </p:spPr>
        <p:txBody>
          <a:bodyPr wrap="square" anchor="ctr">
            <a:spAutoFit/>
          </a:bodyPr>
          <a:lstStyle/>
          <a:p>
            <a:pPr algn="l">
              <a:spcAft>
                <a:spcPts val="0"/>
              </a:spcAft>
            </a:pPr>
            <a:r>
              <a:rPr sz="1600" b="0" i="0">
                <a:solidFill>
                  <a:srgbClr val="262626"/>
                </a:solidFill>
                <a:latin typeface="Calibri"/>
              </a:rPr>
              <a:t>This course: platform abstractions. CICD: delivery. SDSR: very large scale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Self-Test</a:t>
            </a:r>
            <a:r>
              <a:rPr sz="2400" b="1" i="0">
                <a:solidFill>
                  <a:srgbClr val="FFFFFF"/>
                </a:solidFill>
                <a:latin typeface="Calibri"/>
              </a:rPr>
              <a:t> Questions with Answers</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Question 1"/>
          <p:cNvSpPr/>
          <p:nvPr/>
        </p:nvSpPr>
        <p:spPr>
          <a:xfrm>
            <a:off x="457200" y="1188720"/>
            <a:ext cx="5532120"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Q1. Why does CloudFront help even on a cache miss?</a:t>
            </a:r>
          </a:p>
        </p:txBody>
      </p:sp>
      <p:sp>
        <p:nvSpPr>
          <p:cNvPr id="11" name="Answer 1"/>
          <p:cNvSpPr/>
          <p:nvPr/>
        </p:nvSpPr>
        <p:spPr>
          <a:xfrm>
            <a:off x="457200" y="2103120"/>
            <a:ext cx="5532120" cy="141732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54864" rtlCol="0" anchor="t"/>
          <a:lstStyle/>
          <a:p>
            <a:pPr algn="l">
              <a:spcAft>
                <a:spcPts val="0"/>
              </a:spcAft>
            </a:pPr>
            <a:r>
              <a:rPr sz="1500" b="1" i="0">
                <a:solidFill>
                  <a:srgbClr val="E97132"/>
                </a:solidFill>
                <a:latin typeface="Calibri"/>
              </a:rPr>
              <a:t>Answer: </a:t>
            </a:r>
            <a:r>
              <a:rPr sz="1500" b="0" i="0">
                <a:solidFill>
                  <a:srgbClr val="262626"/>
                </a:solidFill>
                <a:latin typeface="Calibri"/>
              </a:rPr>
              <a:t>TCP and TLS handshakes finish at a nearby edge, which reuses long-lived connections to the origin.</a:t>
            </a:r>
          </a:p>
        </p:txBody>
      </p:sp>
      <p:sp>
        <p:nvSpPr>
          <p:cNvPr id="12" name="Question 2"/>
          <p:cNvSpPr/>
          <p:nvPr/>
        </p:nvSpPr>
        <p:spPr>
          <a:xfrm>
            <a:off x="6172200" y="1188720"/>
            <a:ext cx="5532120"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Q2. Who enables encryption on an RDS instance?</a:t>
            </a:r>
          </a:p>
        </p:txBody>
      </p:sp>
      <p:sp>
        <p:nvSpPr>
          <p:cNvPr id="13" name="Answer 2"/>
          <p:cNvSpPr/>
          <p:nvPr/>
        </p:nvSpPr>
        <p:spPr>
          <a:xfrm>
            <a:off x="6172200" y="2103120"/>
            <a:ext cx="5532120" cy="141732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54864" rtlCol="0" anchor="t"/>
          <a:lstStyle/>
          <a:p>
            <a:pPr algn="l">
              <a:spcAft>
                <a:spcPts val="0"/>
              </a:spcAft>
            </a:pPr>
            <a:r>
              <a:rPr sz="1500" b="1" i="0">
                <a:solidFill>
                  <a:srgbClr val="E97132"/>
                </a:solidFill>
                <a:latin typeface="Calibri"/>
              </a:rPr>
              <a:t>Answer: </a:t>
            </a:r>
            <a:r>
              <a:rPr sz="1500" b="0" i="0">
                <a:solidFill>
                  <a:srgbClr val="262626"/>
                </a:solidFill>
                <a:latin typeface="Calibri"/>
              </a:rPr>
              <a:t>The customer. AWS provides the feature; turning it on is a setting in our account.</a:t>
            </a:r>
          </a:p>
        </p:txBody>
      </p:sp>
      <p:sp>
        <p:nvSpPr>
          <p:cNvPr id="14" name="Question 3"/>
          <p:cNvSpPr/>
          <p:nvPr/>
        </p:nvSpPr>
        <p:spPr>
          <a:xfrm>
            <a:off x="457200" y="3749039"/>
            <a:ext cx="5532120"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Q3. Which hops produce X-Ray spans?</a:t>
            </a:r>
          </a:p>
        </p:txBody>
      </p:sp>
      <p:sp>
        <p:nvSpPr>
          <p:cNvPr id="15" name="Answer 3"/>
          <p:cNvSpPr/>
          <p:nvPr/>
        </p:nvSpPr>
        <p:spPr>
          <a:xfrm>
            <a:off x="457200" y="4663440"/>
            <a:ext cx="5532120" cy="141732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54864" rtlCol="0" anchor="t"/>
          <a:lstStyle/>
          <a:p>
            <a:pPr algn="l">
              <a:spcAft>
                <a:spcPts val="0"/>
              </a:spcAft>
            </a:pPr>
            <a:r>
              <a:rPr sz="1500" b="1" i="0">
                <a:solidFill>
                  <a:srgbClr val="E97132"/>
                </a:solidFill>
                <a:latin typeface="Calibri"/>
              </a:rPr>
              <a:t>Answer: </a:t>
            </a:r>
            <a:r>
              <a:rPr sz="1500" b="0" i="0">
                <a:solidFill>
                  <a:srgbClr val="262626"/>
                </a:solidFill>
                <a:latin typeface="Calibri"/>
              </a:rPr>
              <a:t>The Fargate task: its segment plus subsegments for ElastiCache, RDS and SQS. Others leave logs and metrics.</a:t>
            </a:r>
          </a:p>
        </p:txBody>
      </p:sp>
      <p:sp>
        <p:nvSpPr>
          <p:cNvPr id="16" name="Question 4"/>
          <p:cNvSpPr/>
          <p:nvPr/>
        </p:nvSpPr>
        <p:spPr>
          <a:xfrm>
            <a:off x="6172200" y="3749039"/>
            <a:ext cx="5532120"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600" b="1" i="0">
                <a:solidFill>
                  <a:srgbClr val="FFFFFF"/>
                </a:solidFill>
                <a:latin typeface="Calibri"/>
              </a:rPr>
              <a:t>Q4. AZ name versus AZ ID?</a:t>
            </a:r>
          </a:p>
        </p:txBody>
      </p:sp>
      <p:sp>
        <p:nvSpPr>
          <p:cNvPr id="17" name="Answer 4"/>
          <p:cNvSpPr/>
          <p:nvPr/>
        </p:nvSpPr>
        <p:spPr>
          <a:xfrm>
            <a:off x="6172200" y="4663440"/>
            <a:ext cx="5532120" cy="1417320"/>
          </a:xfrm>
          <a:prstGeom prst="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54864" rtlCol="0" anchor="t"/>
          <a:lstStyle/>
          <a:p>
            <a:pPr algn="l">
              <a:spcAft>
                <a:spcPts val="0"/>
              </a:spcAft>
            </a:pPr>
            <a:r>
              <a:rPr sz="1500" b="1" i="0">
                <a:solidFill>
                  <a:srgbClr val="E97132"/>
                </a:solidFill>
                <a:latin typeface="Calibri"/>
              </a:rPr>
              <a:t>Answer: </a:t>
            </a:r>
            <a:r>
              <a:rPr sz="1500" b="0" i="0">
                <a:solidFill>
                  <a:srgbClr val="262626"/>
                </a:solidFill>
                <a:latin typeface="Calibri"/>
              </a:rPr>
              <a:t>ap-south-1a maps differently per account; aps1-az1 is the same physical zone in every account.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sz="2400" b="1" i="0">
                <a:solidFill>
                  <a:srgbClr val="FFFF00"/>
                </a:solidFill>
                <a:latin typeface="Calibri"/>
              </a:rPr>
              <a:t>Hands-On Lab 1:</a:t>
            </a:r>
            <a:r>
              <a:rPr sz="2400" b="1" i="0">
                <a:solidFill>
                  <a:srgbClr val="FFFFFF"/>
                </a:solidFill>
                <a:latin typeface="Calibri"/>
              </a:rPr>
              <a:t> Observing BookStash End to End</a:t>
            </a:r>
            <a:endParaRPr lang="en-IN" sz="2400" b="1" dirty="0">
              <a:solidFill>
                <a:schemeClr val="bg1"/>
              </a:solidFill>
            </a:endParaRPr>
          </a:p>
        </p:txBody>
      </p:sp>
      <p:sp>
        <p:nvSpPr>
          <p:cNvPr id="6" name="TextBox 5">
            <a:extLst>
              <a:ext uri="{FF2B5EF4-FFF2-40B4-BE49-F238E27FC236}">
                <a16:creationId xmlns:a16="http://schemas.microsoft.com/office/drawing/2014/main" id="{5CDB2704-6F1A-7B72-D8BF-5F0B976492EE}"/>
              </a:ext>
            </a:extLst>
          </p:cNvPr>
          <p:cNvSpPr txBox="1"/>
          <p:nvPr/>
        </p:nvSpPr>
        <p:spPr>
          <a:xfrm>
            <a:off x="10405730" y="6485478"/>
            <a:ext cx="1786270" cy="307777"/>
          </a:xfrm>
          <a:prstGeom prst="rect">
            <a:avLst/>
          </a:prstGeom>
          <a:noFill/>
        </p:spPr>
        <p:txBody>
          <a:bodyPr wrap="square">
            <a:spAutoFit/>
          </a:bodyPr>
          <a:lstStyle/>
          <a:p>
            <a:r>
              <a:rPr lang="en-US" sz="1400" dirty="0">
                <a:hlinkClick r:id="rId3" action="ppaction://hlinksldjump"/>
              </a:rPr>
              <a:t>back to chapter index</a:t>
            </a:r>
            <a:endParaRPr lang="en-IN" sz="1400" dirty="0"/>
          </a:p>
        </p:txBody>
      </p:sp>
      <p:sp>
        <p:nvSpPr>
          <p:cNvPr id="10" name="Oval 9"/>
          <p:cNvSpPr/>
          <p:nvPr/>
        </p:nvSpPr>
        <p:spPr>
          <a:xfrm>
            <a:off x="457200" y="1325880"/>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1</a:t>
            </a:r>
          </a:p>
        </p:txBody>
      </p:sp>
      <p:sp>
        <p:nvSpPr>
          <p:cNvPr id="11" name="TextBox 10"/>
          <p:cNvSpPr txBox="1"/>
          <p:nvPr/>
        </p:nvSpPr>
        <p:spPr>
          <a:xfrm>
            <a:off x="1143000" y="118872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Resolve bookstash.com with dig; confirm the addresses are CloudFront's</a:t>
            </a:r>
          </a:p>
        </p:txBody>
      </p:sp>
      <p:sp>
        <p:nvSpPr>
          <p:cNvPr id="12" name="Oval 11"/>
          <p:cNvSpPr/>
          <p:nvPr/>
        </p:nvSpPr>
        <p:spPr>
          <a:xfrm>
            <a:off x="457200" y="2331720"/>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2</a:t>
            </a:r>
          </a:p>
        </p:txBody>
      </p:sp>
      <p:sp>
        <p:nvSpPr>
          <p:cNvPr id="13" name="TextBox 12"/>
          <p:cNvSpPr txBox="1"/>
          <p:nvPr/>
        </p:nvSpPr>
        <p:spPr>
          <a:xfrm>
            <a:off x="1143000" y="219456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curl -I /covers/42.jpg twice; compare x-cache, x-amz-cf-pop and age</a:t>
            </a:r>
          </a:p>
        </p:txBody>
      </p:sp>
      <p:sp>
        <p:nvSpPr>
          <p:cNvPr id="14" name="Oval 13"/>
          <p:cNvSpPr/>
          <p:nvPr/>
        </p:nvSpPr>
        <p:spPr>
          <a:xfrm>
            <a:off x="457200" y="3337560"/>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3</a:t>
            </a:r>
          </a:p>
        </p:txBody>
      </p:sp>
      <p:sp>
        <p:nvSpPr>
          <p:cNvPr id="15" name="TextBox 14"/>
          <p:cNvSpPr txBox="1"/>
          <p:nvPr/>
        </p:nvSpPr>
        <p:spPr>
          <a:xfrm>
            <a:off x="1143000" y="320040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Request /api/books/42 three times; note hits and origin calls</a:t>
            </a:r>
          </a:p>
        </p:txBody>
      </p:sp>
      <p:sp>
        <p:nvSpPr>
          <p:cNvPr id="16" name="Oval 15"/>
          <p:cNvSpPr/>
          <p:nvPr/>
        </p:nvSpPr>
        <p:spPr>
          <a:xfrm>
            <a:off x="457200" y="4343400"/>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4</a:t>
            </a:r>
          </a:p>
        </p:txBody>
      </p:sp>
      <p:sp>
        <p:nvSpPr>
          <p:cNvPr id="17" name="TextBox 16"/>
          <p:cNvSpPr txBox="1"/>
          <p:nvPr/>
        </p:nvSpPr>
        <p:spPr>
          <a:xfrm>
            <a:off x="1143000" y="420624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Open the trace ID in X-Ray; record each subsegment</a:t>
            </a:r>
          </a:p>
        </p:txBody>
      </p:sp>
      <p:sp>
        <p:nvSpPr>
          <p:cNvPr id="18" name="Oval 17"/>
          <p:cNvSpPr/>
          <p:nvPr/>
        </p:nvSpPr>
        <p:spPr>
          <a:xfrm>
            <a:off x="457200" y="5349240"/>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5</a:t>
            </a:r>
          </a:p>
        </p:txBody>
      </p:sp>
      <p:sp>
        <p:nvSpPr>
          <p:cNvPr id="19" name="TextBox 18"/>
          <p:cNvSpPr txBox="1"/>
          <p:nvPr/>
        </p:nvSpPr>
        <p:spPr>
          <a:xfrm>
            <a:off x="1143000" y="521208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Run the Logs Insights query with your trace ID</a:t>
            </a:r>
          </a:p>
        </p:txBody>
      </p:sp>
      <p:sp>
        <p:nvSpPr>
          <p:cNvPr id="20" name="Oval 19"/>
          <p:cNvSpPr/>
          <p:nvPr/>
        </p:nvSpPr>
        <p:spPr>
          <a:xfrm>
            <a:off x="6172200" y="1325880"/>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6</a:t>
            </a:r>
          </a:p>
        </p:txBody>
      </p:sp>
      <p:sp>
        <p:nvSpPr>
          <p:cNvPr id="21" name="TextBox 20"/>
          <p:cNvSpPr txBox="1"/>
          <p:nvPr/>
        </p:nvSpPr>
        <p:spPr>
          <a:xfrm>
            <a:off x="6858000" y="118872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Find the request in ALB access logs by trace ID</a:t>
            </a:r>
          </a:p>
        </p:txBody>
      </p:sp>
      <p:sp>
        <p:nvSpPr>
          <p:cNvPr id="22" name="Oval 21"/>
          <p:cNvSpPr/>
          <p:nvPr/>
        </p:nvSpPr>
        <p:spPr>
          <a:xfrm>
            <a:off x="6172200" y="2331720"/>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7</a:t>
            </a:r>
          </a:p>
        </p:txBody>
      </p:sp>
      <p:sp>
        <p:nvSpPr>
          <p:cNvPr id="23" name="TextBox 22"/>
          <p:cNvSpPr txBox="1"/>
          <p:nvPr/>
        </p:nvSpPr>
        <p:spPr>
          <a:xfrm>
            <a:off x="6858000" y="219456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List API tasks in ECS; confirm at least two AZs</a:t>
            </a:r>
          </a:p>
        </p:txBody>
      </p:sp>
      <p:sp>
        <p:nvSpPr>
          <p:cNvPr id="24" name="Oval 23"/>
          <p:cNvSpPr/>
          <p:nvPr/>
        </p:nvSpPr>
        <p:spPr>
          <a:xfrm>
            <a:off x="6172200" y="3337560"/>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8</a:t>
            </a:r>
          </a:p>
        </p:txBody>
      </p:sp>
      <p:sp>
        <p:nvSpPr>
          <p:cNvPr id="25" name="TextBox 24"/>
          <p:cNvSpPr txBox="1"/>
          <p:nvPr/>
        </p:nvSpPr>
        <p:spPr>
          <a:xfrm>
            <a:off x="6858000" y="320040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Check RDS: Multi-AZ, primary zone, backup retention</a:t>
            </a:r>
          </a:p>
        </p:txBody>
      </p:sp>
      <p:sp>
        <p:nvSpPr>
          <p:cNvPr id="26" name="Oval 25"/>
          <p:cNvSpPr/>
          <p:nvPr/>
        </p:nvSpPr>
        <p:spPr>
          <a:xfrm>
            <a:off x="6172200" y="4343400"/>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Calibri"/>
              </a:rPr>
              <a:t>9</a:t>
            </a:r>
          </a:p>
        </p:txBody>
      </p:sp>
      <p:sp>
        <p:nvSpPr>
          <p:cNvPr id="27" name="TextBox 26"/>
          <p:cNvSpPr txBox="1"/>
          <p:nvPr/>
        </p:nvSpPr>
        <p:spPr>
          <a:xfrm>
            <a:off x="6858000" y="4206240"/>
            <a:ext cx="4846320" cy="868680"/>
          </a:xfrm>
          <a:prstGeom prst="rect">
            <a:avLst/>
          </a:prstGeom>
          <a:noFill/>
        </p:spPr>
        <p:txBody>
          <a:bodyPr wrap="square" anchor="ctr">
            <a:spAutoFit/>
          </a:bodyPr>
          <a:lstStyle/>
          <a:p>
            <a:pPr algn="l">
              <a:spcAft>
                <a:spcPts val="0"/>
              </a:spcAft>
            </a:pPr>
            <a:r>
              <a:rPr sz="1600" b="0" i="0">
                <a:solidFill>
                  <a:srgbClr val="262626"/>
                </a:solidFill>
                <a:latin typeface="Calibri"/>
              </a:rPr>
              <a:t>Write the hop-by-hop report with timings</a:t>
            </a:r>
          </a:p>
        </p:txBody>
      </p:sp>
      <p:sp>
        <p:nvSpPr>
          <p:cNvPr id="28" name="Lab outcome"/>
          <p:cNvSpPr/>
          <p:nvPr/>
        </p:nvSpPr>
        <p:spPr>
          <a:xfrm>
            <a:off x="6172200" y="5257800"/>
            <a:ext cx="5559552" cy="960120"/>
          </a:xfrm>
          <a:prstGeom prst="roundRect">
            <a:avLst>
              <a:gd name="adj" fmla="val 10000"/>
            </a:avLst>
          </a:prstGeom>
          <a:solidFill>
            <a:srgbClr val="FDF1E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0"/>
              </a:spcAft>
            </a:pPr>
            <a:r>
              <a:rPr sz="1500" b="1" i="0">
                <a:solidFill>
                  <a:srgbClr val="E97132"/>
                </a:solidFill>
                <a:latin typeface="Calibri"/>
              </a:rPr>
              <a:t>Outcome: </a:t>
            </a:r>
            <a:r>
              <a:rPr sz="1500" b="0" i="0">
                <a:solidFill>
                  <a:srgbClr val="262626"/>
                </a:solidFill>
                <a:latin typeface="Calibri"/>
              </a:rPr>
              <a:t>a timed account of one real request and the evidence used for each hop.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eg"/>
          <p:cNvPicPr>
            <a:picLocks noChangeAspect="1"/>
          </p:cNvPicPr>
          <p:nvPr/>
        </p:nvPicPr>
        <p:blipFill>
          <a:blip r:embed="rId3"/>
          <a:stretch>
            <a:fillRect/>
          </a:stretch>
        </p:blipFill>
        <p:spPr>
          <a:xfrm>
            <a:off x="3291840" y="548640"/>
            <a:ext cx="5614416" cy="2909241"/>
          </a:xfrm>
          <a:prstGeom prst="rect">
            <a:avLst/>
          </a:prstGeom>
        </p:spPr>
      </p:pic>
      <p:sp>
        <p:nvSpPr>
          <p:cNvPr id="3" name="Closing banner"/>
          <p:cNvSpPr/>
          <p:nvPr/>
        </p:nvSpPr>
        <p:spPr>
          <a:xfrm>
            <a:off x="640080" y="4160520"/>
            <a:ext cx="10908792" cy="1005840"/>
          </a:xfrm>
          <a:prstGeom prst="rect">
            <a:avLst/>
          </a:prstGeom>
          <a:solidFill>
            <a:srgbClr val="73B3CD"/>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0"/>
              </a:spcAft>
            </a:pPr>
            <a:r>
              <a:rPr sz="4000" b="1" i="0">
                <a:solidFill>
                  <a:srgbClr val="002060"/>
                </a:solidFill>
                <a:latin typeface="Calibri"/>
              </a:rPr>
              <a:t>Thank You. Questions?</a:t>
            </a:r>
          </a:p>
        </p:txBody>
      </p:sp>
      <p:sp>
        <p:nvSpPr>
          <p:cNvPr id="4" name="TextBox 3"/>
          <p:cNvSpPr txBox="1"/>
          <p:nvPr/>
        </p:nvSpPr>
        <p:spPr>
          <a:xfrm>
            <a:off x="640080" y="5394960"/>
            <a:ext cx="10908792" cy="548640"/>
          </a:xfrm>
          <a:prstGeom prst="rect">
            <a:avLst/>
          </a:prstGeom>
          <a:noFill/>
        </p:spPr>
        <p:txBody>
          <a:bodyPr wrap="square" anchor="t">
            <a:spAutoFit/>
          </a:bodyPr>
          <a:lstStyle/>
          <a:p>
            <a:pPr algn="ctr">
              <a:spcAft>
                <a:spcPts val="0"/>
              </a:spcAft>
            </a:pPr>
            <a:r>
              <a:rPr sz="1800" b="0" i="1">
                <a:solidFill>
                  <a:srgbClr val="595959"/>
                </a:solidFill>
                <a:latin typeface="Calibri"/>
              </a:rPr>
              <a:t>Next: Chapter 2 takes the first tier of BookStash apart in detail.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5558</Words>
  <Application>Microsoft Office PowerPoint</Application>
  <PresentationFormat>Widescreen</PresentationFormat>
  <Paragraphs>915</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Aptos Display</vt:lpstr>
      <vt:lpstr>Arial</vt:lpstr>
      <vt:lpstr>Calibri</vt:lpstr>
      <vt:lpstr>Calibri Light</vt:lpstr>
      <vt:lpstr>Courier New</vt:lpstr>
      <vt:lpstr>Office Theme</vt:lpstr>
      <vt:lpstr>PowerPoint Presentation</vt:lpstr>
      <vt:lpstr>PowerPoint Presentation</vt:lpstr>
      <vt:lpstr>Learning Objectives</vt:lpstr>
      <vt:lpstr>1.1 A Working Multi-Tier Cloud Application</vt:lpstr>
      <vt:lpstr>1.1 The Deployed System at a Glance</vt:lpstr>
      <vt:lpstr>1.1 The Request and Response Round Trip</vt:lpstr>
      <vt:lpstr>Example 1.1 A Latency Budget for BookStash</vt:lpstr>
      <vt:lpstr>1.1 Why We Observe the Whole Before the Parts</vt:lpstr>
      <vt:lpstr>1.2 Canonical Cloud-Native Architecture</vt:lpstr>
      <vt:lpstr>1.2 DNS with Amazon Route 53</vt:lpstr>
      <vt:lpstr>1.2 Content Delivery with Amazon CloudFront</vt:lpstr>
      <vt:lpstr>1.2 The Load Balancer and the Application Tier</vt:lpstr>
      <vt:lpstr>1.2 The Data Tier: RDS, ElastiCache and SQS</vt:lpstr>
      <vt:lpstr>1.2 Observability with CloudWatch and X-Ray</vt:lpstr>
      <vt:lpstr>1.3 Cloud Service Models: the NIST Definition</vt:lpstr>
      <vt:lpstr>1.3 Who Manages What in Each Model</vt:lpstr>
      <vt:lpstr>1.3 Five Service Models Side by Side</vt:lpstr>
      <vt:lpstr>1.3 Abstraction Versus Control</vt:lpstr>
      <vt:lpstr>Example 1.5 Choosing a Service Model</vt:lpstr>
      <vt:lpstr>1.4 The Shared Responsibility Model</vt:lpstr>
      <vt:lpstr>1.4 How the Boundary Moves with the Service</vt:lpstr>
      <vt:lpstr>1.4 Security Implications for BookStash</vt:lpstr>
      <vt:lpstr>1.4 Reliability: Availability of a Chain</vt:lpstr>
      <vt:lpstr>1.5 AWS, Azure and GCP Compared</vt:lpstr>
      <vt:lpstr>1.5 Equivalents: Edge, Network and Compute</vt:lpstr>
      <vt:lpstr>1.5 Equivalents: Data, Security and Operations</vt:lpstr>
      <vt:lpstr>1.6 End-to-End Request Tracing</vt:lpstr>
      <vt:lpstr>1.6 Where Each Hop Leaves Evidence</vt:lpstr>
      <vt:lpstr>1.6 Reading an X-Ray Trace</vt:lpstr>
      <vt:lpstr>1.6 Instrumenting BookStash with OpenTelemetry</vt:lpstr>
      <vt:lpstr>Example 1.8 Finding a Slow Query After a Release</vt:lpstr>
      <vt:lpstr>Example 1.9 Explaining a Burst of 502 Errors</vt:lpstr>
      <vt:lpstr>1.7 AWS Global Infrastructure</vt:lpstr>
      <vt:lpstr>1.7 Availability Zones and the Multi-AZ Layout</vt:lpstr>
      <vt:lpstr>1.7 The Failure-Domain Hierarchy</vt:lpstr>
      <vt:lpstr>1.7 Recovery Objectives and Strategies</vt:lpstr>
      <vt:lpstr>1.8 Course Scope and Boundaries</vt:lpstr>
      <vt:lpstr>Chapter Summary</vt:lpstr>
      <vt:lpstr>Self-Test Questions with Answers</vt:lpstr>
      <vt:lpstr>Hands-On Lab 1: Observing BookStash End to End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IT Manager KLH BMP Campus .</dc:creator>
  <cp:lastModifiedBy>IT Manager KLH BMP Campus .</cp:lastModifiedBy>
  <cp:revision>2</cp:revision>
  <dcterms:created xsi:type="dcterms:W3CDTF">2026-08-26T05:52:26Z</dcterms:created>
  <dcterms:modified xsi:type="dcterms:W3CDTF">2026-10-30T11:39:21Z</dcterms:modified>
</cp:coreProperties>
</file>